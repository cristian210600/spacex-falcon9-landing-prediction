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5.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16.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17.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b72e9662caf4b3f" /><Relationship Type="http://schemas.openxmlformats.org/officeDocument/2006/relationships/extended-properties" Target="/docProps/app.xml" Id="R65d49a191699401d" /><Relationship Type="http://schemas.openxmlformats.org/officeDocument/2006/relationships/officeDocument" Target="/ppt/presentation.xml" Id="Re8b71d473e3445c4" /></Relationships>
</file>

<file path=ppt/presentation.xml><?xml version="1.0" encoding="utf-8"?>
<p:presentation xmlns:p="http://schemas.openxmlformats.org/presentationml/2006/main">
  <p:sldMasterIdLst>
    <p:sldMasterId xmlns:r="http://schemas.openxmlformats.org/officeDocument/2006/relationships" id="2147483648" r:id="R55861e20f0dd4e55"/>
  </p:sldMasterIdLst>
  <p:notesMasterIdLst>
    <p:notesMasterId xmlns:r="http://schemas.openxmlformats.org/officeDocument/2006/relationships" r:id="R83665407e1824df8"/>
  </p:notesMasterIdLst>
  <p:sldIdLst>
    <p:sldId xmlns:r="http://schemas.openxmlformats.org/officeDocument/2006/relationships" id="256" r:id="Recda58acf89a453a"/>
    <p:sldId xmlns:r="http://schemas.openxmlformats.org/officeDocument/2006/relationships" id="257" r:id="Rb54aa1d5de5342d6"/>
    <p:sldId xmlns:r="http://schemas.openxmlformats.org/officeDocument/2006/relationships" id="258" r:id="R6bd93819c0434a3a"/>
    <p:sldId xmlns:r="http://schemas.openxmlformats.org/officeDocument/2006/relationships" id="259" r:id="R84a2dd174b774782"/>
    <p:sldId xmlns:r="http://schemas.openxmlformats.org/officeDocument/2006/relationships" id="260" r:id="R4182e3cb88544134"/>
    <p:sldId xmlns:r="http://schemas.openxmlformats.org/officeDocument/2006/relationships" id="261" r:id="R9bc5660878874379"/>
    <p:sldId xmlns:r="http://schemas.openxmlformats.org/officeDocument/2006/relationships" id="262" r:id="R7e92700e0c6742cb"/>
    <p:sldId xmlns:r="http://schemas.openxmlformats.org/officeDocument/2006/relationships" id="263" r:id="R593d2878542b45f1"/>
    <p:sldId xmlns:r="http://schemas.openxmlformats.org/officeDocument/2006/relationships" id="264" r:id="R1588b55b97a14b0a"/>
    <p:sldId xmlns:r="http://schemas.openxmlformats.org/officeDocument/2006/relationships" id="265" r:id="R43e9d4ac82654686"/>
    <p:sldId xmlns:r="http://schemas.openxmlformats.org/officeDocument/2006/relationships" id="266" r:id="R143f99fc7c46450a"/>
    <p:sldId xmlns:r="http://schemas.openxmlformats.org/officeDocument/2006/relationships" id="267" r:id="Rc8c1088f27e94628"/>
    <p:sldId xmlns:r="http://schemas.openxmlformats.org/officeDocument/2006/relationships" id="268" r:id="Re0dcdfb273fb4508"/>
    <p:sldId xmlns:r="http://schemas.openxmlformats.org/officeDocument/2006/relationships" id="269" r:id="R2ab6ffb72f3d4623"/>
    <p:sldId xmlns:r="http://schemas.openxmlformats.org/officeDocument/2006/relationships" id="270" r:id="R0c489699342c44b2"/>
    <p:sldId xmlns:r="http://schemas.openxmlformats.org/officeDocument/2006/relationships" id="271" r:id="Rf4d06af763654f2a"/>
    <p:sldId xmlns:r="http://schemas.openxmlformats.org/officeDocument/2006/relationships" id="272" r:id="R629bdc6665614bc4"/>
    <p:sldId xmlns:r="http://schemas.openxmlformats.org/officeDocument/2006/relationships" id="273" r:id="Rbca08af6124c4e41"/>
    <p:sldId xmlns:r="http://schemas.openxmlformats.org/officeDocument/2006/relationships" id="274" r:id="R4a37bd4aeea94fa9"/>
    <p:sldId xmlns:r="http://schemas.openxmlformats.org/officeDocument/2006/relationships" id="275" r:id="Rd41835c63dd74cc4"/>
    <p:sldId xmlns:r="http://schemas.openxmlformats.org/officeDocument/2006/relationships" id="276" r:id="R16d8c64a13284300"/>
    <p:sldId xmlns:r="http://schemas.openxmlformats.org/officeDocument/2006/relationships" id="277" r:id="R77f4906da2644362"/>
    <p:sldId xmlns:r="http://schemas.openxmlformats.org/officeDocument/2006/relationships" id="278" r:id="R3022510582e74339"/>
    <p:sldId xmlns:r="http://schemas.openxmlformats.org/officeDocument/2006/relationships" id="279" r:id="R2e56a4fec0bd4cfa"/>
    <p:sldId xmlns:r="http://schemas.openxmlformats.org/officeDocument/2006/relationships" id="280" r:id="Rf7406a42e857414f"/>
    <p:sldId xmlns:r="http://schemas.openxmlformats.org/officeDocument/2006/relationships" id="281" r:id="R158e4283e48e4e41"/>
    <p:sldId xmlns:r="http://schemas.openxmlformats.org/officeDocument/2006/relationships" id="282" r:id="Ra4f8de60c1324c07"/>
    <p:sldId xmlns:r="http://schemas.openxmlformats.org/officeDocument/2006/relationships" id="283" r:id="R018a5256b276466e"/>
    <p:sldId xmlns:r="http://schemas.openxmlformats.org/officeDocument/2006/relationships" id="284" r:id="R0baa975dd4874cb8"/>
    <p:sldId xmlns:r="http://schemas.openxmlformats.org/officeDocument/2006/relationships" id="285" r:id="R84c7f35f5f784a5d"/>
    <p:sldId xmlns:r="http://schemas.openxmlformats.org/officeDocument/2006/relationships" id="286" r:id="R5bf515a79696443e"/>
    <p:sldId xmlns:r="http://schemas.openxmlformats.org/officeDocument/2006/relationships" id="287" r:id="R9a74c9ac7d5143ed"/>
    <p:sldId xmlns:r="http://schemas.openxmlformats.org/officeDocument/2006/relationships" id="288" r:id="Rac77c907782b4129"/>
    <p:sldId xmlns:r="http://schemas.openxmlformats.org/officeDocument/2006/relationships" id="289" r:id="R13530e62ff3f417b"/>
    <p:sldId xmlns:r="http://schemas.openxmlformats.org/officeDocument/2006/relationships" id="290" r:id="R85b536cd9dc44c78"/>
    <p:sldId xmlns:r="http://schemas.openxmlformats.org/officeDocument/2006/relationships" id="291" r:id="Rd89109b678a34dcf"/>
    <p:sldId xmlns:r="http://schemas.openxmlformats.org/officeDocument/2006/relationships" id="292" r:id="R97cca9c70e6d4fbd"/>
    <p:sldId xmlns:r="http://schemas.openxmlformats.org/officeDocument/2006/relationships" id="293" r:id="R4d4a2c1621d847f4"/>
    <p:sldId xmlns:r="http://schemas.openxmlformats.org/officeDocument/2006/relationships" id="294" r:id="R9d523a012c0f44be"/>
    <p:sldId xmlns:r="http://schemas.openxmlformats.org/officeDocument/2006/relationships" id="295" r:id="R30ca9d3c674c4cd9"/>
    <p:sldId xmlns:r="http://schemas.openxmlformats.org/officeDocument/2006/relationships" id="296" r:id="R11fbe96e67744b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ae73232abc4140" /><Relationship Type="http://schemas.openxmlformats.org/officeDocument/2006/relationships/slideMaster" Target="/ppt/slideMasters/slideMaster1.xml" Id="R55861e20f0dd4e55" /><Relationship Type="http://schemas.openxmlformats.org/officeDocument/2006/relationships/notesMaster" Target="/ppt/notesMasters/notesMaster1.xml" Id="R83665407e1824df8" /><Relationship Type="http://schemas.openxmlformats.org/officeDocument/2006/relationships/presProps" Target="/ppt/presProps.xml" Id="R15ec3ea6f6844cf8" /><Relationship Type="http://schemas.openxmlformats.org/officeDocument/2006/relationships/tableStyles" Target="/ppt/tableStyles.xml" Id="R5bb932e9caa44a80" /><Relationship Type="http://schemas.openxmlformats.org/officeDocument/2006/relationships/slide" Target="/ppt/slides/slide1.xml" Id="Recda58acf89a453a" /><Relationship Type="http://schemas.openxmlformats.org/officeDocument/2006/relationships/slide" Target="/ppt/slides/slide2.xml" Id="Rb54aa1d5de5342d6" /><Relationship Type="http://schemas.openxmlformats.org/officeDocument/2006/relationships/slide" Target="/ppt/slides/slide3.xml" Id="R6bd93819c0434a3a" /><Relationship Type="http://schemas.openxmlformats.org/officeDocument/2006/relationships/slide" Target="/ppt/slides/slide4.xml" Id="R84a2dd174b774782" /><Relationship Type="http://schemas.openxmlformats.org/officeDocument/2006/relationships/slide" Target="/ppt/slides/slide5.xml" Id="R4182e3cb88544134" /><Relationship Type="http://schemas.openxmlformats.org/officeDocument/2006/relationships/slide" Target="/ppt/slides/slide6.xml" Id="R9bc5660878874379" /><Relationship Type="http://schemas.openxmlformats.org/officeDocument/2006/relationships/slide" Target="/ppt/slides/slide7.xml" Id="R7e92700e0c6742cb" /><Relationship Type="http://schemas.openxmlformats.org/officeDocument/2006/relationships/slide" Target="/ppt/slides/slide8.xml" Id="R593d2878542b45f1" /><Relationship Type="http://schemas.openxmlformats.org/officeDocument/2006/relationships/slide" Target="/ppt/slides/slide9.xml" Id="R1588b55b97a14b0a" /><Relationship Type="http://schemas.openxmlformats.org/officeDocument/2006/relationships/slide" Target="/ppt/slides/slide10.xml" Id="R43e9d4ac82654686" /><Relationship Type="http://schemas.openxmlformats.org/officeDocument/2006/relationships/slide" Target="/ppt/slides/slide11.xml" Id="R143f99fc7c46450a" /><Relationship Type="http://schemas.openxmlformats.org/officeDocument/2006/relationships/slide" Target="/ppt/slides/slide12.xml" Id="Rc8c1088f27e94628" /><Relationship Type="http://schemas.openxmlformats.org/officeDocument/2006/relationships/slide" Target="/ppt/slides/slide13.xml" Id="Re0dcdfb273fb4508" /><Relationship Type="http://schemas.openxmlformats.org/officeDocument/2006/relationships/slide" Target="/ppt/slides/slide14.xml" Id="R2ab6ffb72f3d4623" /><Relationship Type="http://schemas.openxmlformats.org/officeDocument/2006/relationships/slide" Target="/ppt/slides/slide15.xml" Id="R0c489699342c44b2" /><Relationship Type="http://schemas.openxmlformats.org/officeDocument/2006/relationships/slide" Target="/ppt/slides/slide16.xml" Id="Rf4d06af763654f2a" /><Relationship Type="http://schemas.openxmlformats.org/officeDocument/2006/relationships/slide" Target="/ppt/slides/slide17.xml" Id="R629bdc6665614bc4" /><Relationship Type="http://schemas.openxmlformats.org/officeDocument/2006/relationships/slide" Target="/ppt/slides/slide18.xml" Id="Rbca08af6124c4e41" /><Relationship Type="http://schemas.openxmlformats.org/officeDocument/2006/relationships/slide" Target="/ppt/slides/slide19.xml" Id="R4a37bd4aeea94fa9" /><Relationship Type="http://schemas.openxmlformats.org/officeDocument/2006/relationships/slide" Target="/ppt/slides/slide20.xml" Id="Rd41835c63dd74cc4" /><Relationship Type="http://schemas.openxmlformats.org/officeDocument/2006/relationships/slide" Target="/ppt/slides/slide21.xml" Id="R16d8c64a13284300" /><Relationship Type="http://schemas.openxmlformats.org/officeDocument/2006/relationships/slide" Target="/ppt/slides/slide22.xml" Id="R77f4906da2644362" /><Relationship Type="http://schemas.openxmlformats.org/officeDocument/2006/relationships/slide" Target="/ppt/slides/slide23.xml" Id="R3022510582e74339" /><Relationship Type="http://schemas.openxmlformats.org/officeDocument/2006/relationships/slide" Target="/ppt/slides/slide24.xml" Id="R2e56a4fec0bd4cfa" /><Relationship Type="http://schemas.openxmlformats.org/officeDocument/2006/relationships/slide" Target="/ppt/slides/slide25.xml" Id="Rf7406a42e857414f" /><Relationship Type="http://schemas.openxmlformats.org/officeDocument/2006/relationships/slide" Target="/ppt/slides/slide26.xml" Id="R158e4283e48e4e41" /><Relationship Type="http://schemas.openxmlformats.org/officeDocument/2006/relationships/slide" Target="/ppt/slides/slide27.xml" Id="Ra4f8de60c1324c07" /><Relationship Type="http://schemas.openxmlformats.org/officeDocument/2006/relationships/slide" Target="/ppt/slides/slide28.xml" Id="R018a5256b276466e" /><Relationship Type="http://schemas.openxmlformats.org/officeDocument/2006/relationships/slide" Target="/ppt/slides/slide29.xml" Id="R0baa975dd4874cb8" /><Relationship Type="http://schemas.openxmlformats.org/officeDocument/2006/relationships/slide" Target="/ppt/slides/slide30.xml" Id="R84c7f35f5f784a5d" /><Relationship Type="http://schemas.openxmlformats.org/officeDocument/2006/relationships/slide" Target="/ppt/slides/slide31.xml" Id="R5bf515a79696443e" /><Relationship Type="http://schemas.openxmlformats.org/officeDocument/2006/relationships/slide" Target="/ppt/slides/slide32.xml" Id="R9a74c9ac7d5143ed" /><Relationship Type="http://schemas.openxmlformats.org/officeDocument/2006/relationships/slide" Target="/ppt/slides/slide33.xml" Id="Rac77c907782b4129" /><Relationship Type="http://schemas.openxmlformats.org/officeDocument/2006/relationships/slide" Target="/ppt/slides/slide34.xml" Id="R13530e62ff3f417b" /><Relationship Type="http://schemas.openxmlformats.org/officeDocument/2006/relationships/slide" Target="/ppt/slides/slide35.xml" Id="R85b536cd9dc44c78" /><Relationship Type="http://schemas.openxmlformats.org/officeDocument/2006/relationships/slide" Target="/ppt/slides/slide36.xml" Id="Rd89109b678a34dcf" /><Relationship Type="http://schemas.openxmlformats.org/officeDocument/2006/relationships/slide" Target="/ppt/slides/slide37.xml" Id="R97cca9c70e6d4fbd" /><Relationship Type="http://schemas.openxmlformats.org/officeDocument/2006/relationships/slide" Target="/ppt/slides/slide38.xml" Id="R4d4a2c1621d847f4" /><Relationship Type="http://schemas.openxmlformats.org/officeDocument/2006/relationships/slide" Target="/ppt/slides/slide39.xml" Id="R9d523a012c0f44be" /><Relationship Type="http://schemas.openxmlformats.org/officeDocument/2006/relationships/slide" Target="/ppt/slides/slide40.xml" Id="R30ca9d3c674c4cd9" /><Relationship Type="http://schemas.openxmlformats.org/officeDocument/2006/relationships/slide" Target="/ppt/slides/slide41.xml" Id="R11fbe96e67744b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8d2452f6dc4a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00913b88094f79" /><Relationship Type="http://schemas.openxmlformats.org/officeDocument/2006/relationships/notesMaster" Target="/ppt/notesMasters/notesMaster1.xml" Id="R1b6a4f662e084b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e74e9787894015" /><Relationship Type="http://schemas.openxmlformats.org/officeDocument/2006/relationships/notesMaster" Target="/ppt/notesMasters/notesMaster1.xml" Id="R2992879c32ef42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df8da527ac4c5a" /><Relationship Type="http://schemas.openxmlformats.org/officeDocument/2006/relationships/notesMaster" Target="/ppt/notesMasters/notesMaster1.xml" Id="Raad1241b1b634a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408893f21f418e" /><Relationship Type="http://schemas.openxmlformats.org/officeDocument/2006/relationships/notesMaster" Target="/ppt/notesMasters/notesMaster1.xml" Id="Red2b51c409cd4d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649df3d8d64ce4" /><Relationship Type="http://schemas.openxmlformats.org/officeDocument/2006/relationships/notesMaster" Target="/ppt/notesMasters/notesMaster1.xml" Id="Rc2e946db85844c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14f6baaa8a4b4f" /><Relationship Type="http://schemas.openxmlformats.org/officeDocument/2006/relationships/notesMaster" Target="/ppt/notesMasters/notesMaster1.xml" Id="R37d64de476c844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94fa75ffbe4f4d" /><Relationship Type="http://schemas.openxmlformats.org/officeDocument/2006/relationships/notesMaster" Target="/ppt/notesMasters/notesMaster1.xml" Id="R69a7ed1ad95740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b1fdf0bf9c4954" /><Relationship Type="http://schemas.openxmlformats.org/officeDocument/2006/relationships/notesMaster" Target="/ppt/notesMasters/notesMaster1.xml" Id="Ra1fc6a8a1c6d43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fc007b0df74de9" /><Relationship Type="http://schemas.openxmlformats.org/officeDocument/2006/relationships/notesMaster" Target="/ppt/notesMasters/notesMaster1.xml" Id="Ra0d430ab7ade48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5c7563793a4d48" /><Relationship Type="http://schemas.openxmlformats.org/officeDocument/2006/relationships/notesMaster" Target="/ppt/notesMasters/notesMaster1.xml" Id="Re5996fdf1323424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4cd710b1534b62" /><Relationship Type="http://schemas.openxmlformats.org/officeDocument/2006/relationships/notesMaster" Target="/ppt/notesMasters/notesMaster1.xml" Id="R2fa6372fabed48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b391863a2c46ad" /><Relationship Type="http://schemas.openxmlformats.org/officeDocument/2006/relationships/notesMaster" Target="/ppt/notesMasters/notesMaster1.xml" Id="Rc594570fcd844e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eb37928b3842f5" /><Relationship Type="http://schemas.openxmlformats.org/officeDocument/2006/relationships/notesMaster" Target="/ppt/notesMasters/notesMaster1.xml" Id="R49696f5c46bb4e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22a8ff7fdcb4edf" /><Relationship Type="http://schemas.openxmlformats.org/officeDocument/2006/relationships/notesMaster" Target="/ppt/notesMasters/notesMaster1.xml" Id="R8260af374a1440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cf6a143b6949cf" /><Relationship Type="http://schemas.openxmlformats.org/officeDocument/2006/relationships/notesMaster" Target="/ppt/notesMasters/notesMaster1.xml" Id="R34325447a8284a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4c36d3a3424f08" /><Relationship Type="http://schemas.openxmlformats.org/officeDocument/2006/relationships/notesMaster" Target="/ppt/notesMasters/notesMaster1.xml" Id="R4a2f69a679c54d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b629a46536a4df0" /><Relationship Type="http://schemas.openxmlformats.org/officeDocument/2006/relationships/notesMaster" Target="/ppt/notesMasters/notesMaster1.xml" Id="R853027422282426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c5589ddd124091" /><Relationship Type="http://schemas.openxmlformats.org/officeDocument/2006/relationships/notesMaster" Target="/ppt/notesMasters/notesMaster1.xml" Id="Raac1e3e3be3b419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8aba903e88a41ee" /><Relationship Type="http://schemas.openxmlformats.org/officeDocument/2006/relationships/notesMaster" Target="/ppt/notesMasters/notesMaster1.xml" Id="R1998436c64e5471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dbb702e8d03490b" /><Relationship Type="http://schemas.openxmlformats.org/officeDocument/2006/relationships/notesMaster" Target="/ppt/notesMasters/notesMaster1.xml" Id="Re06b11b244304f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bd5c502d1b44136" /><Relationship Type="http://schemas.openxmlformats.org/officeDocument/2006/relationships/notesMaster" Target="/ppt/notesMasters/notesMaster1.xml" Id="R206cc4bdc1ef4d5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261e8de88c14871" /><Relationship Type="http://schemas.openxmlformats.org/officeDocument/2006/relationships/notesMaster" Target="/ppt/notesMasters/notesMaster1.xml" Id="R400cd6b74cce4c4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c754ddc3cd2471e" /><Relationship Type="http://schemas.openxmlformats.org/officeDocument/2006/relationships/notesMaster" Target="/ppt/notesMasters/notesMaster1.xml" Id="Rbdc7205820f94b1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334434d829409d" /><Relationship Type="http://schemas.openxmlformats.org/officeDocument/2006/relationships/notesMaster" Target="/ppt/notesMasters/notesMaster1.xml" Id="Rd9a0ba8109854e5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595e8545ef84cbe" /><Relationship Type="http://schemas.openxmlformats.org/officeDocument/2006/relationships/notesMaster" Target="/ppt/notesMasters/notesMaster1.xml" Id="R18a9bcd0700d489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dd8293dca0a4cab" /><Relationship Type="http://schemas.openxmlformats.org/officeDocument/2006/relationships/notesMaster" Target="/ppt/notesMasters/notesMaster1.xml" Id="R7dbc379fc08e4bb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ec09cda7c414018" /><Relationship Type="http://schemas.openxmlformats.org/officeDocument/2006/relationships/notesMaster" Target="/ppt/notesMasters/notesMaster1.xml" Id="Rfb54328e47c74f4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1d6b49e2b4c4377" /><Relationship Type="http://schemas.openxmlformats.org/officeDocument/2006/relationships/notesMaster" Target="/ppt/notesMasters/notesMaster1.xml" Id="Rc8eede645b1a4c2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810927dd06540fb" /><Relationship Type="http://schemas.openxmlformats.org/officeDocument/2006/relationships/notesMaster" Target="/ppt/notesMasters/notesMaster1.xml" Id="R30e4d8b49a674aa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0c6da5fe0f5431b" /><Relationship Type="http://schemas.openxmlformats.org/officeDocument/2006/relationships/notesMaster" Target="/ppt/notesMasters/notesMaster1.xml" Id="Rbe065306e11f4c0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ede6556eb0f4afb" /><Relationship Type="http://schemas.openxmlformats.org/officeDocument/2006/relationships/notesMaster" Target="/ppt/notesMasters/notesMaster1.xml" Id="Rc783db5e09b9440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f581d8c68134b68" /><Relationship Type="http://schemas.openxmlformats.org/officeDocument/2006/relationships/notesMaster" Target="/ppt/notesMasters/notesMaster1.xml" Id="R5c72bb6bd73c441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7ebf889571c4565" /><Relationship Type="http://schemas.openxmlformats.org/officeDocument/2006/relationships/notesMaster" Target="/ppt/notesMasters/notesMaster1.xml" Id="R9fea34c35c0b44f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1e888e3fede4bb7" /><Relationship Type="http://schemas.openxmlformats.org/officeDocument/2006/relationships/notesMaster" Target="/ppt/notesMasters/notesMaster1.xml" Id="Raa47cca5de9342a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b8fe34ae6e943a1" /><Relationship Type="http://schemas.openxmlformats.org/officeDocument/2006/relationships/notesMaster" Target="/ppt/notesMasters/notesMaster1.xml" Id="R691a6438dca3411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ff043c6e6ab4690" /><Relationship Type="http://schemas.openxmlformats.org/officeDocument/2006/relationships/notesMaster" Target="/ppt/notesMasters/notesMaster1.xml" Id="R155228893c08480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5e036931923471e" /><Relationship Type="http://schemas.openxmlformats.org/officeDocument/2006/relationships/notesMaster" Target="/ppt/notesMasters/notesMaster1.xml" Id="Rf1eecd9fbca94f5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77b9f9a25c9434f" /><Relationship Type="http://schemas.openxmlformats.org/officeDocument/2006/relationships/notesMaster" Target="/ppt/notesMasters/notesMaster1.xml" Id="Rd086ab15fe674ce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524b42fcc8248c9" /><Relationship Type="http://schemas.openxmlformats.org/officeDocument/2006/relationships/notesMaster" Target="/ppt/notesMasters/notesMaster1.xml" Id="R54d5308aef154ae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13183dc36ba49f3" /><Relationship Type="http://schemas.openxmlformats.org/officeDocument/2006/relationships/notesMaster" Target="/ppt/notesMasters/notesMaster1.xml" Id="R0c88631a94f5470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22219d0295e482c" /><Relationship Type="http://schemas.openxmlformats.org/officeDocument/2006/relationships/notesMaster" Target="/ppt/notesMasters/notesMaster1.xml" Id="R772a5c2250b345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from the user’s seven completed IBM capstone notebooks and two dashboard screenshots. Project repository: https://github.com/Cristian210600/SpaceX-Falcon9-Landing-prediction . Cover photograph: Michael Seeley, NASA Astronomy Picture of the Day, 21 July 2016, https://apod.nasa.gov/apod/ap160721.html . Historical laboratory snapshots, not current operational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EDA / wrangling notebooks; IBM dataset_part_2.csv (n=90). Source: saved outputs in supplied SpaceX_Machine Learning Prediction_Part_5 (2)(2).ipynb. Source: supplied dashboard screenshots; IBM spacex_launch_dash.csv (n=56). LR=logistic regression; SVM=support vector machine; KNN=k-nearest neighbors. Tree test accuracy is 77.78% in the attached notebook. Baseline predicts Class 1 for every test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lab models a binary outcome, not launch mission success or actual dollar savings. Class 1 includes successful ocean landings in the supplied wrangling logic; recovery and economic reuse are therefore not identical to this label. No cost estimate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and date ranges recomputed from the exact IBM CSV URLs referenced by the notebooks. CCAFS LC-40 and CCAFS SLC-40 are distinct dataset labels; this report retains source labels rather than silently merging historical naming variants. Dash data contains no date column. The repeated uploads are byte-identical to the earlier 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jupyter-labs-spacex-data-collection-api (1)(2).ipynb. SpaceX API v4 launches/past and the course API_call_spacex_api.json snapshot. Notebook cutoff is &lt;=2020-11-13; the downloaded snapshot’s last eligible date is 2020-11-05. Enrichment includes payload mass/orbit, coordinates, booster flight count and reuse-related fields. This slide describes the supplied code, not a new live API crawl.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jupyter-labs-webscraping (1)(2).ipynb. URL: https://en.wikipedia.org/w/index.php?title=List_of_Falcon_9_and_Falcon_Heavy_launches&amp;oldid=1027686922 . No executed row-count output is saved in this notebook. The supplied workflow does not demonstrate merging the scraped table into the 90-record ML cohort; this report does not claim such a merge.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API and wrangling notebooks, dataset_part_1.csv and dataset_part_2.csv. Class 0 = None None (19), False ASDS (6), False Ocean (2), None ASDS (2), False RTLS (1). ASDS is a drone ship; RTLS means return to launch site. The downloaded part_1 file already contains imputed payload values. Missing pad IDs are not necessarily data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EDA, SQL and Folium notebooks and dashboard screenshots. SQL results were rerun against the course CSV. EDA figures are rebuilt from the notebook’s dataset. Folium images are regenerated from supplied coordinates. Dash screenshots are user-supplied; no dashboard Python file was attached for execution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EDA / wrangling notebooks; IBM dataset_part_2.csv (n=90). Native editable scatter plot rebuilt from all 90 records. Class 0 is shown in orange and Class 1 in teal. No causal payload effect is estimated. Some identical mean-imputed masses repeat.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EDA / wrangling notebooks; IBM dataset_part_2.csv (n=90). All 90 input rows appear across the two panels. Integer codes represent categorical site names, not quantitative distances. Repeated payload values can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EDA / wrangling notebooks; IBM dataset_part_2.csv (n=90). All 90 input rows appear across the two panels. Integer codes represent categorical site names, not quantitative distances. Repeated payload values can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EDA / wrangling notebooks; IBM dataset_part_2.csv (n=90). Native scatter charts display each record. Orbit codes map to the named table at right and carry no numerical-distance meaning. Categories with n=1 cannot support stable success-rate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EDA / wrangling notebooks; IBM dataset_part_2.csv (n=90). Native scatter charts display each record. Orbit codes map to the named table at right and carry no numerical-distance meaning. Categories with n=1 cannot support stable success-rate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EDA / wrangling notebooks; IBM dataset_part_2.csv (n=90). The small difference between KSC and VAFB should not be interpreted as evidence that geography causes better landing performance. Site, mission type and time are correlated.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EDA / wrangling notebooks; IBM dataset_part_2.csv (n=90). Rates = mean(Class). n=1 for ES-L1, GEO, HEO and SO. Do not infer stable operational rates for these groups. All denominators are shown in the category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EDA / wrangling notebooks; IBM dataset_part_2.csv (n=90). Categories are observed years, not a continuous time axis. There are no 2011 observations. 2020 ends on 5 November and is not a full calendar year. Changes in booster version, orbit and recovery attempts can confound this descriptive trend.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SQL notebook; queries rerun on IBM Spacex.csv (n=101). Additional queries in sql/11_report_rates_and_ranking.sql. Unknown, no-attempt and ocean outcomes stay in the all-launch denominator. This definition is separate from Class in the ML snapshot. Repository: https://github.com/Cristian210600/SpaceX-Falcon9-Landing-prediction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SQL notebook; queries rerun on IBM Spacex.csv (n=101). Exact predicates in the supplied notebook: Customer = NASA (CRS); Booster_Version LIKE F9 v1.1%; Landing_Outcome = Success (ground pad). Dates use the CSV’s UTC dates. All ten exercise queries were rerun with sqlite3. The maximum payload is a mass result, not a landing-success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SQL notebook; queries rerun on IBM Spacex.csv (n=101). These are launch-level query results. Booster strings are whitespace-normalized for display only. The date filter uses strftime year=2015 and Landing_Outcome=Failure (drone ship). Query uses strict payload bounds.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SQL notebook; queries rerun on IBM Spacex.csv (n=101). Additional validation: GROUP BY TRIM(Mission_Outcome) combines one trailing-space Success value with 98 clean Success values. The unclear-payload row is retained separately. The landing-outcome ranking query covers only 2010-06-04 through 2017-03-20 inclusive (31 records), not the full 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Launch_Site, COUNT(*) AS launches,</a:t>
            </a:r>
          </a:p>
          <a:p xmlns:a="http://schemas.openxmlformats.org/drawingml/2006/main">
            <a:r>
              <a:t> SUM(CASE WHEN TRIM(Landing_Outcome) LIKE 'Success%' THEN 1 ELSE 0 END) AS successes,</a:t>
            </a:r>
          </a:p>
          <a:p xmlns:a="http://schemas.openxmlformats.org/drawingml/2006/main">
            <a:r>
              <a:t> ROUND(100.0*SUM(CASE WHEN TRIM(Landing_Outcome) LIKE 'Success%' THEN 1 ELSE 0 END)/COUNT(*),2) AS rate_pct</a:t>
            </a:r>
          </a:p>
          <a:p xmlns:a="http://schemas.openxmlformats.org/drawingml/2006/main">
            <a:r>
              <a:t> FROM SPACEXTBL GROUP BY Launch_Site ORDER BY rate_pct DESC; Rates include every launch in each denominator. Historical site labels remain separate. These SQL rates differ from the 90-record ML target and 56-record dashboard rates.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TRIM(Landing_Outcome) AS outcome, COUNT(*) AS launches</a:t>
            </a:r>
          </a:p>
          <a:p xmlns:a="http://schemas.openxmlformats.org/drawingml/2006/main">
            <a:r>
              <a:t> FROM SPACEXTBL WHERE Date BETWEEN '2010-06-04' AND '2017-03-20'</a:t>
            </a:r>
          </a:p>
          <a:p xmlns:a="http://schemas.openxmlformats.org/drawingml/2006/main">
            <a:r>
              <a:t> GROUP BY TRIM(Landing_Outcome) ORDER BY launches DESC, outcome;</a:t>
            </a:r>
          </a:p>
          <a:p xmlns:a="http://schemas.openxmlformats.org/drawingml/2006/main">
            <a:r>
              <a:t>SELECT substr(Date,1,4) AS year, COUNT(*) AS launches,</a:t>
            </a:r>
          </a:p>
          <a:p xmlns:a="http://schemas.openxmlformats.org/drawingml/2006/main">
            <a:r>
              <a:t> SUM(CASE WHEN TRIM(Landing_Outcome) LIKE 'Success%' THEN 1 ELSE 0 END) AS successes</a:t>
            </a:r>
          </a:p>
          <a:p xmlns:a="http://schemas.openxmlformats.org/drawingml/2006/main">
            <a:r>
              <a:t> FROM SPACEXTBL GROUP BY substr(Date,1,4) ORDER BY year; The historical window contains 31 records. 2020 ends on 6 December in this SQL snapshot. Mission mix and recovery attempts change over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Notebook: notebooks/06_folium_launch_sites.ipynb. App: app/spacex_dash_app.py. The companion HTML implements the map. The dashboard app was reconstructed from the supplied requirements and screenshots. Repository: https://github.com/Cristian210600/SpaceX-Falcon9-Landing-prediction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Folium notebook; IBM spacex_launch_geo.csv (n=56). Static coordinate view of the supplied Folium map data, rebuilt as an editable scatter chart; this is not a screenshot of a live basemap. Notebook uses Circle, Marker and DivIcon for sites; MarkerCluster for 56 outcomes. Coordinates are lab reference points, not survey-grade launch-pad positions. Florida labels overlap at this scale. Ocean safety rationale is an interpretation, not a causal test. Interactive Folium HTML is supplied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Folium notebook; IBM spacex_launch_geo.csv (n=56). Haversine formula with R=6373 km, origin [28.563197,-80.576820]. Coast [28.56334,-80.56799]; highway [28.56335,-80.57085]; rail [28.57206,-80.58525]; city [28.10473,-80.64531]. Local map omits the distant city line for readability. Road/rail labels follow notebook selections and were not independently classified. These observations cannot establish a minimum urban buffer for every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Folium notebook; IBM spacex_launch_geo.csv (n=56). The green/red MarkerCluster implements all 56 records without jittering geographic coordinates. A static browser capture could not be obtained in the authoring environment. Companion HTML requires internet for Leaflet and OpenStreetMap tiles. Selected points are manual notebook references, not validated nearest road, railway, coast or urban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dashboard screenshots; IBM spacex_launch_dash.csv (n=56). Original user screenshot preserved. Recomputed site counts: KSC LC-39A10/13; CCAFS LC-40 7/26; VAFB SLC-4E4/10; CCAFS SLC-40 3/7. Pie shares use denominator24; within-site rates use each site’s launch count. Screenshots demonstrate the interface, not a live callback execution test performed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dashboard screenshots; IBM spacex_launch_dash.csv (n=56). Screenshot displays ALL sites and range0–9600kg. Intended callbacks: site-dropdown→success-pie-chart; site-dropdown and payload-slider→success-payload-scatter-chart. The screenshot is direct user evidence. The companion app implements the two callbacks from the supplied requirements. The original screenshot demonstrates the user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dashboard screenshots; IBM spacex_launch_dash.csv (n=56). Additional report calculation, not an existing screenshot. Bins are left-closed, right-open, [0,2000),[2000,4000),[4000,6000),[6000,8000),[8000,10000). Rates:3/13,13/21,5/13,0/4,3/5. Rankings depend on bin boundaries and small sample sizes; the result does not imply a monotonic payload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dashboard screenshots; IBM spacex_launch_dash.csv (n=56). Recomputed rates: v1.0 0/5;v1.1 1/15;FT16/24;B4 6/11;B5 1/1. B5 is the maximum empirical rate, but n=1 does not support a stable ranking or a superiority claim. Booster categories track historical development and are confounded with time and mission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outputs in supplied SpaceX_Machine Learning Prediction_Part_5 (2)(2).ipynb. Models: LogisticRegression, SVC, DecisionTreeClassifier, KNeighborsClassifier. The source notebook fits preprocessing.StandardScaler().fit_transform(X) before train_test_split. This leaks held-out distribution information. Use a Pipeline after splitting, then cross-validate the full pipeline. Reference: https://scikit-learn.org/stable/common_pitfalls.html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outputs in supplied SpaceX_Machine Learning Prediction_Part_5 (2)(2).ipynb. Stored values are preserved rather than replaced with a new run. CV best scores:LR0.8464285714,SVM0.8482142857,Tree0.875,KNN0.8482142857. Test:15/18 for LR,SVM,KNN;14/18 for Tree. A higher CV score is not a guarantee of stronger holdout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outputs in supplied SpaceX_Machine Learning Prediction_Part_5 (2)(2).ipynb. Tree has no fixed random_state in the source. Its grid includes an invalid max_features=auto value in the execution environment, producing3,240 failed fits out of6,480. Valid candidates still yielded the reported selected estimator. Removing invalid settings and seeding the tree is recommended for a reproducible rerun, but not represented as already performed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outputs in supplied SpaceX_Machine Learning Prediction_Part_5 (2)(2).ipynb. Confusion matrices were transcribed from saved plots. LR,SVM,KNN share [[3,3],[0,12]]. Tree:[[2,4],[0,12]]. For the three tied models:precision12/(12+3)=0.8;recall12/12=1;specificity3/6=0.5;balancedaccuracy0.75. These are small-sample estimates. A false positive predicts Class1 for an actual Class0 record, potentially overstating landing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outputs in supplied SpaceX_Machine Learning Prediction_Part_5 (2)(2).ipynb. This is a practical recommendation, not proof of statistical superiority. Threshold tuning, calibration, grouped validation and time-based evaluation were not performed. Reported hyperparameters and scores retain the original saved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source code and stored warnings in the ML notebook; dataset_part_2.csv has53uniqueSerials across90rows. Reference for leakage/Pipeline:https://scikit-learn.org/stable/common_pitfalls.html . Fields such as ReusedCount should be checked for as-of timing. Grouped/chronological validation are recommendations, not reported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Derived insights from the report, not causal claims. Target insight is supported by five True Ocean Class1 rows. Comparison insight follows the90/101/56cohorts and pie-share versus within-site rate. Risk insight follows three false positives and zero false negatives for the three tied models on18testrecords. Threshold optimization and economic loss modeling are proposed, not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EDA / wrangling notebooks; IBM dataset_part_2.csv (n=90). Source: supplied Folium notebook; IBM spacex_launch_geo.csv (n=56). Source: supplied dashboard screenshots; IBM spacex_launch_dash.csv (n=56). Source: saved outputs in supplied SpaceX_Machine Learning Prediction_Part_5 (2)(2).ipynb. Conclusions are restricted to the course data snapshots.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URL identifies the user-provided target repository. Remote visibility and uploaded file contents were not verified. The accompanying ZIP contains the listed local files. Several notebooks contain environment-specific installation cells. No claim is made that every notebook was rerun in this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blocked local HTML capture. This evidence gap is disclosed rather than presenting a coordinate scatter plot as a rendered Folium map. The full interactive HTML is included for opening in an ordinary browser.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source URLs:</a:t>
            </a:r>
          </a:p>
          <a:p xmlns:a="http://schemas.openxmlformats.org/drawingml/2006/main">
            <a:r>
              <a:t>https://cf-courses-data.s3.us.cloud-object-storage.appdomain.cloud/IBM-DS0321EN-SkillsNetwork/datasets/dataset_part_1.csv</a:t>
            </a:r>
          </a:p>
          <a:p xmlns:a="http://schemas.openxmlformats.org/drawingml/2006/main">
            <a:r>
              <a:t>https://cf-courses-data.s3.us.cloud-object-storage.appdomain.cloud/IBM-DS0321EN-SkillsNetwork/datasets/dataset_part_2.csv</a:t>
            </a:r>
          </a:p>
          <a:p xmlns:a="http://schemas.openxmlformats.org/drawingml/2006/main">
            <a:r>
              <a:t>https://cf-courses-data.s3.us.cloud-object-storage.appdomain.cloud/IBM-DS0321EN-SkillsNetwork/datasets/dataset_part_3.csv</a:t>
            </a:r>
          </a:p>
          <a:p xmlns:a="http://schemas.openxmlformats.org/drawingml/2006/main">
            <a:r>
              <a:t>https://cf-courses-data.s3.us.cloud-object-storage.appdomain.cloud/IBM-DS0321EN-SkillsNetwork/datasets/spacex_launch_geo.csv</a:t>
            </a:r>
          </a:p>
          <a:p xmlns:a="http://schemas.openxmlformats.org/drawingml/2006/main">
            <a:r>
              <a:t>https://cf-courses-data.s3.us.cloud-object-storage.appdomain.cloud/IBM-DS0321EN-SkillsNetwork/datasets/spacex_launch_dash.csv</a:t>
            </a:r>
          </a:p>
          <a:p xmlns:a="http://schemas.openxmlformats.org/drawingml/2006/main">
            <a:r>
              <a:t>https://cf-courses-data.s3.us.cloud-object-storage.appdomain.cloud/IBM-DS0321EN-SkillsNetwork/labs/module_2/data/Spacex.csv</a:t>
            </a:r>
          </a:p>
          <a:p xmlns:a="http://schemas.openxmlformats.org/drawingml/2006/main">
            <a:r>
              <a:t>Wikipedia revision: https://en.wikipedia.org/w/index.php?title=List_of_Falcon_9_and_Falcon_Heavy_launches&amp;oldid=1027686922</a:t>
            </a:r>
          </a:p>
          <a:p xmlns:a="http://schemas.openxmlformats.org/drawingml/2006/main">
            <a:r>
              <a:t>scikit-learn: https://scikit-learn.org/stable/common_pitfalls.html</a:t>
            </a:r>
          </a:p>
          <a:p xmlns:a="http://schemas.openxmlformats.org/drawingml/2006/main">
            <a:r>
              <a:t>Cover: https://apod.nasa.gov/apod/ap160721.html</a:t>
            </a:r>
          </a:p>
          <a:p xmlns:a="http://schemas.openxmlformats.org/drawingml/2006/main">
            <a:r>
              <a:t>Companion basemap: OpenStreetMap contributors. Uploaded files and checksums are preserved in the private build evidence.json. Exact ML notebook outputs are the authority for the displayed model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b5ce7c9da340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2f4d0dab8f4563" /><Relationship Type="http://schemas.openxmlformats.org/officeDocument/2006/relationships/slideLayout" Target="/ppt/slideLayouts/slideLayout1.xml" Id="R1227869f253746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7869f253746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8786ffc2f54f76" /><Relationship Type="http://schemas.openxmlformats.org/officeDocument/2006/relationships/image" Target="/ppt/media/image.jpeg" Id="R94f93e05cd914226" /><Relationship Type="http://schemas.openxmlformats.org/officeDocument/2006/relationships/notesSlide" Target="/ppt/notesSlides/notesSlide1.xml" Id="R612b2982bf0043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a45ea974ad24397" /><Relationship Type="http://schemas.openxmlformats.org/officeDocument/2006/relationships/hyperlink" Target="https://github.com/Cristian210600/SpaceX-Falcon9-Landing-prediction" TargetMode="External" Id="R0bde033458524f8e" /><Relationship Type="http://schemas.openxmlformats.org/officeDocument/2006/relationships/notesSlide" Target="/ppt/notesSlides/notesSlide2.xml" Id="R39b3caeebacf4d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ead1abec934293" /><Relationship Type="http://schemas.openxmlformats.org/officeDocument/2006/relationships/hyperlink" Target="https://github.com/Cristian210600/SpaceX-Falcon9-Landing-prediction" TargetMode="External" Id="R1f2d835d19e94094" /><Relationship Type="http://schemas.openxmlformats.org/officeDocument/2006/relationships/notesSlide" Target="/ppt/notesSlides/notesSlide3.xml" Id="Rb920b526927742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0a73f3df724894" /><Relationship Type="http://schemas.openxmlformats.org/officeDocument/2006/relationships/hyperlink" Target="https://github.com/Cristian210600/SpaceX-Falcon9-Landing-prediction" TargetMode="External" Id="Ref42aed654014225" /><Relationship Type="http://schemas.openxmlformats.org/officeDocument/2006/relationships/notesSlide" Target="/ppt/notesSlides/notesSlide4.xml" Id="Rc313c159c3384f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6133c9fb354a49" /><Relationship Type="http://schemas.openxmlformats.org/officeDocument/2006/relationships/hyperlink" Target="https://github.com/Cristian210600/SpaceX-Falcon9-Landing-prediction" TargetMode="External" Id="Rc60294d91d1940b4" /><Relationship Type="http://schemas.openxmlformats.org/officeDocument/2006/relationships/notesSlide" Target="/ppt/notesSlides/notesSlide5.xml" Id="R5202874de1b142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82729b12a848ac" /><Relationship Type="http://schemas.openxmlformats.org/officeDocument/2006/relationships/hyperlink" Target="https://github.com/Cristian210600/SpaceX-Falcon9-Landing-prediction" TargetMode="External" Id="R765790b76bcd4702" /><Relationship Type="http://schemas.openxmlformats.org/officeDocument/2006/relationships/notesSlide" Target="/ppt/notesSlides/notesSlide6.xml" Id="Rc75ba1a9651747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c5934ac39ec4589" /><Relationship Type="http://schemas.openxmlformats.org/officeDocument/2006/relationships/hyperlink" Target="https://github.com/Cristian210600/SpaceX-Falcon9-Landing-prediction" TargetMode="External" Id="Rd153d2cb1b2546a9" /><Relationship Type="http://schemas.openxmlformats.org/officeDocument/2006/relationships/notesSlide" Target="/ppt/notesSlides/notesSlide7.xml" Id="R683e27e2e27e47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b27faafa084090" /><Relationship Type="http://schemas.openxmlformats.org/officeDocument/2006/relationships/hyperlink" Target="https://github.com/Cristian210600/SpaceX-Falcon9-Landing-prediction" TargetMode="External" Id="R510314b00b1143ea" /><Relationship Type="http://schemas.openxmlformats.org/officeDocument/2006/relationships/notesSlide" Target="/ppt/notesSlides/notesSlide8.xml" Id="Rccbbdcd5f1a24c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5a1585e0c07494b" /><Relationship Type="http://schemas.openxmlformats.org/officeDocument/2006/relationships/hyperlink" Target="https://github.com/Cristian210600/SpaceX-Falcon9-Landing-prediction" TargetMode="External" Id="R615767fc443a4b4a" /><Relationship Type="http://schemas.openxmlformats.org/officeDocument/2006/relationships/chart" Target="/ppt/slides/charts/chart1.xml" Id="Rd83c053abe4f453d" /><Relationship Type="http://schemas.openxmlformats.org/officeDocument/2006/relationships/chart" Target="/ppt/slides/charts/chart2.xml" Id="R2653ce657464439a" /><Relationship Type="http://schemas.openxmlformats.org/officeDocument/2006/relationships/notesSlide" Target="/ppt/notesSlides/notesSlide9.xml" Id="Rde691c08f00e4f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4f67e53d2404dc7" /><Relationship Type="http://schemas.openxmlformats.org/officeDocument/2006/relationships/hyperlink" Target="https://github.com/Cristian210600/SpaceX-Falcon9-Landing-prediction" TargetMode="External" Id="R37df73708b614c7a" /><Relationship Type="http://schemas.openxmlformats.org/officeDocument/2006/relationships/chart" Target="/ppt/slides/charts/chart3.xml" Id="R80d663475c5d406d" /><Relationship Type="http://schemas.openxmlformats.org/officeDocument/2006/relationships/chart" Target="/ppt/slides/charts/chart4.xml" Id="R3c76db2524f341e5" /><Relationship Type="http://schemas.openxmlformats.org/officeDocument/2006/relationships/notesSlide" Target="/ppt/notesSlides/notesSlide10.xml" Id="Re40ccd3154b145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67ab3507fce4651" /><Relationship Type="http://schemas.openxmlformats.org/officeDocument/2006/relationships/hyperlink" Target="https://github.com/Cristian210600/SpaceX-Falcon9-Landing-prediction" TargetMode="External" Id="R7647491ba072442f" /><Relationship Type="http://schemas.openxmlformats.org/officeDocument/2006/relationships/chart" Target="/ppt/slides/charts/chart5.xml" Id="R258fe2c7399a472d" /><Relationship Type="http://schemas.openxmlformats.org/officeDocument/2006/relationships/chart" Target="/ppt/slides/charts/chart6.xml" Id="R0ac3651463cd46c5" /><Relationship Type="http://schemas.openxmlformats.org/officeDocument/2006/relationships/notesSlide" Target="/ppt/notesSlides/notesSlide11.xml" Id="Ra6855bcafdf44b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00d34e677b644da" /><Relationship Type="http://schemas.openxmlformats.org/officeDocument/2006/relationships/hyperlink" Target="https://github.com/Cristian210600/SpaceX-Falcon9-Landing-prediction" TargetMode="External" Id="Rac8c82b3645f46f2" /><Relationship Type="http://schemas.openxmlformats.org/officeDocument/2006/relationships/chart" Target="/ppt/slides/charts/chart7.xml" Id="Rd65f94ffed6447df" /><Relationship Type="http://schemas.openxmlformats.org/officeDocument/2006/relationships/chart" Target="/ppt/slides/charts/chart8.xml" Id="R5eec1c03812640c4" /><Relationship Type="http://schemas.openxmlformats.org/officeDocument/2006/relationships/notesSlide" Target="/ppt/notesSlides/notesSlide12.xml" Id="R7c6eb4cd2d5c49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ee2605c66bd40ce" /><Relationship Type="http://schemas.openxmlformats.org/officeDocument/2006/relationships/hyperlink" Target="https://github.com/Cristian210600/SpaceX-Falcon9-Landing-prediction" TargetMode="External" Id="R7569ef33c8dd4366" /><Relationship Type="http://schemas.openxmlformats.org/officeDocument/2006/relationships/chart" Target="/ppt/slides/charts/chart9.xml" Id="Re2b8cd1aa65c4896" /><Relationship Type="http://schemas.openxmlformats.org/officeDocument/2006/relationships/chart" Target="/ppt/slides/charts/chart10.xml" Id="Rdcd3234a214d4782" /><Relationship Type="http://schemas.openxmlformats.org/officeDocument/2006/relationships/notesSlide" Target="/ppt/notesSlides/notesSlide13.xml" Id="R61ab47d51cd540b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3cc1694b154203" /><Relationship Type="http://schemas.openxmlformats.org/officeDocument/2006/relationships/hyperlink" Target="https://github.com/Cristian210600/SpaceX-Falcon9-Landing-prediction" TargetMode="External" Id="Rfab68cf5ee1f4d53" /><Relationship Type="http://schemas.openxmlformats.org/officeDocument/2006/relationships/chart" Target="/ppt/slides/charts/chart11.xml" Id="R7aa7b14c8efd4b70" /><Relationship Type="http://schemas.openxmlformats.org/officeDocument/2006/relationships/notesSlide" Target="/ppt/notesSlides/notesSlide14.xml" Id="R9cf1c804e96c43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1786b7d54734406" /><Relationship Type="http://schemas.openxmlformats.org/officeDocument/2006/relationships/hyperlink" Target="https://github.com/Cristian210600/SpaceX-Falcon9-Landing-prediction" TargetMode="External" Id="Rc030cebd62a04445" /><Relationship Type="http://schemas.openxmlformats.org/officeDocument/2006/relationships/chart" Target="/ppt/slides/charts/chart12.xml" Id="R11206f3fec824112" /><Relationship Type="http://schemas.openxmlformats.org/officeDocument/2006/relationships/notesSlide" Target="/ppt/notesSlides/notesSlide15.xml" Id="R33423d787edd40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f6cf9cf45f141d0" /><Relationship Type="http://schemas.openxmlformats.org/officeDocument/2006/relationships/hyperlink" Target="https://github.com/Cristian210600/SpaceX-Falcon9-Landing-prediction" TargetMode="External" Id="R156c06c8f6774e0b" /><Relationship Type="http://schemas.openxmlformats.org/officeDocument/2006/relationships/chart" Target="/ppt/slides/charts/chart13.xml" Id="R27a6d0102fdb4cba" /><Relationship Type="http://schemas.openxmlformats.org/officeDocument/2006/relationships/notesSlide" Target="/ppt/notesSlides/notesSlide16.xml" Id="R7bb0d0d8322a45e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c533c4ef27a47a0" /><Relationship Type="http://schemas.openxmlformats.org/officeDocument/2006/relationships/hyperlink" Target="https://github.com/Cristian210600/SpaceX-Falcon9-Landing-prediction" TargetMode="External" Id="R738c397e967d4b09" /><Relationship Type="http://schemas.openxmlformats.org/officeDocument/2006/relationships/notesSlide" Target="/ppt/notesSlides/notesSlide17.xml" Id="R9a53a33b2a9f48b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3660b4a7294c91" /><Relationship Type="http://schemas.openxmlformats.org/officeDocument/2006/relationships/hyperlink" Target="https://github.com/Cristian210600/SpaceX-Falcon9-Landing-prediction" TargetMode="External" Id="R60311050bc3642e5" /><Relationship Type="http://schemas.openxmlformats.org/officeDocument/2006/relationships/notesSlide" Target="/ppt/notesSlides/notesSlide18.xml" Id="Ra3accf7d26984b2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9968f23bfa843f9" /><Relationship Type="http://schemas.openxmlformats.org/officeDocument/2006/relationships/hyperlink" Target="https://github.com/Cristian210600/SpaceX-Falcon9-Landing-prediction" TargetMode="External" Id="Re418f60188504105" /><Relationship Type="http://schemas.openxmlformats.org/officeDocument/2006/relationships/notesSlide" Target="/ppt/notesSlides/notesSlide19.xml" Id="Re8f857a1e6e1456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f3911ad374d4efb" /><Relationship Type="http://schemas.openxmlformats.org/officeDocument/2006/relationships/hyperlink" Target="https://github.com/Cristian210600/SpaceX-Falcon9-Landing-prediction" TargetMode="External" Id="Ree85ef014df74901" /><Relationship Type="http://schemas.openxmlformats.org/officeDocument/2006/relationships/notesSlide" Target="/ppt/notesSlides/notesSlide20.xml" Id="Re390eb1893014cf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0c552ec426341f0" /><Relationship Type="http://schemas.openxmlformats.org/officeDocument/2006/relationships/hyperlink" Target="https://github.com/Cristian210600/SpaceX-Falcon9-Landing-prediction" TargetMode="External" Id="Rc9a25f6165f54280" /><Relationship Type="http://schemas.openxmlformats.org/officeDocument/2006/relationships/notesSlide" Target="/ppt/notesSlides/notesSlide21.xml" Id="R77669435ff0f4d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8a80cc3dbe74bcf" /><Relationship Type="http://schemas.openxmlformats.org/officeDocument/2006/relationships/hyperlink" Target="https://github.com/Cristian210600/SpaceX-Falcon9-Landing-prediction" TargetMode="External" Id="R42bb1476b1d44482" /><Relationship Type="http://schemas.openxmlformats.org/officeDocument/2006/relationships/notesSlide" Target="/ppt/notesSlides/notesSlide22.xml" Id="R0febf8334e01475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e0700d9939c4bd5" /><Relationship Type="http://schemas.openxmlformats.org/officeDocument/2006/relationships/hyperlink" Target="https://github.com/Cristian210600/SpaceX-Falcon9-Landing-prediction" TargetMode="External" Id="Rdf90a9bcdaad49c5" /><Relationship Type="http://schemas.openxmlformats.org/officeDocument/2006/relationships/notesSlide" Target="/ppt/notesSlides/notesSlide23.xml" Id="Ra324567bdca24a7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0748f80137746ec" /><Relationship Type="http://schemas.openxmlformats.org/officeDocument/2006/relationships/hyperlink" Target="https://github.com/Cristian210600/SpaceX-Falcon9-Landing-prediction" TargetMode="External" Id="Rbe93bc3879e848b5" /><Relationship Type="http://schemas.openxmlformats.org/officeDocument/2006/relationships/chart" Target="/ppt/slides/charts/chart14.xml" Id="R20f045b58e834fb0" /><Relationship Type="http://schemas.openxmlformats.org/officeDocument/2006/relationships/notesSlide" Target="/ppt/notesSlides/notesSlide24.xml" Id="R9b26fd7a932e460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99acb1b58644e98" /><Relationship Type="http://schemas.openxmlformats.org/officeDocument/2006/relationships/hyperlink" Target="https://github.com/Cristian210600/SpaceX-Falcon9-Landing-prediction" TargetMode="External" Id="Ra88e8f16da2c4ae9" /><Relationship Type="http://schemas.openxmlformats.org/officeDocument/2006/relationships/chart" Target="/ppt/slides/charts/chart15.xml" Id="R4d2d74ef2e0f4ff8" /><Relationship Type="http://schemas.openxmlformats.org/officeDocument/2006/relationships/notesSlide" Target="/ppt/notesSlides/notesSlide25.xml" Id="Rfb785b9375b74c2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0d22c777a144066" /><Relationship Type="http://schemas.openxmlformats.org/officeDocument/2006/relationships/hyperlink" Target="https://github.com/Cristian210600/SpaceX-Falcon9-Landing-prediction" TargetMode="External" Id="Re96efbe7814443a6" /><Relationship Type="http://schemas.openxmlformats.org/officeDocument/2006/relationships/notesSlide" Target="/ppt/notesSlides/notesSlide26.xml" Id="R067d496270e8410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57cfb3ece574896" /><Relationship Type="http://schemas.openxmlformats.org/officeDocument/2006/relationships/hyperlink" Target="https://github.com/Cristian210600/SpaceX-Falcon9-Landing-prediction" TargetMode="External" Id="R60dabec6566b4598" /><Relationship Type="http://schemas.openxmlformats.org/officeDocument/2006/relationships/image" Target="/ppt/media/image.png" Id="R5c9df055e58544cc" /><Relationship Type="http://schemas.openxmlformats.org/officeDocument/2006/relationships/notesSlide" Target="/ppt/notesSlides/notesSlide27.xml" Id="Rff6932cc07c5470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5c9f1f2eef5462f" /><Relationship Type="http://schemas.openxmlformats.org/officeDocument/2006/relationships/hyperlink" Target="https://github.com/Cristian210600/SpaceX-Falcon9-Landing-prediction" TargetMode="External" Id="R681e63db8e124e29" /><Relationship Type="http://schemas.openxmlformats.org/officeDocument/2006/relationships/image" Target="/ppt/media/image2.png" Id="Re0d4879a1c394a7e" /><Relationship Type="http://schemas.openxmlformats.org/officeDocument/2006/relationships/notesSlide" Target="/ppt/notesSlides/notesSlide28.xml" Id="R794960856feb4e1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0d42f7e572c4a8c" /><Relationship Type="http://schemas.openxmlformats.org/officeDocument/2006/relationships/hyperlink" Target="https://github.com/Cristian210600/SpaceX-Falcon9-Landing-prediction" TargetMode="External" Id="R4fc911a605ec4296" /><Relationship Type="http://schemas.openxmlformats.org/officeDocument/2006/relationships/chart" Target="/ppt/slides/charts/chart16.xml" Id="Raa09948c65f340fe" /><Relationship Type="http://schemas.openxmlformats.org/officeDocument/2006/relationships/notesSlide" Target="/ppt/notesSlides/notesSlide29.xml" Id="Raf4a402ac2134b6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7aab26c483b4f91" /><Relationship Type="http://schemas.openxmlformats.org/officeDocument/2006/relationships/hyperlink" Target="https://github.com/Cristian210600/SpaceX-Falcon9-Landing-prediction" TargetMode="External" Id="R76b2cb60a5b14d99" /><Relationship Type="http://schemas.openxmlformats.org/officeDocument/2006/relationships/notesSlide" Target="/ppt/notesSlides/notesSlide30.xml" Id="R95ff0ce351944b6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90e699ce87e4207" /><Relationship Type="http://schemas.openxmlformats.org/officeDocument/2006/relationships/hyperlink" Target="https://github.com/Cristian210600/SpaceX-Falcon9-Landing-prediction" TargetMode="External" Id="R765fdbf08c424e5a" /><Relationship Type="http://schemas.openxmlformats.org/officeDocument/2006/relationships/notesSlide" Target="/ppt/notesSlides/notesSlide31.xml" Id="Rc62199e3509843b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dc87dc1060441af" /><Relationship Type="http://schemas.openxmlformats.org/officeDocument/2006/relationships/hyperlink" Target="https://github.com/Cristian210600/SpaceX-Falcon9-Landing-prediction" TargetMode="External" Id="Rf4014fdeaaea474a" /><Relationship Type="http://schemas.openxmlformats.org/officeDocument/2006/relationships/chart" Target="/ppt/slides/charts/chart17.xml" Id="R01a94f8dfa0149d1" /><Relationship Type="http://schemas.openxmlformats.org/officeDocument/2006/relationships/notesSlide" Target="/ppt/notesSlides/notesSlide32.xml" Id="R8fb2024f170546d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a4480d7b59642c7" /><Relationship Type="http://schemas.openxmlformats.org/officeDocument/2006/relationships/hyperlink" Target="https://github.com/Cristian210600/SpaceX-Falcon9-Landing-prediction" TargetMode="External" Id="Raf54fe52de044e9a" /><Relationship Type="http://schemas.openxmlformats.org/officeDocument/2006/relationships/notesSlide" Target="/ppt/notesSlides/notesSlide33.xml" Id="R233978a30c2d4b0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b96129a30f54881" /><Relationship Type="http://schemas.openxmlformats.org/officeDocument/2006/relationships/hyperlink" Target="https://github.com/Cristian210600/SpaceX-Falcon9-Landing-prediction" TargetMode="External" Id="R8a8c0338187d45de" /><Relationship Type="http://schemas.openxmlformats.org/officeDocument/2006/relationships/notesSlide" Target="/ppt/notesSlides/notesSlide34.xml" Id="Re27a589f2057427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7b6f3c51018444b" /><Relationship Type="http://schemas.openxmlformats.org/officeDocument/2006/relationships/hyperlink" Target="https://github.com/Cristian210600/SpaceX-Falcon9-Landing-prediction" TargetMode="External" Id="Rad013a3186c14a9d" /><Relationship Type="http://schemas.openxmlformats.org/officeDocument/2006/relationships/notesSlide" Target="/ppt/notesSlides/notesSlide35.xml" Id="R26835c4d2e3c4ce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83ac910e0e74605" /><Relationship Type="http://schemas.openxmlformats.org/officeDocument/2006/relationships/hyperlink" Target="https://github.com/Cristian210600/SpaceX-Falcon9-Landing-prediction" TargetMode="External" Id="Rae6b7fa7e2f44e01" /><Relationship Type="http://schemas.openxmlformats.org/officeDocument/2006/relationships/notesSlide" Target="/ppt/notesSlides/notesSlide36.xml" Id="R34c419a5a587493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8a54299fecd4956" /><Relationship Type="http://schemas.openxmlformats.org/officeDocument/2006/relationships/hyperlink" Target="https://github.com/Cristian210600/SpaceX-Falcon9-Landing-prediction" TargetMode="External" Id="Raef4707bec844e33" /><Relationship Type="http://schemas.openxmlformats.org/officeDocument/2006/relationships/notesSlide" Target="/ppt/notesSlides/notesSlide37.xml" Id="R92d1606ffb18451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05241448c8d4a24" /><Relationship Type="http://schemas.openxmlformats.org/officeDocument/2006/relationships/hyperlink" Target="https://github.com/Cristian210600/SpaceX-Falcon9-Landing-prediction" TargetMode="External" Id="Rcce66c5b823f447d" /><Relationship Type="http://schemas.openxmlformats.org/officeDocument/2006/relationships/notesSlide" Target="/ppt/notesSlides/notesSlide38.xml" Id="Ra7ea9897fd6c4d9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477b2d065b74e47" /><Relationship Type="http://schemas.openxmlformats.org/officeDocument/2006/relationships/hyperlink" Target="https://github.com/Cristian210600/SpaceX-Falcon9-Landing-prediction" TargetMode="External" Id="R651debad05694429" /><Relationship Type="http://schemas.openxmlformats.org/officeDocument/2006/relationships/hyperlink" Target="https://github.com/Cristian210600/SpaceX-Falcon9-Landing-prediction" TargetMode="External" Id="R688839e373ed418c" /><Relationship Type="http://schemas.openxmlformats.org/officeDocument/2006/relationships/notesSlide" Target="/ppt/notesSlides/notesSlide39.xml" Id="R298881100f6b4bf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c1d4019cc9c4367" /><Relationship Type="http://schemas.openxmlformats.org/officeDocument/2006/relationships/hyperlink" Target="https://github.com/Cristian210600/SpaceX-Falcon9-Landing-prediction" TargetMode="External" Id="Rfde73625c386421e" /><Relationship Type="http://schemas.openxmlformats.org/officeDocument/2006/relationships/notesSlide" Target="/ppt/notesSlides/notesSlide40.xml" Id="R587cf3fb725f4e2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40c11cf1fd242b7" /><Relationship Type="http://schemas.openxmlformats.org/officeDocument/2006/relationships/hyperlink" Target="https://github.com/Cristian210600/SpaceX-Falcon9-Landing-prediction" TargetMode="External" Id="R14b4ecbc8d564b6c" /><Relationship Type="http://schemas.openxmlformats.org/officeDocument/2006/relationships/hyperlink" Target="https://cf-courses-data.s3.us.cloud-object-storage.appdomain.cloud/IBM-DS0321EN-SkillsNetwork/datasets/dataset_part_2.csv" TargetMode="External" Id="Re3a0a863246246b9" /><Relationship Type="http://schemas.openxmlformats.org/officeDocument/2006/relationships/hyperlink" Target="https://scikit-learn.org/stable/common_pitfalls.html" TargetMode="External" Id="Rf24e50e8af9342ec" /><Relationship Type="http://schemas.openxmlformats.org/officeDocument/2006/relationships/hyperlink" Target="https://apod.nasa.gov/apod/ap160721.html" TargetMode="External" Id="R763a8c4c788344a2" /><Relationship Type="http://schemas.openxmlformats.org/officeDocument/2006/relationships/notesSlide" Target="/ppt/notesSlides/notesSlide41.xml" Id="R92cc624114b3480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Class 0</c:v>
          </c:tx>
          <c:spPr>
            <a:solidFill xmlns:a="http://schemas.openxmlformats.org/drawingml/2006/main">
              <a:srgbClr val="D16635"/>
            </a:solidFill>
            <ns0:ln xmlns:ns0="http://schemas.openxmlformats.org/drawingml/2006/main" w="28575">
              <ns0:noFill/>
            </ns0:ln>
          </c:spPr>
          <c:marker>
            <c:symbol val="circle"/>
            <c:size val="7"/>
            <c:spPr>
              <ns1:solidFill xmlns:ns1="http://schemas.openxmlformats.org/drawingml/2006/main">
                <ns1:srgbClr val="D16635"/>
              </ns1:solidFill>
              <ns2:ln xmlns:ns2="http://schemas.openxmlformats.org/drawingml/2006/main">
                <ns2:noFill/>
              </ns2:ln>
            </c:spPr>
          </c:marker>
          <c:xVal>
            <c:numRef>
              <c:f>'Chart Data'!$A$2:$A$31</c:f>
              <c:numCache>
                <c:formatCode>General</c:formatCode>
                <c:ptCount val="30"/>
                <c:pt idx="0">
                  <c:v>1</c:v>
                </c:pt>
                <c:pt idx="1">
                  <c:v>2</c:v>
                </c:pt>
                <c:pt idx="2">
                  <c:v>3</c:v>
                </c:pt>
                <c:pt idx="3">
                  <c:v>4</c:v>
                </c:pt>
                <c:pt idx="4">
                  <c:v>5</c:v>
                </c:pt>
                <c:pt idx="5">
                  <c:v>6</c:v>
                </c:pt>
                <c:pt idx="6">
                  <c:v>9</c:v>
                </c:pt>
                <c:pt idx="7">
                  <c:v>10</c:v>
                </c:pt>
                <c:pt idx="8">
                  <c:v>11</c:v>
                </c:pt>
                <c:pt idx="9">
                  <c:v>12</c:v>
                </c:pt>
                <c:pt idx="10">
                  <c:v>14</c:v>
                </c:pt>
                <c:pt idx="11">
                  <c:v>15</c:v>
                </c:pt>
                <c:pt idx="12">
                  <c:v>16</c:v>
                </c:pt>
                <c:pt idx="13">
                  <c:v>18</c:v>
                </c:pt>
                <c:pt idx="14">
                  <c:v>19</c:v>
                </c:pt>
                <c:pt idx="15">
                  <c:v>25</c:v>
                </c:pt>
                <c:pt idx="16">
                  <c:v>28</c:v>
                </c:pt>
                <c:pt idx="17">
                  <c:v>31</c:v>
                </c:pt>
                <c:pt idx="18">
                  <c:v>35</c:v>
                </c:pt>
                <c:pt idx="19">
                  <c:v>46</c:v>
                </c:pt>
                <c:pt idx="20">
                  <c:v>47</c:v>
                </c:pt>
                <c:pt idx="21">
                  <c:v>48</c:v>
                </c:pt>
                <c:pt idx="22">
                  <c:v>51</c:v>
                </c:pt>
                <c:pt idx="23">
                  <c:v>52</c:v>
                </c:pt>
                <c:pt idx="24">
                  <c:v>60</c:v>
                </c:pt>
                <c:pt idx="25">
                  <c:v>61</c:v>
                </c:pt>
                <c:pt idx="26">
                  <c:v>68</c:v>
                </c:pt>
                <c:pt idx="27">
                  <c:v>73</c:v>
                </c:pt>
                <c:pt idx="28">
                  <c:v>75</c:v>
                </c:pt>
                <c:pt idx="29">
                  <c:v>77</c:v>
                </c:pt>
              </c:numCache>
            </c:numRef>
          </c:xVal>
          <c:yVal>
            <c:numRef>
              <c:f>'Chart Data'!$B$2:$B$31</c:f>
              <c:numCache>
                <c:formatCode>General</c:formatCode>
                <c:ptCount val="30"/>
                <c:pt idx="0">
                  <c:v>6104.9594117647</c:v>
                </c:pt>
                <c:pt idx="1">
                  <c:v>525</c:v>
                </c:pt>
                <c:pt idx="2">
                  <c:v>677</c:v>
                </c:pt>
                <c:pt idx="3">
                  <c:v>500</c:v>
                </c:pt>
                <c:pt idx="4">
                  <c:v>3170</c:v>
                </c:pt>
                <c:pt idx="5">
                  <c:v>3325</c:v>
                </c:pt>
                <c:pt idx="6">
                  <c:v>4535</c:v>
                </c:pt>
                <c:pt idx="7">
                  <c:v>4428</c:v>
                </c:pt>
                <c:pt idx="8">
                  <c:v>2216</c:v>
                </c:pt>
                <c:pt idx="9">
                  <c:v>2395</c:v>
                </c:pt>
                <c:pt idx="10">
                  <c:v>1898</c:v>
                </c:pt>
                <c:pt idx="11">
                  <c:v>4707</c:v>
                </c:pt>
                <c:pt idx="12">
                  <c:v>2477</c:v>
                </c:pt>
                <c:pt idx="13">
                  <c:v>553</c:v>
                </c:pt>
                <c:pt idx="14">
                  <c:v>5271</c:v>
                </c:pt>
                <c:pt idx="15">
                  <c:v>5500</c:v>
                </c:pt>
                <c:pt idx="16">
                  <c:v>5600</c:v>
                </c:pt>
                <c:pt idx="17">
                  <c:v>6070</c:v>
                </c:pt>
                <c:pt idx="18">
                  <c:v>6761</c:v>
                </c:pt>
                <c:pt idx="19">
                  <c:v>6092</c:v>
                </c:pt>
                <c:pt idx="20">
                  <c:v>9600</c:v>
                </c:pt>
                <c:pt idx="21">
                  <c:v>2760</c:v>
                </c:pt>
                <c:pt idx="22">
                  <c:v>5383.85</c:v>
                </c:pt>
                <c:pt idx="23">
                  <c:v>2410</c:v>
                </c:pt>
                <c:pt idx="24">
                  <c:v>2573</c:v>
                </c:pt>
                <c:pt idx="25">
                  <c:v>4400</c:v>
                </c:pt>
                <c:pt idx="26">
                  <c:v>6500</c:v>
                </c:pt>
                <c:pt idx="27">
                  <c:v>6104.9594117647</c:v>
                </c:pt>
                <c:pt idx="28">
                  <c:v>15400</c:v>
                </c:pt>
                <c:pt idx="29">
                  <c:v>15600</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8000"/>
          <c:min val="0"/>
        </c:scaling>
        <c:delete val="0"/>
        <c:axPos val="l"/>
        <c:majorGridlines>
          <c:spPr>
            <a:ln xmlns:a="http://schemas.openxmlformats.org/drawingml/2006/main" w="9525">
              <a:solidFill>
                <a:srgbClr val="E7EEF2"/>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Payload mass (kg)</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majorUnit val="6000"/>
      </c:valAx>
      <c:valAx>
        <c:axId val="48650112"/>
        <c:scaling>
          <c:orientation val="minMax"/>
          <c:max val="95"/>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Flight number</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Class 1</c:v>
          </c:tx>
          <c:spPr>
            <a:solidFill xmlns:a="http://schemas.openxmlformats.org/drawingml/2006/main">
              <a:srgbClr val="16817A"/>
            </a:solidFill>
            <ns0:ln xmlns:ns0="http://schemas.openxmlformats.org/drawingml/2006/main" w="28575">
              <ns0:noFill/>
            </ns0:ln>
          </c:spPr>
          <c:marker>
            <c:symbol val="circle"/>
            <c:size val="7"/>
            <c:spPr>
              <ns1:solidFill xmlns:ns1="http://schemas.openxmlformats.org/drawingml/2006/main">
                <ns1:srgbClr val="16817A"/>
              </ns1:solidFill>
              <ns2:ln xmlns:ns2="http://schemas.openxmlformats.org/drawingml/2006/main">
                <ns2:noFill/>
              </ns2:ln>
            </c:spPr>
          </c:marker>
          <c:xVal>
            <c:numRef>
              <c:f>'Chart Data'!$A$2:$A$61</c:f>
              <c:numCache>
                <c:formatCode>General</c:formatCode>
                <c:ptCount val="60"/>
                <c:pt idx="0">
                  <c:v>7</c:v>
                </c:pt>
                <c:pt idx="1">
                  <c:v>8</c:v>
                </c:pt>
                <c:pt idx="2">
                  <c:v>13</c:v>
                </c:pt>
                <c:pt idx="3">
                  <c:v>17</c:v>
                </c:pt>
                <c:pt idx="4">
                  <c:v>20</c:v>
                </c:pt>
                <c:pt idx="5">
                  <c:v>21</c:v>
                </c:pt>
                <c:pt idx="6">
                  <c:v>22</c:v>
                </c:pt>
                <c:pt idx="7">
                  <c:v>23</c:v>
                </c:pt>
                <c:pt idx="8">
                  <c:v>24</c:v>
                </c:pt>
                <c:pt idx="9">
                  <c:v>26</c:v>
                </c:pt>
                <c:pt idx="10">
                  <c:v>27</c:v>
                </c:pt>
                <c:pt idx="11">
                  <c:v>29</c:v>
                </c:pt>
                <c:pt idx="12">
                  <c:v>30</c:v>
                </c:pt>
                <c:pt idx="13">
                  <c:v>32</c:v>
                </c:pt>
                <c:pt idx="14">
                  <c:v>33</c:v>
                </c:pt>
                <c:pt idx="15">
                  <c:v>34</c:v>
                </c:pt>
                <c:pt idx="16">
                  <c:v>36</c:v>
                </c:pt>
                <c:pt idx="17">
                  <c:v>37</c:v>
                </c:pt>
                <c:pt idx="18">
                  <c:v>38</c:v>
                </c:pt>
                <c:pt idx="19">
                  <c:v>39</c:v>
                </c:pt>
                <c:pt idx="20">
                  <c:v>40</c:v>
                </c:pt>
                <c:pt idx="21">
                  <c:v>41</c:v>
                </c:pt>
                <c:pt idx="22">
                  <c:v>42</c:v>
                </c:pt>
                <c:pt idx="23">
                  <c:v>43</c:v>
                </c:pt>
                <c:pt idx="24">
                  <c:v>44</c:v>
                </c:pt>
                <c:pt idx="25">
                  <c:v>45</c:v>
                </c:pt>
                <c:pt idx="26">
                  <c:v>49</c:v>
                </c:pt>
                <c:pt idx="27">
                  <c:v>50</c:v>
                </c:pt>
                <c:pt idx="28">
                  <c:v>53</c:v>
                </c:pt>
                <c:pt idx="29">
                  <c:v>54</c:v>
                </c:pt>
                <c:pt idx="30">
                  <c:v>55</c:v>
                </c:pt>
                <c:pt idx="31">
                  <c:v>56</c:v>
                </c:pt>
                <c:pt idx="32">
                  <c:v>57</c:v>
                </c:pt>
                <c:pt idx="33">
                  <c:v>58</c:v>
                </c:pt>
                <c:pt idx="34">
                  <c:v>59</c:v>
                </c:pt>
                <c:pt idx="35">
                  <c:v>62</c:v>
                </c:pt>
                <c:pt idx="36">
                  <c:v>63</c:v>
                </c:pt>
                <c:pt idx="37">
                  <c:v>64</c:v>
                </c:pt>
                <c:pt idx="38">
                  <c:v>65</c:v>
                </c:pt>
                <c:pt idx="39">
                  <c:v>66</c:v>
                </c:pt>
                <c:pt idx="40">
                  <c:v>67</c:v>
                </c:pt>
                <c:pt idx="41">
                  <c:v>69</c:v>
                </c:pt>
                <c:pt idx="42">
                  <c:v>70</c:v>
                </c:pt>
                <c:pt idx="43">
                  <c:v>71</c:v>
                </c:pt>
                <c:pt idx="44">
                  <c:v>72</c:v>
                </c:pt>
                <c:pt idx="45">
                  <c:v>74</c:v>
                </c:pt>
                <c:pt idx="46">
                  <c:v>76</c:v>
                </c:pt>
                <c:pt idx="47">
                  <c:v>78</c:v>
                </c:pt>
                <c:pt idx="48">
                  <c:v>79</c:v>
                </c:pt>
                <c:pt idx="49">
                  <c:v>80</c:v>
                </c:pt>
                <c:pt idx="50">
                  <c:v>81</c:v>
                </c:pt>
                <c:pt idx="51">
                  <c:v>82</c:v>
                </c:pt>
                <c:pt idx="52">
                  <c:v>83</c:v>
                </c:pt>
                <c:pt idx="53">
                  <c:v>84</c:v>
                </c:pt>
                <c:pt idx="54">
                  <c:v>85</c:v>
                </c:pt>
                <c:pt idx="55">
                  <c:v>86</c:v>
                </c:pt>
                <c:pt idx="56">
                  <c:v>87</c:v>
                </c:pt>
                <c:pt idx="57">
                  <c:v>88</c:v>
                </c:pt>
                <c:pt idx="58">
                  <c:v>89</c:v>
                </c:pt>
                <c:pt idx="59">
                  <c:v>90</c:v>
                </c:pt>
              </c:numCache>
            </c:numRef>
          </c:xVal>
          <c:yVal>
            <c:numRef>
              <c:f>'Chart Data'!$B$2:$B$61</c:f>
              <c:numCache>
                <c:formatCode>General</c:formatCode>
                <c:ptCount val="60"/>
                <c:pt idx="0">
                  <c:v>2296</c:v>
                </c:pt>
                <c:pt idx="1">
                  <c:v>1316</c:v>
                </c:pt>
                <c:pt idx="2">
                  <c:v>570</c:v>
                </c:pt>
                <c:pt idx="3">
                  <c:v>2034</c:v>
                </c:pt>
                <c:pt idx="4">
                  <c:v>3136</c:v>
                </c:pt>
                <c:pt idx="5">
                  <c:v>4696</c:v>
                </c:pt>
                <c:pt idx="6">
                  <c:v>3100</c:v>
                </c:pt>
                <c:pt idx="7">
                  <c:v>2257</c:v>
                </c:pt>
                <c:pt idx="8">
                  <c:v>4600</c:v>
                </c:pt>
                <c:pt idx="9">
                  <c:v>9600</c:v>
                </c:pt>
                <c:pt idx="10">
                  <c:v>2490</c:v>
                </c:pt>
                <c:pt idx="11">
                  <c:v>5300</c:v>
                </c:pt>
                <c:pt idx="12">
                  <c:v>6104.9594117647</c:v>
                </c:pt>
                <c:pt idx="13">
                  <c:v>2708</c:v>
                </c:pt>
                <c:pt idx="14">
                  <c:v>3669</c:v>
                </c:pt>
                <c:pt idx="15">
                  <c:v>9600</c:v>
                </c:pt>
                <c:pt idx="16">
                  <c:v>2910</c:v>
                </c:pt>
                <c:pt idx="17">
                  <c:v>475</c:v>
                </c:pt>
                <c:pt idx="18">
                  <c:v>4990</c:v>
                </c:pt>
                <c:pt idx="19">
                  <c:v>9600</c:v>
                </c:pt>
                <c:pt idx="20">
                  <c:v>5200</c:v>
                </c:pt>
                <c:pt idx="21">
                  <c:v>3700</c:v>
                </c:pt>
                <c:pt idx="22">
                  <c:v>2205</c:v>
                </c:pt>
                <c:pt idx="23">
                  <c:v>9600</c:v>
                </c:pt>
                <c:pt idx="24">
                  <c:v>6104.9594117647</c:v>
                </c:pt>
                <c:pt idx="25">
                  <c:v>4230</c:v>
                </c:pt>
                <c:pt idx="26">
                  <c:v>350</c:v>
                </c:pt>
                <c:pt idx="27">
                  <c:v>3750</c:v>
                </c:pt>
                <c:pt idx="28">
                  <c:v>7076</c:v>
                </c:pt>
                <c:pt idx="29">
                  <c:v>9600</c:v>
                </c:pt>
                <c:pt idx="30">
                  <c:v>5800</c:v>
                </c:pt>
                <c:pt idx="31">
                  <c:v>7060</c:v>
                </c:pt>
                <c:pt idx="32">
                  <c:v>2800</c:v>
                </c:pt>
                <c:pt idx="33">
                  <c:v>3000</c:v>
                </c:pt>
                <c:pt idx="34">
                  <c:v>4000</c:v>
                </c:pt>
                <c:pt idx="35">
                  <c:v>9600</c:v>
                </c:pt>
                <c:pt idx="36">
                  <c:v>12259</c:v>
                </c:pt>
                <c:pt idx="37">
                  <c:v>2482</c:v>
                </c:pt>
                <c:pt idx="38">
                  <c:v>13620</c:v>
                </c:pt>
                <c:pt idx="39">
                  <c:v>1425</c:v>
                </c:pt>
                <c:pt idx="40">
                  <c:v>2227.7</c:v>
                </c:pt>
                <c:pt idx="41">
                  <c:v>15600</c:v>
                </c:pt>
                <c:pt idx="42">
                  <c:v>5000</c:v>
                </c:pt>
                <c:pt idx="43">
                  <c:v>6800</c:v>
                </c:pt>
                <c:pt idx="44">
                  <c:v>15400</c:v>
                </c:pt>
                <c:pt idx="45">
                  <c:v>15600</c:v>
                </c:pt>
                <c:pt idx="46">
                  <c:v>1977</c:v>
                </c:pt>
                <c:pt idx="47">
                  <c:v>15400</c:v>
                </c:pt>
                <c:pt idx="48">
                  <c:v>9525</c:v>
                </c:pt>
                <c:pt idx="49">
                  <c:v>15400</c:v>
                </c:pt>
                <c:pt idx="50">
                  <c:v>15400</c:v>
                </c:pt>
                <c:pt idx="51">
                  <c:v>3880</c:v>
                </c:pt>
                <c:pt idx="52">
                  <c:v>6104.9594117647</c:v>
                </c:pt>
                <c:pt idx="53">
                  <c:v>15400</c:v>
                </c:pt>
                <c:pt idx="54">
                  <c:v>1600</c:v>
                </c:pt>
                <c:pt idx="55">
                  <c:v>15400</c:v>
                </c:pt>
                <c:pt idx="56">
                  <c:v>15400</c:v>
                </c:pt>
                <c:pt idx="57">
                  <c:v>15400</c:v>
                </c:pt>
                <c:pt idx="58">
                  <c:v>15400</c:v>
                </c:pt>
                <c:pt idx="59">
                  <c:v>3681</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8000"/>
          <c:min val="0"/>
        </c:scaling>
        <c:delete val="0"/>
        <c:axPos val="l"/>
        <c:majorGridlines>
          <c:spPr>
            <a:ln xmlns:a="http://schemas.openxmlformats.org/drawingml/2006/main" w="9525">
              <a:solidFill>
                <a:srgbClr val="E7EEF2"/>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Payload mass (kg)</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majorUnit val="6000"/>
      </c:valAx>
      <c:valAx>
        <c:axId val="48650112"/>
        <c:scaling>
          <c:orientation val="minMax"/>
          <c:max val="95"/>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Flight number</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marker"/>
        <c:ser>
          <c:idx val="0"/>
          <c:order val="0"/>
          <c:tx>
            <c:v>Class 0</c:v>
          </c:tx>
          <c:spPr>
            <a:solidFill xmlns:a="http://schemas.openxmlformats.org/drawingml/2006/main">
              <a:srgbClr val="D16635"/>
            </a:solidFill>
            <ns0:ln xmlns:ns0="http://schemas.openxmlformats.org/drawingml/2006/main" w="28575">
              <ns0:noFill/>
            </ns0:ln>
          </c:spPr>
          <c:marker>
            <c:symbol val="circle"/>
            <c:size val="7"/>
            <c:spPr>
              <ns1:solidFill xmlns:ns1="http://schemas.openxmlformats.org/drawingml/2006/main">
                <ns1:srgbClr val="D16635"/>
              </ns1:solidFill>
              <ns2:ln xmlns:ns2="http://schemas.openxmlformats.org/drawingml/2006/main">
                <ns2:noFill/>
              </ns2:ln>
            </c:spPr>
          </c:marker>
          <c:xVal>
            <c:numRef>
              <c:f>'Chart Data'!$A$2:$A$31</c:f>
              <c:numCache>
                <c:formatCode>General</c:formatCode>
                <c:ptCount val="30"/>
                <c:pt idx="0">
                  <c:v>1</c:v>
                </c:pt>
                <c:pt idx="1">
                  <c:v>2</c:v>
                </c:pt>
                <c:pt idx="2">
                  <c:v>3</c:v>
                </c:pt>
                <c:pt idx="3">
                  <c:v>4</c:v>
                </c:pt>
                <c:pt idx="4">
                  <c:v>5</c:v>
                </c:pt>
                <c:pt idx="5">
                  <c:v>6</c:v>
                </c:pt>
                <c:pt idx="6">
                  <c:v>9</c:v>
                </c:pt>
                <c:pt idx="7">
                  <c:v>10</c:v>
                </c:pt>
                <c:pt idx="8">
                  <c:v>11</c:v>
                </c:pt>
                <c:pt idx="9">
                  <c:v>12</c:v>
                </c:pt>
                <c:pt idx="10">
                  <c:v>14</c:v>
                </c:pt>
                <c:pt idx="11">
                  <c:v>15</c:v>
                </c:pt>
                <c:pt idx="12">
                  <c:v>16</c:v>
                </c:pt>
                <c:pt idx="13">
                  <c:v>18</c:v>
                </c:pt>
                <c:pt idx="14">
                  <c:v>19</c:v>
                </c:pt>
                <c:pt idx="15">
                  <c:v>25</c:v>
                </c:pt>
                <c:pt idx="16">
                  <c:v>28</c:v>
                </c:pt>
                <c:pt idx="17">
                  <c:v>31</c:v>
                </c:pt>
                <c:pt idx="18">
                  <c:v>35</c:v>
                </c:pt>
                <c:pt idx="19">
                  <c:v>46</c:v>
                </c:pt>
                <c:pt idx="20">
                  <c:v>47</c:v>
                </c:pt>
                <c:pt idx="21">
                  <c:v>48</c:v>
                </c:pt>
                <c:pt idx="22">
                  <c:v>51</c:v>
                </c:pt>
                <c:pt idx="23">
                  <c:v>52</c:v>
                </c:pt>
                <c:pt idx="24">
                  <c:v>60</c:v>
                </c:pt>
                <c:pt idx="25">
                  <c:v>61</c:v>
                </c:pt>
                <c:pt idx="26">
                  <c:v>68</c:v>
                </c:pt>
                <c:pt idx="27">
                  <c:v>73</c:v>
                </c:pt>
                <c:pt idx="28">
                  <c:v>75</c:v>
                </c:pt>
                <c:pt idx="29">
                  <c:v>77</c:v>
                </c:pt>
              </c:numCache>
            </c:numRef>
          </c:xVal>
          <c:yVal>
            <c:numRef>
              <c:f>'Chart Data'!$B$2:$B$31</c:f>
              <c:numCache>
                <c:formatCode>0</c:formatCode>
                <c:ptCount val="30"/>
                <c:pt idx="0">
                  <c:v>1</c:v>
                </c:pt>
                <c:pt idx="1">
                  <c:v>1</c:v>
                </c:pt>
                <c:pt idx="2">
                  <c:v>1</c:v>
                </c:pt>
                <c:pt idx="3">
                  <c:v>3</c:v>
                </c:pt>
                <c:pt idx="4">
                  <c:v>1</c:v>
                </c:pt>
                <c:pt idx="5">
                  <c:v>1</c:v>
                </c:pt>
                <c:pt idx="6">
                  <c:v>1</c:v>
                </c:pt>
                <c:pt idx="7">
                  <c:v>1</c:v>
                </c:pt>
                <c:pt idx="8">
                  <c:v>1</c:v>
                </c:pt>
                <c:pt idx="9">
                  <c:v>1</c:v>
                </c:pt>
                <c:pt idx="10">
                  <c:v>1</c:v>
                </c:pt>
                <c:pt idx="11">
                  <c:v>1</c:v>
                </c:pt>
                <c:pt idx="12">
                  <c:v>1</c:v>
                </c:pt>
                <c:pt idx="13">
                  <c:v>3</c:v>
                </c:pt>
                <c:pt idx="14">
                  <c:v>1</c:v>
                </c:pt>
                <c:pt idx="15">
                  <c:v>1</c:v>
                </c:pt>
                <c:pt idx="16">
                  <c:v>2</c:v>
                </c:pt>
                <c:pt idx="17">
                  <c:v>2</c:v>
                </c:pt>
                <c:pt idx="18">
                  <c:v>2</c:v>
                </c:pt>
                <c:pt idx="19">
                  <c:v>1</c:v>
                </c:pt>
                <c:pt idx="20">
                  <c:v>3</c:v>
                </c:pt>
                <c:pt idx="21">
                  <c:v>1</c:v>
                </c:pt>
                <c:pt idx="22">
                  <c:v>1</c:v>
                </c:pt>
                <c:pt idx="23">
                  <c:v>1</c:v>
                </c:pt>
                <c:pt idx="24">
                  <c:v>1</c:v>
                </c:pt>
                <c:pt idx="25">
                  <c:v>1</c:v>
                </c:pt>
                <c:pt idx="26">
                  <c:v>1</c:v>
                </c:pt>
                <c:pt idx="27">
                  <c:v>2</c:v>
                </c:pt>
                <c:pt idx="28">
                  <c:v>1</c:v>
                </c:pt>
                <c:pt idx="29">
                  <c:v>2</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E7EEF2"/>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Launch site code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majorUnit val="1"/>
      </c:valAx>
      <c:valAx>
        <c:axId val="48650112"/>
        <c:scaling>
          <c:orientation val="minMax"/>
          <c:max val="95"/>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Flight number</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marker"/>
        <c:ser>
          <c:idx val="0"/>
          <c:order val="0"/>
          <c:tx>
            <c:v>Class 1</c:v>
          </c:tx>
          <c:spPr>
            <a:solidFill xmlns:a="http://schemas.openxmlformats.org/drawingml/2006/main">
              <a:srgbClr val="16817A"/>
            </a:solidFill>
            <ns0:ln xmlns:ns0="http://schemas.openxmlformats.org/drawingml/2006/main" w="28575">
              <ns0:noFill/>
            </ns0:ln>
          </c:spPr>
          <c:marker>
            <c:symbol val="circle"/>
            <c:size val="7"/>
            <c:spPr>
              <ns1:solidFill xmlns:ns1="http://schemas.openxmlformats.org/drawingml/2006/main">
                <ns1:srgbClr val="16817A"/>
              </ns1:solidFill>
              <ns2:ln xmlns:ns2="http://schemas.openxmlformats.org/drawingml/2006/main">
                <ns2:noFill/>
              </ns2:ln>
            </c:spPr>
          </c:marker>
          <c:xVal>
            <c:numRef>
              <c:f>'Chart Data'!$A$2:$A$61</c:f>
              <c:numCache>
                <c:formatCode>General</c:formatCode>
                <c:ptCount val="60"/>
                <c:pt idx="0">
                  <c:v>7</c:v>
                </c:pt>
                <c:pt idx="1">
                  <c:v>8</c:v>
                </c:pt>
                <c:pt idx="2">
                  <c:v>13</c:v>
                </c:pt>
                <c:pt idx="3">
                  <c:v>17</c:v>
                </c:pt>
                <c:pt idx="4">
                  <c:v>20</c:v>
                </c:pt>
                <c:pt idx="5">
                  <c:v>21</c:v>
                </c:pt>
                <c:pt idx="6">
                  <c:v>22</c:v>
                </c:pt>
                <c:pt idx="7">
                  <c:v>23</c:v>
                </c:pt>
                <c:pt idx="8">
                  <c:v>24</c:v>
                </c:pt>
                <c:pt idx="9">
                  <c:v>26</c:v>
                </c:pt>
                <c:pt idx="10">
                  <c:v>27</c:v>
                </c:pt>
                <c:pt idx="11">
                  <c:v>29</c:v>
                </c:pt>
                <c:pt idx="12">
                  <c:v>30</c:v>
                </c:pt>
                <c:pt idx="13">
                  <c:v>32</c:v>
                </c:pt>
                <c:pt idx="14">
                  <c:v>33</c:v>
                </c:pt>
                <c:pt idx="15">
                  <c:v>34</c:v>
                </c:pt>
                <c:pt idx="16">
                  <c:v>36</c:v>
                </c:pt>
                <c:pt idx="17">
                  <c:v>37</c:v>
                </c:pt>
                <c:pt idx="18">
                  <c:v>38</c:v>
                </c:pt>
                <c:pt idx="19">
                  <c:v>39</c:v>
                </c:pt>
                <c:pt idx="20">
                  <c:v>40</c:v>
                </c:pt>
                <c:pt idx="21">
                  <c:v>41</c:v>
                </c:pt>
                <c:pt idx="22">
                  <c:v>42</c:v>
                </c:pt>
                <c:pt idx="23">
                  <c:v>43</c:v>
                </c:pt>
                <c:pt idx="24">
                  <c:v>44</c:v>
                </c:pt>
                <c:pt idx="25">
                  <c:v>45</c:v>
                </c:pt>
                <c:pt idx="26">
                  <c:v>49</c:v>
                </c:pt>
                <c:pt idx="27">
                  <c:v>50</c:v>
                </c:pt>
                <c:pt idx="28">
                  <c:v>53</c:v>
                </c:pt>
                <c:pt idx="29">
                  <c:v>54</c:v>
                </c:pt>
                <c:pt idx="30">
                  <c:v>55</c:v>
                </c:pt>
                <c:pt idx="31">
                  <c:v>56</c:v>
                </c:pt>
                <c:pt idx="32">
                  <c:v>57</c:v>
                </c:pt>
                <c:pt idx="33">
                  <c:v>58</c:v>
                </c:pt>
                <c:pt idx="34">
                  <c:v>59</c:v>
                </c:pt>
                <c:pt idx="35">
                  <c:v>62</c:v>
                </c:pt>
                <c:pt idx="36">
                  <c:v>63</c:v>
                </c:pt>
                <c:pt idx="37">
                  <c:v>64</c:v>
                </c:pt>
                <c:pt idx="38">
                  <c:v>65</c:v>
                </c:pt>
                <c:pt idx="39">
                  <c:v>66</c:v>
                </c:pt>
                <c:pt idx="40">
                  <c:v>67</c:v>
                </c:pt>
                <c:pt idx="41">
                  <c:v>69</c:v>
                </c:pt>
                <c:pt idx="42">
                  <c:v>70</c:v>
                </c:pt>
                <c:pt idx="43">
                  <c:v>71</c:v>
                </c:pt>
                <c:pt idx="44">
                  <c:v>72</c:v>
                </c:pt>
                <c:pt idx="45">
                  <c:v>74</c:v>
                </c:pt>
                <c:pt idx="46">
                  <c:v>76</c:v>
                </c:pt>
                <c:pt idx="47">
                  <c:v>78</c:v>
                </c:pt>
                <c:pt idx="48">
                  <c:v>79</c:v>
                </c:pt>
                <c:pt idx="49">
                  <c:v>80</c:v>
                </c:pt>
                <c:pt idx="50">
                  <c:v>81</c:v>
                </c:pt>
                <c:pt idx="51">
                  <c:v>82</c:v>
                </c:pt>
                <c:pt idx="52">
                  <c:v>83</c:v>
                </c:pt>
                <c:pt idx="53">
                  <c:v>84</c:v>
                </c:pt>
                <c:pt idx="54">
                  <c:v>85</c:v>
                </c:pt>
                <c:pt idx="55">
                  <c:v>86</c:v>
                </c:pt>
                <c:pt idx="56">
                  <c:v>87</c:v>
                </c:pt>
                <c:pt idx="57">
                  <c:v>88</c:v>
                </c:pt>
                <c:pt idx="58">
                  <c:v>89</c:v>
                </c:pt>
                <c:pt idx="59">
                  <c:v>90</c:v>
                </c:pt>
              </c:numCache>
            </c:numRef>
          </c:xVal>
          <c:yVal>
            <c:numRef>
              <c:f>'Chart Data'!$B$2:$B$61</c:f>
              <c:numCache>
                <c:formatCode>0</c:formatCode>
                <c:ptCount val="60"/>
                <c:pt idx="0">
                  <c:v>1</c:v>
                </c:pt>
                <c:pt idx="1">
                  <c:v>1</c:v>
                </c:pt>
                <c:pt idx="2">
                  <c:v>1</c:v>
                </c:pt>
                <c:pt idx="3">
                  <c:v>1</c:v>
                </c:pt>
                <c:pt idx="4">
                  <c:v>1</c:v>
                </c:pt>
                <c:pt idx="5">
                  <c:v>1</c:v>
                </c:pt>
                <c:pt idx="6">
                  <c:v>1</c:v>
                </c:pt>
                <c:pt idx="7">
                  <c:v>1</c:v>
                </c:pt>
                <c:pt idx="8">
                  <c:v>1</c:v>
                </c:pt>
                <c:pt idx="9">
                  <c:v>3</c:v>
                </c:pt>
                <c:pt idx="10">
                  <c:v>2</c:v>
                </c:pt>
                <c:pt idx="11">
                  <c:v>2</c:v>
                </c:pt>
                <c:pt idx="12">
                  <c:v>2</c:v>
                </c:pt>
                <c:pt idx="13">
                  <c:v>2</c:v>
                </c:pt>
                <c:pt idx="14">
                  <c:v>2</c:v>
                </c:pt>
                <c:pt idx="15">
                  <c:v>3</c:v>
                </c:pt>
                <c:pt idx="16">
                  <c:v>2</c:v>
                </c:pt>
                <c:pt idx="17">
                  <c:v>3</c:v>
                </c:pt>
                <c:pt idx="18">
                  <c:v>2</c:v>
                </c:pt>
                <c:pt idx="19">
                  <c:v>3</c:v>
                </c:pt>
                <c:pt idx="20">
                  <c:v>2</c:v>
                </c:pt>
                <c:pt idx="21">
                  <c:v>2</c:v>
                </c:pt>
                <c:pt idx="22">
                  <c:v>1</c:v>
                </c:pt>
                <c:pt idx="23">
                  <c:v>3</c:v>
                </c:pt>
                <c:pt idx="24">
                  <c:v>1</c:v>
                </c:pt>
                <c:pt idx="25">
                  <c:v>1</c:v>
                </c:pt>
                <c:pt idx="26">
                  <c:v>1</c:v>
                </c:pt>
                <c:pt idx="27">
                  <c:v>2</c:v>
                </c:pt>
                <c:pt idx="28">
                  <c:v>1</c:v>
                </c:pt>
                <c:pt idx="29">
                  <c:v>3</c:v>
                </c:pt>
                <c:pt idx="30">
                  <c:v>1</c:v>
                </c:pt>
                <c:pt idx="31">
                  <c:v>1</c:v>
                </c:pt>
                <c:pt idx="32">
                  <c:v>3</c:v>
                </c:pt>
                <c:pt idx="33">
                  <c:v>2</c:v>
                </c:pt>
                <c:pt idx="34">
                  <c:v>3</c:v>
                </c:pt>
                <c:pt idx="35">
                  <c:v>3</c:v>
                </c:pt>
                <c:pt idx="36">
                  <c:v>2</c:v>
                </c:pt>
                <c:pt idx="37">
                  <c:v>1</c:v>
                </c:pt>
                <c:pt idx="38">
                  <c:v>1</c:v>
                </c:pt>
                <c:pt idx="39">
                  <c:v>3</c:v>
                </c:pt>
                <c:pt idx="40">
                  <c:v>1</c:v>
                </c:pt>
                <c:pt idx="41">
                  <c:v>1</c:v>
                </c:pt>
                <c:pt idx="42">
                  <c:v>1</c:v>
                </c:pt>
                <c:pt idx="43">
                  <c:v>1</c:v>
                </c:pt>
                <c:pt idx="44">
                  <c:v>1</c:v>
                </c:pt>
                <c:pt idx="45">
                  <c:v>1</c:v>
                </c:pt>
                <c:pt idx="46">
                  <c:v>1</c:v>
                </c:pt>
                <c:pt idx="47">
                  <c:v>2</c:v>
                </c:pt>
                <c:pt idx="48">
                  <c:v>2</c:v>
                </c:pt>
                <c:pt idx="49">
                  <c:v>1</c:v>
                </c:pt>
                <c:pt idx="50">
                  <c:v>1</c:v>
                </c:pt>
                <c:pt idx="51">
                  <c:v>1</c:v>
                </c:pt>
                <c:pt idx="52">
                  <c:v>1</c:v>
                </c:pt>
                <c:pt idx="53">
                  <c:v>1</c:v>
                </c:pt>
                <c:pt idx="54">
                  <c:v>1</c:v>
                </c:pt>
                <c:pt idx="55">
                  <c:v>2</c:v>
                </c:pt>
                <c:pt idx="56">
                  <c:v>2</c:v>
                </c:pt>
                <c:pt idx="57">
                  <c:v>2</c:v>
                </c:pt>
                <c:pt idx="58">
                  <c:v>1</c:v>
                </c:pt>
                <c:pt idx="59">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E7EEF2"/>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Launch site code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majorUnit val="1"/>
      </c:valAx>
      <c:valAx>
        <c:axId val="48650112"/>
        <c:scaling>
          <c:orientation val="minMax"/>
          <c:max val="95"/>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Flight number</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ser>
          <c:idx val="0"/>
          <c:order val="0"/>
          <c:tx>
            <c:v>Class 0</c:v>
          </c:tx>
          <c:spPr>
            <a:solidFill xmlns:a="http://schemas.openxmlformats.org/drawingml/2006/main">
              <a:srgbClr val="D16635"/>
            </a:solidFill>
            <ns0:ln xmlns:ns0="http://schemas.openxmlformats.org/drawingml/2006/main" w="28575">
              <ns0:noFill/>
            </ns0:ln>
          </c:spPr>
          <c:marker>
            <c:symbol val="circle"/>
            <c:size val="7"/>
            <c:spPr>
              <ns1:solidFill xmlns:ns1="http://schemas.openxmlformats.org/drawingml/2006/main">
                <ns1:srgbClr val="D16635"/>
              </ns1:solidFill>
              <ns2:ln xmlns:ns2="http://schemas.openxmlformats.org/drawingml/2006/main">
                <ns2:noFill/>
              </ns2:ln>
            </c:spPr>
          </c:marker>
          <c:xVal>
            <c:numRef>
              <c:f>'Chart Data'!$A$2:$A$31</c:f>
              <c:numCache>
                <c:formatCode>General</c:formatCode>
                <c:ptCount val="30"/>
                <c:pt idx="0">
                  <c:v>6104.9594117647</c:v>
                </c:pt>
                <c:pt idx="1">
                  <c:v>525</c:v>
                </c:pt>
                <c:pt idx="2">
                  <c:v>677</c:v>
                </c:pt>
                <c:pt idx="3">
                  <c:v>500</c:v>
                </c:pt>
                <c:pt idx="4">
                  <c:v>3170</c:v>
                </c:pt>
                <c:pt idx="5">
                  <c:v>3325</c:v>
                </c:pt>
                <c:pt idx="6">
                  <c:v>4535</c:v>
                </c:pt>
                <c:pt idx="7">
                  <c:v>4428</c:v>
                </c:pt>
                <c:pt idx="8">
                  <c:v>2216</c:v>
                </c:pt>
                <c:pt idx="9">
                  <c:v>2395</c:v>
                </c:pt>
                <c:pt idx="10">
                  <c:v>1898</c:v>
                </c:pt>
                <c:pt idx="11">
                  <c:v>4707</c:v>
                </c:pt>
                <c:pt idx="12">
                  <c:v>2477</c:v>
                </c:pt>
                <c:pt idx="13">
                  <c:v>553</c:v>
                </c:pt>
                <c:pt idx="14">
                  <c:v>5271</c:v>
                </c:pt>
                <c:pt idx="15">
                  <c:v>5500</c:v>
                </c:pt>
                <c:pt idx="16">
                  <c:v>5600</c:v>
                </c:pt>
                <c:pt idx="17">
                  <c:v>6070</c:v>
                </c:pt>
                <c:pt idx="18">
                  <c:v>6761</c:v>
                </c:pt>
                <c:pt idx="19">
                  <c:v>6092</c:v>
                </c:pt>
                <c:pt idx="20">
                  <c:v>9600</c:v>
                </c:pt>
                <c:pt idx="21">
                  <c:v>2760</c:v>
                </c:pt>
                <c:pt idx="22">
                  <c:v>5383.85</c:v>
                </c:pt>
                <c:pt idx="23">
                  <c:v>2410</c:v>
                </c:pt>
                <c:pt idx="24">
                  <c:v>2573</c:v>
                </c:pt>
                <c:pt idx="25">
                  <c:v>4400</c:v>
                </c:pt>
                <c:pt idx="26">
                  <c:v>6500</c:v>
                </c:pt>
                <c:pt idx="27">
                  <c:v>6104.9594117647</c:v>
                </c:pt>
                <c:pt idx="28">
                  <c:v>15400</c:v>
                </c:pt>
                <c:pt idx="29">
                  <c:v>15600</c:v>
                </c:pt>
              </c:numCache>
            </c:numRef>
          </c:xVal>
          <c:yVal>
            <c:numRef>
              <c:f>'Chart Data'!$B$2:$B$31</c:f>
              <c:numCache>
                <c:formatCode>0</c:formatCode>
                <c:ptCount val="30"/>
                <c:pt idx="0">
                  <c:v>1</c:v>
                </c:pt>
                <c:pt idx="1">
                  <c:v>1</c:v>
                </c:pt>
                <c:pt idx="2">
                  <c:v>1</c:v>
                </c:pt>
                <c:pt idx="3">
                  <c:v>3</c:v>
                </c:pt>
                <c:pt idx="4">
                  <c:v>1</c:v>
                </c:pt>
                <c:pt idx="5">
                  <c:v>1</c:v>
                </c:pt>
                <c:pt idx="6">
                  <c:v>1</c:v>
                </c:pt>
                <c:pt idx="7">
                  <c:v>1</c:v>
                </c:pt>
                <c:pt idx="8">
                  <c:v>1</c:v>
                </c:pt>
                <c:pt idx="9">
                  <c:v>1</c:v>
                </c:pt>
                <c:pt idx="10">
                  <c:v>1</c:v>
                </c:pt>
                <c:pt idx="11">
                  <c:v>1</c:v>
                </c:pt>
                <c:pt idx="12">
                  <c:v>1</c:v>
                </c:pt>
                <c:pt idx="13">
                  <c:v>3</c:v>
                </c:pt>
                <c:pt idx="14">
                  <c:v>1</c:v>
                </c:pt>
                <c:pt idx="15">
                  <c:v>1</c:v>
                </c:pt>
                <c:pt idx="16">
                  <c:v>2</c:v>
                </c:pt>
                <c:pt idx="17">
                  <c:v>2</c:v>
                </c:pt>
                <c:pt idx="18">
                  <c:v>2</c:v>
                </c:pt>
                <c:pt idx="19">
                  <c:v>1</c:v>
                </c:pt>
                <c:pt idx="20">
                  <c:v>3</c:v>
                </c:pt>
                <c:pt idx="21">
                  <c:v>1</c:v>
                </c:pt>
                <c:pt idx="22">
                  <c:v>1</c:v>
                </c:pt>
                <c:pt idx="23">
                  <c:v>1</c:v>
                </c:pt>
                <c:pt idx="24">
                  <c:v>1</c:v>
                </c:pt>
                <c:pt idx="25">
                  <c:v>1</c:v>
                </c:pt>
                <c:pt idx="26">
                  <c:v>1</c:v>
                </c:pt>
                <c:pt idx="27">
                  <c:v>2</c:v>
                </c:pt>
                <c:pt idx="28">
                  <c:v>1</c:v>
                </c:pt>
                <c:pt idx="29">
                  <c:v>2</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E7EEF2"/>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Launch site code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majorUnit val="1"/>
      </c:valAx>
      <c:valAx>
        <c:axId val="48650112"/>
        <c:scaling>
          <c:orientation val="minMax"/>
          <c:max val="18000"/>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Payload mass (kg)</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majorUnit val="60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marker"/>
        <c:ser>
          <c:idx val="0"/>
          <c:order val="0"/>
          <c:tx>
            <c:v>Class 1</c:v>
          </c:tx>
          <c:spPr>
            <a:solidFill xmlns:a="http://schemas.openxmlformats.org/drawingml/2006/main">
              <a:srgbClr val="16817A"/>
            </a:solidFill>
            <ns0:ln xmlns:ns0="http://schemas.openxmlformats.org/drawingml/2006/main" w="28575">
              <ns0:noFill/>
            </ns0:ln>
          </c:spPr>
          <c:marker>
            <c:symbol val="circle"/>
            <c:size val="7"/>
            <c:spPr>
              <ns1:solidFill xmlns:ns1="http://schemas.openxmlformats.org/drawingml/2006/main">
                <ns1:srgbClr val="16817A"/>
              </ns1:solidFill>
              <ns2:ln xmlns:ns2="http://schemas.openxmlformats.org/drawingml/2006/main">
                <ns2:noFill/>
              </ns2:ln>
            </c:spPr>
          </c:marker>
          <c:xVal>
            <c:numRef>
              <c:f>'Chart Data'!$A$2:$A$61</c:f>
              <c:numCache>
                <c:formatCode>General</c:formatCode>
                <c:ptCount val="60"/>
                <c:pt idx="0">
                  <c:v>2296</c:v>
                </c:pt>
                <c:pt idx="1">
                  <c:v>1316</c:v>
                </c:pt>
                <c:pt idx="2">
                  <c:v>570</c:v>
                </c:pt>
                <c:pt idx="3">
                  <c:v>2034</c:v>
                </c:pt>
                <c:pt idx="4">
                  <c:v>3136</c:v>
                </c:pt>
                <c:pt idx="5">
                  <c:v>4696</c:v>
                </c:pt>
                <c:pt idx="6">
                  <c:v>3100</c:v>
                </c:pt>
                <c:pt idx="7">
                  <c:v>2257</c:v>
                </c:pt>
                <c:pt idx="8">
                  <c:v>4600</c:v>
                </c:pt>
                <c:pt idx="9">
                  <c:v>9600</c:v>
                </c:pt>
                <c:pt idx="10">
                  <c:v>2490</c:v>
                </c:pt>
                <c:pt idx="11">
                  <c:v>5300</c:v>
                </c:pt>
                <c:pt idx="12">
                  <c:v>6104.9594117647</c:v>
                </c:pt>
                <c:pt idx="13">
                  <c:v>2708</c:v>
                </c:pt>
                <c:pt idx="14">
                  <c:v>3669</c:v>
                </c:pt>
                <c:pt idx="15">
                  <c:v>9600</c:v>
                </c:pt>
                <c:pt idx="16">
                  <c:v>2910</c:v>
                </c:pt>
                <c:pt idx="17">
                  <c:v>475</c:v>
                </c:pt>
                <c:pt idx="18">
                  <c:v>4990</c:v>
                </c:pt>
                <c:pt idx="19">
                  <c:v>9600</c:v>
                </c:pt>
                <c:pt idx="20">
                  <c:v>5200</c:v>
                </c:pt>
                <c:pt idx="21">
                  <c:v>3700</c:v>
                </c:pt>
                <c:pt idx="22">
                  <c:v>2205</c:v>
                </c:pt>
                <c:pt idx="23">
                  <c:v>9600</c:v>
                </c:pt>
                <c:pt idx="24">
                  <c:v>6104.9594117647</c:v>
                </c:pt>
                <c:pt idx="25">
                  <c:v>4230</c:v>
                </c:pt>
                <c:pt idx="26">
                  <c:v>350</c:v>
                </c:pt>
                <c:pt idx="27">
                  <c:v>3750</c:v>
                </c:pt>
                <c:pt idx="28">
                  <c:v>7076</c:v>
                </c:pt>
                <c:pt idx="29">
                  <c:v>9600</c:v>
                </c:pt>
                <c:pt idx="30">
                  <c:v>5800</c:v>
                </c:pt>
                <c:pt idx="31">
                  <c:v>7060</c:v>
                </c:pt>
                <c:pt idx="32">
                  <c:v>2800</c:v>
                </c:pt>
                <c:pt idx="33">
                  <c:v>3000</c:v>
                </c:pt>
                <c:pt idx="34">
                  <c:v>4000</c:v>
                </c:pt>
                <c:pt idx="35">
                  <c:v>9600</c:v>
                </c:pt>
                <c:pt idx="36">
                  <c:v>12259</c:v>
                </c:pt>
                <c:pt idx="37">
                  <c:v>2482</c:v>
                </c:pt>
                <c:pt idx="38">
                  <c:v>13620</c:v>
                </c:pt>
                <c:pt idx="39">
                  <c:v>1425</c:v>
                </c:pt>
                <c:pt idx="40">
                  <c:v>2227.7</c:v>
                </c:pt>
                <c:pt idx="41">
                  <c:v>15600</c:v>
                </c:pt>
                <c:pt idx="42">
                  <c:v>5000</c:v>
                </c:pt>
                <c:pt idx="43">
                  <c:v>6800</c:v>
                </c:pt>
                <c:pt idx="44">
                  <c:v>15400</c:v>
                </c:pt>
                <c:pt idx="45">
                  <c:v>15600</c:v>
                </c:pt>
                <c:pt idx="46">
                  <c:v>1977</c:v>
                </c:pt>
                <c:pt idx="47">
                  <c:v>15400</c:v>
                </c:pt>
                <c:pt idx="48">
                  <c:v>9525</c:v>
                </c:pt>
                <c:pt idx="49">
                  <c:v>15400</c:v>
                </c:pt>
                <c:pt idx="50">
                  <c:v>15400</c:v>
                </c:pt>
                <c:pt idx="51">
                  <c:v>3880</c:v>
                </c:pt>
                <c:pt idx="52">
                  <c:v>6104.9594117647</c:v>
                </c:pt>
                <c:pt idx="53">
                  <c:v>15400</c:v>
                </c:pt>
                <c:pt idx="54">
                  <c:v>1600</c:v>
                </c:pt>
                <c:pt idx="55">
                  <c:v>15400</c:v>
                </c:pt>
                <c:pt idx="56">
                  <c:v>15400</c:v>
                </c:pt>
                <c:pt idx="57">
                  <c:v>15400</c:v>
                </c:pt>
                <c:pt idx="58">
                  <c:v>15400</c:v>
                </c:pt>
                <c:pt idx="59">
                  <c:v>3681</c:v>
                </c:pt>
              </c:numCache>
            </c:numRef>
          </c:xVal>
          <c:yVal>
            <c:numRef>
              <c:f>'Chart Data'!$B$2:$B$61</c:f>
              <c:numCache>
                <c:formatCode>0</c:formatCode>
                <c:ptCount val="60"/>
                <c:pt idx="0">
                  <c:v>1</c:v>
                </c:pt>
                <c:pt idx="1">
                  <c:v>1</c:v>
                </c:pt>
                <c:pt idx="2">
                  <c:v>1</c:v>
                </c:pt>
                <c:pt idx="3">
                  <c:v>1</c:v>
                </c:pt>
                <c:pt idx="4">
                  <c:v>1</c:v>
                </c:pt>
                <c:pt idx="5">
                  <c:v>1</c:v>
                </c:pt>
                <c:pt idx="6">
                  <c:v>1</c:v>
                </c:pt>
                <c:pt idx="7">
                  <c:v>1</c:v>
                </c:pt>
                <c:pt idx="8">
                  <c:v>1</c:v>
                </c:pt>
                <c:pt idx="9">
                  <c:v>3</c:v>
                </c:pt>
                <c:pt idx="10">
                  <c:v>2</c:v>
                </c:pt>
                <c:pt idx="11">
                  <c:v>2</c:v>
                </c:pt>
                <c:pt idx="12">
                  <c:v>2</c:v>
                </c:pt>
                <c:pt idx="13">
                  <c:v>2</c:v>
                </c:pt>
                <c:pt idx="14">
                  <c:v>2</c:v>
                </c:pt>
                <c:pt idx="15">
                  <c:v>3</c:v>
                </c:pt>
                <c:pt idx="16">
                  <c:v>2</c:v>
                </c:pt>
                <c:pt idx="17">
                  <c:v>3</c:v>
                </c:pt>
                <c:pt idx="18">
                  <c:v>2</c:v>
                </c:pt>
                <c:pt idx="19">
                  <c:v>3</c:v>
                </c:pt>
                <c:pt idx="20">
                  <c:v>2</c:v>
                </c:pt>
                <c:pt idx="21">
                  <c:v>2</c:v>
                </c:pt>
                <c:pt idx="22">
                  <c:v>1</c:v>
                </c:pt>
                <c:pt idx="23">
                  <c:v>3</c:v>
                </c:pt>
                <c:pt idx="24">
                  <c:v>1</c:v>
                </c:pt>
                <c:pt idx="25">
                  <c:v>1</c:v>
                </c:pt>
                <c:pt idx="26">
                  <c:v>1</c:v>
                </c:pt>
                <c:pt idx="27">
                  <c:v>2</c:v>
                </c:pt>
                <c:pt idx="28">
                  <c:v>1</c:v>
                </c:pt>
                <c:pt idx="29">
                  <c:v>3</c:v>
                </c:pt>
                <c:pt idx="30">
                  <c:v>1</c:v>
                </c:pt>
                <c:pt idx="31">
                  <c:v>1</c:v>
                </c:pt>
                <c:pt idx="32">
                  <c:v>3</c:v>
                </c:pt>
                <c:pt idx="33">
                  <c:v>2</c:v>
                </c:pt>
                <c:pt idx="34">
                  <c:v>3</c:v>
                </c:pt>
                <c:pt idx="35">
                  <c:v>3</c:v>
                </c:pt>
                <c:pt idx="36">
                  <c:v>2</c:v>
                </c:pt>
                <c:pt idx="37">
                  <c:v>1</c:v>
                </c:pt>
                <c:pt idx="38">
                  <c:v>1</c:v>
                </c:pt>
                <c:pt idx="39">
                  <c:v>3</c:v>
                </c:pt>
                <c:pt idx="40">
                  <c:v>1</c:v>
                </c:pt>
                <c:pt idx="41">
                  <c:v>1</c:v>
                </c:pt>
                <c:pt idx="42">
                  <c:v>1</c:v>
                </c:pt>
                <c:pt idx="43">
                  <c:v>1</c:v>
                </c:pt>
                <c:pt idx="44">
                  <c:v>1</c:v>
                </c:pt>
                <c:pt idx="45">
                  <c:v>1</c:v>
                </c:pt>
                <c:pt idx="46">
                  <c:v>1</c:v>
                </c:pt>
                <c:pt idx="47">
                  <c:v>2</c:v>
                </c:pt>
                <c:pt idx="48">
                  <c:v>2</c:v>
                </c:pt>
                <c:pt idx="49">
                  <c:v>1</c:v>
                </c:pt>
                <c:pt idx="50">
                  <c:v>1</c:v>
                </c:pt>
                <c:pt idx="51">
                  <c:v>1</c:v>
                </c:pt>
                <c:pt idx="52">
                  <c:v>1</c:v>
                </c:pt>
                <c:pt idx="53">
                  <c:v>1</c:v>
                </c:pt>
                <c:pt idx="54">
                  <c:v>1</c:v>
                </c:pt>
                <c:pt idx="55">
                  <c:v>2</c:v>
                </c:pt>
                <c:pt idx="56">
                  <c:v>2</c:v>
                </c:pt>
                <c:pt idx="57">
                  <c:v>2</c:v>
                </c:pt>
                <c:pt idx="58">
                  <c:v>1</c:v>
                </c:pt>
                <c:pt idx="59">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E7EEF2"/>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Launch site code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majorUnit val="1"/>
      </c:valAx>
      <c:valAx>
        <c:axId val="48650112"/>
        <c:scaling>
          <c:orientation val="minMax"/>
          <c:max val="18000"/>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Payload mass (kg)</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majorUnit val="60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marker"/>
        <c:ser>
          <c:idx val="0"/>
          <c:order val="0"/>
          <c:tx>
            <c:v>Class 0</c:v>
          </c:tx>
          <c:spPr>
            <a:solidFill xmlns:a="http://schemas.openxmlformats.org/drawingml/2006/main">
              <a:srgbClr val="D16635"/>
            </a:solidFill>
            <ns0:ln xmlns:ns0="http://schemas.openxmlformats.org/drawingml/2006/main" w="28575">
              <ns0:noFill/>
            </ns0:ln>
          </c:spPr>
          <c:marker>
            <c:symbol val="circle"/>
            <c:size val="6"/>
            <c:spPr>
              <ns1:solidFill xmlns:ns1="http://schemas.openxmlformats.org/drawingml/2006/main">
                <ns1:srgbClr val="D16635"/>
              </ns1:solidFill>
              <ns2:ln xmlns:ns2="http://schemas.openxmlformats.org/drawingml/2006/main">
                <ns2:noFill/>
              </ns2:ln>
            </c:spPr>
          </c:marker>
          <c:xVal>
            <c:numRef>
              <c:f>'Chart Data'!$A$2:$A$31</c:f>
              <c:numCache>
                <c:formatCode>General</c:formatCode>
                <c:ptCount val="30"/>
                <c:pt idx="0">
                  <c:v>1</c:v>
                </c:pt>
                <c:pt idx="1">
                  <c:v>2</c:v>
                </c:pt>
                <c:pt idx="2">
                  <c:v>3</c:v>
                </c:pt>
                <c:pt idx="3">
                  <c:v>4</c:v>
                </c:pt>
                <c:pt idx="4">
                  <c:v>5</c:v>
                </c:pt>
                <c:pt idx="5">
                  <c:v>6</c:v>
                </c:pt>
                <c:pt idx="6">
                  <c:v>9</c:v>
                </c:pt>
                <c:pt idx="7">
                  <c:v>10</c:v>
                </c:pt>
                <c:pt idx="8">
                  <c:v>11</c:v>
                </c:pt>
                <c:pt idx="9">
                  <c:v>12</c:v>
                </c:pt>
                <c:pt idx="10">
                  <c:v>14</c:v>
                </c:pt>
                <c:pt idx="11">
                  <c:v>15</c:v>
                </c:pt>
                <c:pt idx="12">
                  <c:v>16</c:v>
                </c:pt>
                <c:pt idx="13">
                  <c:v>18</c:v>
                </c:pt>
                <c:pt idx="14">
                  <c:v>19</c:v>
                </c:pt>
                <c:pt idx="15">
                  <c:v>25</c:v>
                </c:pt>
                <c:pt idx="16">
                  <c:v>28</c:v>
                </c:pt>
                <c:pt idx="17">
                  <c:v>31</c:v>
                </c:pt>
                <c:pt idx="18">
                  <c:v>35</c:v>
                </c:pt>
                <c:pt idx="19">
                  <c:v>46</c:v>
                </c:pt>
                <c:pt idx="20">
                  <c:v>47</c:v>
                </c:pt>
                <c:pt idx="21">
                  <c:v>48</c:v>
                </c:pt>
                <c:pt idx="22">
                  <c:v>51</c:v>
                </c:pt>
                <c:pt idx="23">
                  <c:v>52</c:v>
                </c:pt>
                <c:pt idx="24">
                  <c:v>60</c:v>
                </c:pt>
                <c:pt idx="25">
                  <c:v>61</c:v>
                </c:pt>
                <c:pt idx="26">
                  <c:v>68</c:v>
                </c:pt>
                <c:pt idx="27">
                  <c:v>73</c:v>
                </c:pt>
                <c:pt idx="28">
                  <c:v>75</c:v>
                </c:pt>
                <c:pt idx="29">
                  <c:v>77</c:v>
                </c:pt>
              </c:numCache>
            </c:numRef>
          </c:xVal>
          <c:yVal>
            <c:numRef>
              <c:f>'Chart Data'!$B$2:$B$31</c:f>
              <c:numCache>
                <c:formatCode>0</c:formatCode>
                <c:ptCount val="30"/>
                <c:pt idx="0">
                  <c:v>6</c:v>
                </c:pt>
                <c:pt idx="1">
                  <c:v>6</c:v>
                </c:pt>
                <c:pt idx="2">
                  <c:v>5</c:v>
                </c:pt>
                <c:pt idx="3">
                  <c:v>8</c:v>
                </c:pt>
                <c:pt idx="4">
                  <c:v>3</c:v>
                </c:pt>
                <c:pt idx="5">
                  <c:v>3</c:v>
                </c:pt>
                <c:pt idx="6">
                  <c:v>3</c:v>
                </c:pt>
                <c:pt idx="7">
                  <c:v>3</c:v>
                </c:pt>
                <c:pt idx="8">
                  <c:v>5</c:v>
                </c:pt>
                <c:pt idx="9">
                  <c:v>5</c:v>
                </c:pt>
                <c:pt idx="10">
                  <c:v>5</c:v>
                </c:pt>
                <c:pt idx="11">
                  <c:v>3</c:v>
                </c:pt>
                <c:pt idx="12">
                  <c:v>5</c:v>
                </c:pt>
                <c:pt idx="13">
                  <c:v>8</c:v>
                </c:pt>
                <c:pt idx="14">
                  <c:v>3</c:v>
                </c:pt>
                <c:pt idx="15">
                  <c:v>3</c:v>
                </c:pt>
                <c:pt idx="16">
                  <c:v>3</c:v>
                </c:pt>
                <c:pt idx="17">
                  <c:v>3</c:v>
                </c:pt>
                <c:pt idx="18">
                  <c:v>3</c:v>
                </c:pt>
                <c:pt idx="19">
                  <c:v>3</c:v>
                </c:pt>
                <c:pt idx="20">
                  <c:v>8</c:v>
                </c:pt>
                <c:pt idx="21">
                  <c:v>5</c:v>
                </c:pt>
                <c:pt idx="22">
                  <c:v>3</c:v>
                </c:pt>
                <c:pt idx="23">
                  <c:v>5</c:v>
                </c:pt>
                <c:pt idx="24">
                  <c:v>5</c:v>
                </c:pt>
                <c:pt idx="25">
                  <c:v>7</c:v>
                </c:pt>
                <c:pt idx="26">
                  <c:v>3</c:v>
                </c:pt>
                <c:pt idx="27">
                  <c:v>9</c:v>
                </c:pt>
                <c:pt idx="28">
                  <c:v>11</c:v>
                </c:pt>
                <c:pt idx="29">
                  <c:v>11</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E7EEF2"/>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Orbit code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majorUnit val="2"/>
      </c:valAx>
      <c:valAx>
        <c:axId val="48650112"/>
        <c:scaling>
          <c:orientation val="minMax"/>
          <c:max val="95"/>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Flight number</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marker"/>
        <c:ser>
          <c:idx val="0"/>
          <c:order val="0"/>
          <c:tx>
            <c:v>Class 1</c:v>
          </c:tx>
          <c:spPr>
            <a:solidFill xmlns:a="http://schemas.openxmlformats.org/drawingml/2006/main">
              <a:srgbClr val="16817A"/>
            </a:solidFill>
            <ns0:ln xmlns:ns0="http://schemas.openxmlformats.org/drawingml/2006/main" w="28575">
              <ns0:noFill/>
            </ns0:ln>
          </c:spPr>
          <c:marker>
            <c:symbol val="circle"/>
            <c:size val="6"/>
            <c:spPr>
              <ns1:solidFill xmlns:ns1="http://schemas.openxmlformats.org/drawingml/2006/main">
                <ns1:srgbClr val="16817A"/>
              </ns1:solidFill>
              <ns2:ln xmlns:ns2="http://schemas.openxmlformats.org/drawingml/2006/main">
                <ns2:noFill/>
              </ns2:ln>
            </c:spPr>
          </c:marker>
          <c:xVal>
            <c:numRef>
              <c:f>'Chart Data'!$A$2:$A$61</c:f>
              <c:numCache>
                <c:formatCode>General</c:formatCode>
                <c:ptCount val="60"/>
                <c:pt idx="0">
                  <c:v>7</c:v>
                </c:pt>
                <c:pt idx="1">
                  <c:v>8</c:v>
                </c:pt>
                <c:pt idx="2">
                  <c:v>13</c:v>
                </c:pt>
                <c:pt idx="3">
                  <c:v>17</c:v>
                </c:pt>
                <c:pt idx="4">
                  <c:v>20</c:v>
                </c:pt>
                <c:pt idx="5">
                  <c:v>21</c:v>
                </c:pt>
                <c:pt idx="6">
                  <c:v>22</c:v>
                </c:pt>
                <c:pt idx="7">
                  <c:v>23</c:v>
                </c:pt>
                <c:pt idx="8">
                  <c:v>24</c:v>
                </c:pt>
                <c:pt idx="9">
                  <c:v>26</c:v>
                </c:pt>
                <c:pt idx="10">
                  <c:v>27</c:v>
                </c:pt>
                <c:pt idx="11">
                  <c:v>29</c:v>
                </c:pt>
                <c:pt idx="12">
                  <c:v>30</c:v>
                </c:pt>
                <c:pt idx="13">
                  <c:v>32</c:v>
                </c:pt>
                <c:pt idx="14">
                  <c:v>33</c:v>
                </c:pt>
                <c:pt idx="15">
                  <c:v>34</c:v>
                </c:pt>
                <c:pt idx="16">
                  <c:v>36</c:v>
                </c:pt>
                <c:pt idx="17">
                  <c:v>37</c:v>
                </c:pt>
                <c:pt idx="18">
                  <c:v>38</c:v>
                </c:pt>
                <c:pt idx="19">
                  <c:v>39</c:v>
                </c:pt>
                <c:pt idx="20">
                  <c:v>40</c:v>
                </c:pt>
                <c:pt idx="21">
                  <c:v>41</c:v>
                </c:pt>
                <c:pt idx="22">
                  <c:v>42</c:v>
                </c:pt>
                <c:pt idx="23">
                  <c:v>43</c:v>
                </c:pt>
                <c:pt idx="24">
                  <c:v>44</c:v>
                </c:pt>
                <c:pt idx="25">
                  <c:v>45</c:v>
                </c:pt>
                <c:pt idx="26">
                  <c:v>49</c:v>
                </c:pt>
                <c:pt idx="27">
                  <c:v>50</c:v>
                </c:pt>
                <c:pt idx="28">
                  <c:v>53</c:v>
                </c:pt>
                <c:pt idx="29">
                  <c:v>54</c:v>
                </c:pt>
                <c:pt idx="30">
                  <c:v>55</c:v>
                </c:pt>
                <c:pt idx="31">
                  <c:v>56</c:v>
                </c:pt>
                <c:pt idx="32">
                  <c:v>57</c:v>
                </c:pt>
                <c:pt idx="33">
                  <c:v>58</c:v>
                </c:pt>
                <c:pt idx="34">
                  <c:v>59</c:v>
                </c:pt>
                <c:pt idx="35">
                  <c:v>62</c:v>
                </c:pt>
                <c:pt idx="36">
                  <c:v>63</c:v>
                </c:pt>
                <c:pt idx="37">
                  <c:v>64</c:v>
                </c:pt>
                <c:pt idx="38">
                  <c:v>65</c:v>
                </c:pt>
                <c:pt idx="39">
                  <c:v>66</c:v>
                </c:pt>
                <c:pt idx="40">
                  <c:v>67</c:v>
                </c:pt>
                <c:pt idx="41">
                  <c:v>69</c:v>
                </c:pt>
                <c:pt idx="42">
                  <c:v>70</c:v>
                </c:pt>
                <c:pt idx="43">
                  <c:v>71</c:v>
                </c:pt>
                <c:pt idx="44">
                  <c:v>72</c:v>
                </c:pt>
                <c:pt idx="45">
                  <c:v>74</c:v>
                </c:pt>
                <c:pt idx="46">
                  <c:v>76</c:v>
                </c:pt>
                <c:pt idx="47">
                  <c:v>78</c:v>
                </c:pt>
                <c:pt idx="48">
                  <c:v>79</c:v>
                </c:pt>
                <c:pt idx="49">
                  <c:v>80</c:v>
                </c:pt>
                <c:pt idx="50">
                  <c:v>81</c:v>
                </c:pt>
                <c:pt idx="51">
                  <c:v>82</c:v>
                </c:pt>
                <c:pt idx="52">
                  <c:v>83</c:v>
                </c:pt>
                <c:pt idx="53">
                  <c:v>84</c:v>
                </c:pt>
                <c:pt idx="54">
                  <c:v>85</c:v>
                </c:pt>
                <c:pt idx="55">
                  <c:v>86</c:v>
                </c:pt>
                <c:pt idx="56">
                  <c:v>87</c:v>
                </c:pt>
                <c:pt idx="57">
                  <c:v>88</c:v>
                </c:pt>
                <c:pt idx="58">
                  <c:v>89</c:v>
                </c:pt>
                <c:pt idx="59">
                  <c:v>90</c:v>
                </c:pt>
              </c:numCache>
            </c:numRef>
          </c:xVal>
          <c:yVal>
            <c:numRef>
              <c:f>'Chart Data'!$B$2:$B$61</c:f>
              <c:numCache>
                <c:formatCode>0</c:formatCode>
                <c:ptCount val="60"/>
                <c:pt idx="0">
                  <c:v>5</c:v>
                </c:pt>
                <c:pt idx="1">
                  <c:v>6</c:v>
                </c:pt>
                <c:pt idx="2">
                  <c:v>1</c:v>
                </c:pt>
                <c:pt idx="3">
                  <c:v>6</c:v>
                </c:pt>
                <c:pt idx="4">
                  <c:v>5</c:v>
                </c:pt>
                <c:pt idx="5">
                  <c:v>3</c:v>
                </c:pt>
                <c:pt idx="6">
                  <c:v>3</c:v>
                </c:pt>
                <c:pt idx="7">
                  <c:v>5</c:v>
                </c:pt>
                <c:pt idx="8">
                  <c:v>3</c:v>
                </c:pt>
                <c:pt idx="9">
                  <c:v>8</c:v>
                </c:pt>
                <c:pt idx="10">
                  <c:v>5</c:v>
                </c:pt>
                <c:pt idx="11">
                  <c:v>3</c:v>
                </c:pt>
                <c:pt idx="12">
                  <c:v>6</c:v>
                </c:pt>
                <c:pt idx="13">
                  <c:v>5</c:v>
                </c:pt>
                <c:pt idx="14">
                  <c:v>3</c:v>
                </c:pt>
                <c:pt idx="15">
                  <c:v>8</c:v>
                </c:pt>
                <c:pt idx="16">
                  <c:v>5</c:v>
                </c:pt>
                <c:pt idx="17">
                  <c:v>10</c:v>
                </c:pt>
                <c:pt idx="18">
                  <c:v>6</c:v>
                </c:pt>
                <c:pt idx="19">
                  <c:v>8</c:v>
                </c:pt>
                <c:pt idx="20">
                  <c:v>3</c:v>
                </c:pt>
                <c:pt idx="21">
                  <c:v>3</c:v>
                </c:pt>
                <c:pt idx="22">
                  <c:v>5</c:v>
                </c:pt>
                <c:pt idx="23">
                  <c:v>8</c:v>
                </c:pt>
                <c:pt idx="24">
                  <c:v>6</c:v>
                </c:pt>
                <c:pt idx="25">
                  <c:v>3</c:v>
                </c:pt>
                <c:pt idx="26">
                  <c:v>4</c:v>
                </c:pt>
                <c:pt idx="27">
                  <c:v>3</c:v>
                </c:pt>
                <c:pt idx="28">
                  <c:v>3</c:v>
                </c:pt>
                <c:pt idx="29">
                  <c:v>8</c:v>
                </c:pt>
                <c:pt idx="30">
                  <c:v>3</c:v>
                </c:pt>
                <c:pt idx="31">
                  <c:v>3</c:v>
                </c:pt>
                <c:pt idx="32">
                  <c:v>10</c:v>
                </c:pt>
                <c:pt idx="33">
                  <c:v>3</c:v>
                </c:pt>
                <c:pt idx="34">
                  <c:v>10</c:v>
                </c:pt>
                <c:pt idx="35">
                  <c:v>8</c:v>
                </c:pt>
                <c:pt idx="36">
                  <c:v>5</c:v>
                </c:pt>
                <c:pt idx="37">
                  <c:v>5</c:v>
                </c:pt>
                <c:pt idx="38">
                  <c:v>11</c:v>
                </c:pt>
                <c:pt idx="39">
                  <c:v>10</c:v>
                </c:pt>
                <c:pt idx="40">
                  <c:v>5</c:v>
                </c:pt>
                <c:pt idx="41">
                  <c:v>11</c:v>
                </c:pt>
                <c:pt idx="42">
                  <c:v>5</c:v>
                </c:pt>
                <c:pt idx="43">
                  <c:v>3</c:v>
                </c:pt>
                <c:pt idx="44">
                  <c:v>11</c:v>
                </c:pt>
                <c:pt idx="45">
                  <c:v>11</c:v>
                </c:pt>
                <c:pt idx="46">
                  <c:v>5</c:v>
                </c:pt>
                <c:pt idx="47">
                  <c:v>11</c:v>
                </c:pt>
                <c:pt idx="48">
                  <c:v>5</c:v>
                </c:pt>
                <c:pt idx="49">
                  <c:v>11</c:v>
                </c:pt>
                <c:pt idx="50">
                  <c:v>11</c:v>
                </c:pt>
                <c:pt idx="51">
                  <c:v>7</c:v>
                </c:pt>
                <c:pt idx="52">
                  <c:v>2</c:v>
                </c:pt>
                <c:pt idx="53">
                  <c:v>11</c:v>
                </c:pt>
                <c:pt idx="54">
                  <c:v>10</c:v>
                </c:pt>
                <c:pt idx="55">
                  <c:v>11</c:v>
                </c:pt>
                <c:pt idx="56">
                  <c:v>11</c:v>
                </c:pt>
                <c:pt idx="57">
                  <c:v>11</c:v>
                </c:pt>
                <c:pt idx="58">
                  <c:v>11</c:v>
                </c:pt>
                <c:pt idx="59">
                  <c:v>7</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E7EEF2"/>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Orbit code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majorUnit val="2"/>
      </c:valAx>
      <c:valAx>
        <c:axId val="48650112"/>
        <c:scaling>
          <c:orientation val="minMax"/>
          <c:max val="95"/>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Flight number</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marker"/>
        <c:ser>
          <c:idx val="0"/>
          <c:order val="0"/>
          <c:tx>
            <c:v>Class 0</c:v>
          </c:tx>
          <c:spPr>
            <a:solidFill xmlns:a="http://schemas.openxmlformats.org/drawingml/2006/main">
              <a:srgbClr val="D16635"/>
            </a:solidFill>
            <ns0:ln xmlns:ns0="http://schemas.openxmlformats.org/drawingml/2006/main" w="28575">
              <ns0:noFill/>
            </ns0:ln>
          </c:spPr>
          <c:marker>
            <c:symbol val="circle"/>
            <c:size val="6"/>
            <c:spPr>
              <ns1:solidFill xmlns:ns1="http://schemas.openxmlformats.org/drawingml/2006/main">
                <ns1:srgbClr val="D16635"/>
              </ns1:solidFill>
              <ns2:ln xmlns:ns2="http://schemas.openxmlformats.org/drawingml/2006/main">
                <ns2:noFill/>
              </ns2:ln>
            </c:spPr>
          </c:marker>
          <c:xVal>
            <c:numRef>
              <c:f>'Chart Data'!$A$2:$A$31</c:f>
              <c:numCache>
                <c:formatCode>General</c:formatCode>
                <c:ptCount val="30"/>
                <c:pt idx="0">
                  <c:v>6104.9594117647</c:v>
                </c:pt>
                <c:pt idx="1">
                  <c:v>525</c:v>
                </c:pt>
                <c:pt idx="2">
                  <c:v>677</c:v>
                </c:pt>
                <c:pt idx="3">
                  <c:v>500</c:v>
                </c:pt>
                <c:pt idx="4">
                  <c:v>3170</c:v>
                </c:pt>
                <c:pt idx="5">
                  <c:v>3325</c:v>
                </c:pt>
                <c:pt idx="6">
                  <c:v>4535</c:v>
                </c:pt>
                <c:pt idx="7">
                  <c:v>4428</c:v>
                </c:pt>
                <c:pt idx="8">
                  <c:v>2216</c:v>
                </c:pt>
                <c:pt idx="9">
                  <c:v>2395</c:v>
                </c:pt>
                <c:pt idx="10">
                  <c:v>1898</c:v>
                </c:pt>
                <c:pt idx="11">
                  <c:v>4707</c:v>
                </c:pt>
                <c:pt idx="12">
                  <c:v>2477</c:v>
                </c:pt>
                <c:pt idx="13">
                  <c:v>553</c:v>
                </c:pt>
                <c:pt idx="14">
                  <c:v>5271</c:v>
                </c:pt>
                <c:pt idx="15">
                  <c:v>5500</c:v>
                </c:pt>
                <c:pt idx="16">
                  <c:v>5600</c:v>
                </c:pt>
                <c:pt idx="17">
                  <c:v>6070</c:v>
                </c:pt>
                <c:pt idx="18">
                  <c:v>6761</c:v>
                </c:pt>
                <c:pt idx="19">
                  <c:v>6092</c:v>
                </c:pt>
                <c:pt idx="20">
                  <c:v>9600</c:v>
                </c:pt>
                <c:pt idx="21">
                  <c:v>2760</c:v>
                </c:pt>
                <c:pt idx="22">
                  <c:v>5383.85</c:v>
                </c:pt>
                <c:pt idx="23">
                  <c:v>2410</c:v>
                </c:pt>
                <c:pt idx="24">
                  <c:v>2573</c:v>
                </c:pt>
                <c:pt idx="25">
                  <c:v>4400</c:v>
                </c:pt>
                <c:pt idx="26">
                  <c:v>6500</c:v>
                </c:pt>
                <c:pt idx="27">
                  <c:v>6104.9594117647</c:v>
                </c:pt>
                <c:pt idx="28">
                  <c:v>15400</c:v>
                </c:pt>
                <c:pt idx="29">
                  <c:v>15600</c:v>
                </c:pt>
              </c:numCache>
            </c:numRef>
          </c:xVal>
          <c:yVal>
            <c:numRef>
              <c:f>'Chart Data'!$B$2:$B$31</c:f>
              <c:numCache>
                <c:formatCode>0</c:formatCode>
                <c:ptCount val="30"/>
                <c:pt idx="0">
                  <c:v>6</c:v>
                </c:pt>
                <c:pt idx="1">
                  <c:v>6</c:v>
                </c:pt>
                <c:pt idx="2">
                  <c:v>5</c:v>
                </c:pt>
                <c:pt idx="3">
                  <c:v>8</c:v>
                </c:pt>
                <c:pt idx="4">
                  <c:v>3</c:v>
                </c:pt>
                <c:pt idx="5">
                  <c:v>3</c:v>
                </c:pt>
                <c:pt idx="6">
                  <c:v>3</c:v>
                </c:pt>
                <c:pt idx="7">
                  <c:v>3</c:v>
                </c:pt>
                <c:pt idx="8">
                  <c:v>5</c:v>
                </c:pt>
                <c:pt idx="9">
                  <c:v>5</c:v>
                </c:pt>
                <c:pt idx="10">
                  <c:v>5</c:v>
                </c:pt>
                <c:pt idx="11">
                  <c:v>3</c:v>
                </c:pt>
                <c:pt idx="12">
                  <c:v>5</c:v>
                </c:pt>
                <c:pt idx="13">
                  <c:v>8</c:v>
                </c:pt>
                <c:pt idx="14">
                  <c:v>3</c:v>
                </c:pt>
                <c:pt idx="15">
                  <c:v>3</c:v>
                </c:pt>
                <c:pt idx="16">
                  <c:v>3</c:v>
                </c:pt>
                <c:pt idx="17">
                  <c:v>3</c:v>
                </c:pt>
                <c:pt idx="18">
                  <c:v>3</c:v>
                </c:pt>
                <c:pt idx="19">
                  <c:v>3</c:v>
                </c:pt>
                <c:pt idx="20">
                  <c:v>8</c:v>
                </c:pt>
                <c:pt idx="21">
                  <c:v>5</c:v>
                </c:pt>
                <c:pt idx="22">
                  <c:v>3</c:v>
                </c:pt>
                <c:pt idx="23">
                  <c:v>5</c:v>
                </c:pt>
                <c:pt idx="24">
                  <c:v>5</c:v>
                </c:pt>
                <c:pt idx="25">
                  <c:v>7</c:v>
                </c:pt>
                <c:pt idx="26">
                  <c:v>3</c:v>
                </c:pt>
                <c:pt idx="27">
                  <c:v>9</c:v>
                </c:pt>
                <c:pt idx="28">
                  <c:v>11</c:v>
                </c:pt>
                <c:pt idx="29">
                  <c:v>11</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E7EEF2"/>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Orbit code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majorUnit val="2"/>
      </c:valAx>
      <c:valAx>
        <c:axId val="48650112"/>
        <c:scaling>
          <c:orientation val="minMax"/>
          <c:max val="18000"/>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Payload mass (kg)</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majorUnit val="60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scatterChart>
        <c:scatterStyle val="marker"/>
        <c:ser>
          <c:idx val="0"/>
          <c:order val="0"/>
          <c:tx>
            <c:v>Class 1</c:v>
          </c:tx>
          <c:spPr>
            <a:solidFill xmlns:a="http://schemas.openxmlformats.org/drawingml/2006/main">
              <a:srgbClr val="16817A"/>
            </a:solidFill>
            <ns0:ln xmlns:ns0="http://schemas.openxmlformats.org/drawingml/2006/main" w="28575">
              <ns0:noFill/>
            </ns0:ln>
          </c:spPr>
          <c:marker>
            <c:symbol val="circle"/>
            <c:size val="6"/>
            <c:spPr>
              <ns1:solidFill xmlns:ns1="http://schemas.openxmlformats.org/drawingml/2006/main">
                <ns1:srgbClr val="16817A"/>
              </ns1:solidFill>
              <ns2:ln xmlns:ns2="http://schemas.openxmlformats.org/drawingml/2006/main">
                <ns2:noFill/>
              </ns2:ln>
            </c:spPr>
          </c:marker>
          <c:xVal>
            <c:numRef>
              <c:f>'Chart Data'!$A$2:$A$61</c:f>
              <c:numCache>
                <c:formatCode>General</c:formatCode>
                <c:ptCount val="60"/>
                <c:pt idx="0">
                  <c:v>2296</c:v>
                </c:pt>
                <c:pt idx="1">
                  <c:v>1316</c:v>
                </c:pt>
                <c:pt idx="2">
                  <c:v>570</c:v>
                </c:pt>
                <c:pt idx="3">
                  <c:v>2034</c:v>
                </c:pt>
                <c:pt idx="4">
                  <c:v>3136</c:v>
                </c:pt>
                <c:pt idx="5">
                  <c:v>4696</c:v>
                </c:pt>
                <c:pt idx="6">
                  <c:v>3100</c:v>
                </c:pt>
                <c:pt idx="7">
                  <c:v>2257</c:v>
                </c:pt>
                <c:pt idx="8">
                  <c:v>4600</c:v>
                </c:pt>
                <c:pt idx="9">
                  <c:v>9600</c:v>
                </c:pt>
                <c:pt idx="10">
                  <c:v>2490</c:v>
                </c:pt>
                <c:pt idx="11">
                  <c:v>5300</c:v>
                </c:pt>
                <c:pt idx="12">
                  <c:v>6104.9594117647</c:v>
                </c:pt>
                <c:pt idx="13">
                  <c:v>2708</c:v>
                </c:pt>
                <c:pt idx="14">
                  <c:v>3669</c:v>
                </c:pt>
                <c:pt idx="15">
                  <c:v>9600</c:v>
                </c:pt>
                <c:pt idx="16">
                  <c:v>2910</c:v>
                </c:pt>
                <c:pt idx="17">
                  <c:v>475</c:v>
                </c:pt>
                <c:pt idx="18">
                  <c:v>4990</c:v>
                </c:pt>
                <c:pt idx="19">
                  <c:v>9600</c:v>
                </c:pt>
                <c:pt idx="20">
                  <c:v>5200</c:v>
                </c:pt>
                <c:pt idx="21">
                  <c:v>3700</c:v>
                </c:pt>
                <c:pt idx="22">
                  <c:v>2205</c:v>
                </c:pt>
                <c:pt idx="23">
                  <c:v>9600</c:v>
                </c:pt>
                <c:pt idx="24">
                  <c:v>6104.9594117647</c:v>
                </c:pt>
                <c:pt idx="25">
                  <c:v>4230</c:v>
                </c:pt>
                <c:pt idx="26">
                  <c:v>350</c:v>
                </c:pt>
                <c:pt idx="27">
                  <c:v>3750</c:v>
                </c:pt>
                <c:pt idx="28">
                  <c:v>7076</c:v>
                </c:pt>
                <c:pt idx="29">
                  <c:v>9600</c:v>
                </c:pt>
                <c:pt idx="30">
                  <c:v>5800</c:v>
                </c:pt>
                <c:pt idx="31">
                  <c:v>7060</c:v>
                </c:pt>
                <c:pt idx="32">
                  <c:v>2800</c:v>
                </c:pt>
                <c:pt idx="33">
                  <c:v>3000</c:v>
                </c:pt>
                <c:pt idx="34">
                  <c:v>4000</c:v>
                </c:pt>
                <c:pt idx="35">
                  <c:v>9600</c:v>
                </c:pt>
                <c:pt idx="36">
                  <c:v>12259</c:v>
                </c:pt>
                <c:pt idx="37">
                  <c:v>2482</c:v>
                </c:pt>
                <c:pt idx="38">
                  <c:v>13620</c:v>
                </c:pt>
                <c:pt idx="39">
                  <c:v>1425</c:v>
                </c:pt>
                <c:pt idx="40">
                  <c:v>2227.7</c:v>
                </c:pt>
                <c:pt idx="41">
                  <c:v>15600</c:v>
                </c:pt>
                <c:pt idx="42">
                  <c:v>5000</c:v>
                </c:pt>
                <c:pt idx="43">
                  <c:v>6800</c:v>
                </c:pt>
                <c:pt idx="44">
                  <c:v>15400</c:v>
                </c:pt>
                <c:pt idx="45">
                  <c:v>15600</c:v>
                </c:pt>
                <c:pt idx="46">
                  <c:v>1977</c:v>
                </c:pt>
                <c:pt idx="47">
                  <c:v>15400</c:v>
                </c:pt>
                <c:pt idx="48">
                  <c:v>9525</c:v>
                </c:pt>
                <c:pt idx="49">
                  <c:v>15400</c:v>
                </c:pt>
                <c:pt idx="50">
                  <c:v>15400</c:v>
                </c:pt>
                <c:pt idx="51">
                  <c:v>3880</c:v>
                </c:pt>
                <c:pt idx="52">
                  <c:v>6104.9594117647</c:v>
                </c:pt>
                <c:pt idx="53">
                  <c:v>15400</c:v>
                </c:pt>
                <c:pt idx="54">
                  <c:v>1600</c:v>
                </c:pt>
                <c:pt idx="55">
                  <c:v>15400</c:v>
                </c:pt>
                <c:pt idx="56">
                  <c:v>15400</c:v>
                </c:pt>
                <c:pt idx="57">
                  <c:v>15400</c:v>
                </c:pt>
                <c:pt idx="58">
                  <c:v>15400</c:v>
                </c:pt>
                <c:pt idx="59">
                  <c:v>3681</c:v>
                </c:pt>
              </c:numCache>
            </c:numRef>
          </c:xVal>
          <c:yVal>
            <c:numRef>
              <c:f>'Chart Data'!$B$2:$B$61</c:f>
              <c:numCache>
                <c:formatCode>0</c:formatCode>
                <c:ptCount val="60"/>
                <c:pt idx="0">
                  <c:v>5</c:v>
                </c:pt>
                <c:pt idx="1">
                  <c:v>6</c:v>
                </c:pt>
                <c:pt idx="2">
                  <c:v>1</c:v>
                </c:pt>
                <c:pt idx="3">
                  <c:v>6</c:v>
                </c:pt>
                <c:pt idx="4">
                  <c:v>5</c:v>
                </c:pt>
                <c:pt idx="5">
                  <c:v>3</c:v>
                </c:pt>
                <c:pt idx="6">
                  <c:v>3</c:v>
                </c:pt>
                <c:pt idx="7">
                  <c:v>5</c:v>
                </c:pt>
                <c:pt idx="8">
                  <c:v>3</c:v>
                </c:pt>
                <c:pt idx="9">
                  <c:v>8</c:v>
                </c:pt>
                <c:pt idx="10">
                  <c:v>5</c:v>
                </c:pt>
                <c:pt idx="11">
                  <c:v>3</c:v>
                </c:pt>
                <c:pt idx="12">
                  <c:v>6</c:v>
                </c:pt>
                <c:pt idx="13">
                  <c:v>5</c:v>
                </c:pt>
                <c:pt idx="14">
                  <c:v>3</c:v>
                </c:pt>
                <c:pt idx="15">
                  <c:v>8</c:v>
                </c:pt>
                <c:pt idx="16">
                  <c:v>5</c:v>
                </c:pt>
                <c:pt idx="17">
                  <c:v>10</c:v>
                </c:pt>
                <c:pt idx="18">
                  <c:v>6</c:v>
                </c:pt>
                <c:pt idx="19">
                  <c:v>8</c:v>
                </c:pt>
                <c:pt idx="20">
                  <c:v>3</c:v>
                </c:pt>
                <c:pt idx="21">
                  <c:v>3</c:v>
                </c:pt>
                <c:pt idx="22">
                  <c:v>5</c:v>
                </c:pt>
                <c:pt idx="23">
                  <c:v>8</c:v>
                </c:pt>
                <c:pt idx="24">
                  <c:v>6</c:v>
                </c:pt>
                <c:pt idx="25">
                  <c:v>3</c:v>
                </c:pt>
                <c:pt idx="26">
                  <c:v>4</c:v>
                </c:pt>
                <c:pt idx="27">
                  <c:v>3</c:v>
                </c:pt>
                <c:pt idx="28">
                  <c:v>3</c:v>
                </c:pt>
                <c:pt idx="29">
                  <c:v>8</c:v>
                </c:pt>
                <c:pt idx="30">
                  <c:v>3</c:v>
                </c:pt>
                <c:pt idx="31">
                  <c:v>3</c:v>
                </c:pt>
                <c:pt idx="32">
                  <c:v>10</c:v>
                </c:pt>
                <c:pt idx="33">
                  <c:v>3</c:v>
                </c:pt>
                <c:pt idx="34">
                  <c:v>10</c:v>
                </c:pt>
                <c:pt idx="35">
                  <c:v>8</c:v>
                </c:pt>
                <c:pt idx="36">
                  <c:v>5</c:v>
                </c:pt>
                <c:pt idx="37">
                  <c:v>5</c:v>
                </c:pt>
                <c:pt idx="38">
                  <c:v>11</c:v>
                </c:pt>
                <c:pt idx="39">
                  <c:v>10</c:v>
                </c:pt>
                <c:pt idx="40">
                  <c:v>5</c:v>
                </c:pt>
                <c:pt idx="41">
                  <c:v>11</c:v>
                </c:pt>
                <c:pt idx="42">
                  <c:v>5</c:v>
                </c:pt>
                <c:pt idx="43">
                  <c:v>3</c:v>
                </c:pt>
                <c:pt idx="44">
                  <c:v>11</c:v>
                </c:pt>
                <c:pt idx="45">
                  <c:v>11</c:v>
                </c:pt>
                <c:pt idx="46">
                  <c:v>5</c:v>
                </c:pt>
                <c:pt idx="47">
                  <c:v>11</c:v>
                </c:pt>
                <c:pt idx="48">
                  <c:v>5</c:v>
                </c:pt>
                <c:pt idx="49">
                  <c:v>11</c:v>
                </c:pt>
                <c:pt idx="50">
                  <c:v>11</c:v>
                </c:pt>
                <c:pt idx="51">
                  <c:v>7</c:v>
                </c:pt>
                <c:pt idx="52">
                  <c:v>2</c:v>
                </c:pt>
                <c:pt idx="53">
                  <c:v>11</c:v>
                </c:pt>
                <c:pt idx="54">
                  <c:v>10</c:v>
                </c:pt>
                <c:pt idx="55">
                  <c:v>11</c:v>
                </c:pt>
                <c:pt idx="56">
                  <c:v>11</c:v>
                </c:pt>
                <c:pt idx="57">
                  <c:v>11</c:v>
                </c:pt>
                <c:pt idx="58">
                  <c:v>11</c:v>
                </c:pt>
                <c:pt idx="59">
                  <c:v>7</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E7EEF2"/>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Orbit code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majorUnit val="2"/>
      </c:valAx>
      <c:valAx>
        <c:axId val="48650112"/>
        <c:scaling>
          <c:orientation val="minMax"/>
          <c:max val="18000"/>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Payload mass (kg)</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majorUnit val="60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Class 1 rate</c:v>
          </c:tx>
          <c:spPr>
            <a:solidFill xmlns:a="http://schemas.openxmlformats.org/drawingml/2006/main">
              <a:srgbClr val="24678A"/>
            </a:solidFill>
          </c:spPr>
          <c:cat>
            <c:strRef>
              <c:f>'Chart Data'!$A$2:$A$4</c:f>
              <c:strCache>
                <c:ptCount val="3"/>
                <c:pt idx="0">
                  <c:v>CCAFS SLC 40</c:v>
                </c:pt>
                <c:pt idx="1">
                  <c:v>KSC LC 39A</c:v>
                </c:pt>
                <c:pt idx="2">
                  <c:v>VAFB SLC 4E</c:v>
                </c:pt>
              </c:strCache>
            </c:strRef>
          </c:cat>
          <c:val>
            <c:numRef>
              <c:f>'Chart Data'!$B$2:$B$4</c:f>
              <c:numCache>
                <c:formatCode>0.0%</c:formatCode>
                <c:ptCount val="3"/>
                <c:pt idx="0">
                  <c:v>0.6</c:v>
                </c:pt>
                <c:pt idx="1">
                  <c:v>0.7727272727</c:v>
                </c:pt>
                <c:pt idx="2">
                  <c:v>0.7692307692</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12B3C"/>
                  </a:solidFill>
                  <a:latin typeface="DejaVu Sans"/>
                  <a:ea typeface="DejaVu Sans"/>
                  <a:cs typeface="DejaVu San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catAx>
      <c:valAx>
        <c:axId val="48672768"/>
        <c:scaling>
          <c:orientation val="minMax"/>
          <c:max val="1"/>
          <c:min val="0"/>
        </c:scaling>
        <c:delete val="0"/>
        <c:axPos val="l"/>
        <c:majorGridlines>
          <c:spPr>
            <a:ln xmlns:a="http://schemas.openxmlformats.org/drawingml/2006/main" w="9525">
              <a:solidFill>
                <a:srgbClr val="E7EEF2"/>
              </a:solidFill>
            </a:ln>
          </c:spPr>
        </c:majorGridlines>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Class 1 rate</c:v>
          </c:tx>
          <c:spPr>
            <a:solidFill xmlns:a="http://schemas.openxmlformats.org/drawingml/2006/main">
              <a:srgbClr val="24678A"/>
            </a:solidFill>
          </c:spPr>
          <c:cat>
            <c:strRef>
              <c:f>'Chart Data'!$A$2:$A$12</c:f>
              <c:strCache>
                <c:ptCount val="11"/>
                <c:pt idx="0">
                  <c:v>ES-L1
(n=1)</c:v>
                </c:pt>
                <c:pt idx="1">
                  <c:v>GEO
(n=1)</c:v>
                </c:pt>
                <c:pt idx="2">
                  <c:v>GTO
(n=27)</c:v>
                </c:pt>
                <c:pt idx="3">
                  <c:v>HEO
(n=1)</c:v>
                </c:pt>
                <c:pt idx="4">
                  <c:v>ISS
(n=21)</c:v>
                </c:pt>
                <c:pt idx="5">
                  <c:v>LEO
(n=7)</c:v>
                </c:pt>
                <c:pt idx="6">
                  <c:v>MEO
(n=3)</c:v>
                </c:pt>
                <c:pt idx="7">
                  <c:v>PO
(n=9)</c:v>
                </c:pt>
                <c:pt idx="8">
                  <c:v>SO
(n=1)</c:v>
                </c:pt>
                <c:pt idx="9">
                  <c:v>SSO
(n=5)</c:v>
                </c:pt>
                <c:pt idx="10">
                  <c:v>VLEO
(n=14)</c:v>
                </c:pt>
              </c:strCache>
            </c:strRef>
          </c:cat>
          <c:val>
            <c:numRef>
              <c:f>'Chart Data'!$B$2:$B$12</c:f>
              <c:numCache>
                <c:formatCode>0.0%</c:formatCode>
                <c:ptCount val="11"/>
                <c:pt idx="0">
                  <c:v>1</c:v>
                </c:pt>
                <c:pt idx="1">
                  <c:v>1</c:v>
                </c:pt>
                <c:pt idx="2">
                  <c:v>0.5185185185</c:v>
                </c:pt>
                <c:pt idx="3">
                  <c:v>1</c:v>
                </c:pt>
                <c:pt idx="4">
                  <c:v>0.619047619</c:v>
                </c:pt>
                <c:pt idx="5">
                  <c:v>0.7142857143</c:v>
                </c:pt>
                <c:pt idx="6">
                  <c:v>0.6666666667</c:v>
                </c:pt>
                <c:pt idx="7">
                  <c:v>0.6666666667</c:v>
                </c:pt>
                <c:pt idx="8">
                  <c:v>0</c:v>
                </c:pt>
                <c:pt idx="9">
                  <c:v>1</c:v>
                </c:pt>
                <c:pt idx="10">
                  <c:v>0.8571428571</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12B3C"/>
                  </a:solidFill>
                  <a:latin typeface="DejaVu Sans"/>
                  <a:ea typeface="DejaVu Sans"/>
                  <a:cs typeface="DejaVu San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catAx>
      <c:valAx>
        <c:axId val="48672768"/>
        <c:scaling>
          <c:orientation val="minMax"/>
          <c:max val="1"/>
          <c:min val="0"/>
        </c:scaling>
        <c:delete val="0"/>
        <c:axPos val="l"/>
        <c:majorGridlines>
          <c:spPr>
            <a:ln xmlns:a="http://schemas.openxmlformats.org/drawingml/2006/main" w="9525">
              <a:solidFill>
                <a:srgbClr val="E7EEF2"/>
              </a:solidFill>
            </a:ln>
          </c:spPr>
        </c:majorGridlines>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ser>
          <c:idx val="0"/>
          <c:order val="0"/>
          <c:tx>
            <c:v>Class 1 rate</c:v>
          </c:tx>
          <c:spPr>
            <a:solidFill xmlns:a="http://schemas.openxmlformats.org/drawingml/2006/main">
              <a:srgbClr val="24678A"/>
            </a:solidFill>
            <ns0:ln xmlns:ns0="http://schemas.openxmlformats.org/drawingml/2006/main" w="28575">
              <ns0:solidFill>
                <ns0:srgbClr val="24678A"/>
              </ns0:solidFill>
            </ns0:ln>
          </c:spPr>
          <c:marker>
            <c:symbol val="circle"/>
            <c:size val="7"/>
            <c:spPr>
              <ns1:solidFill xmlns:ns1="http://schemas.openxmlformats.org/drawingml/2006/main">
                <ns1:srgbClr val="24678A"/>
              </ns1:solidFill>
              <ns2:ln xmlns:ns2="http://schemas.openxmlformats.org/drawingml/2006/main">
                <ns2:noFill/>
              </ns2:ln>
            </c:spPr>
          </c:marker>
          <c:cat>
            <c:strRef>
              <c:f>'Chart Data'!$A$2:$A$11</c:f>
              <c:strCache>
                <c:ptCount val="10"/>
                <c:pt idx="0">
                  <c:v>2010
n=1</c:v>
                </c:pt>
                <c:pt idx="1">
                  <c:v>2012
n=1</c:v>
                </c:pt>
                <c:pt idx="2">
                  <c:v>2013
n=3</c:v>
                </c:pt>
                <c:pt idx="3">
                  <c:v>2014
n=6</c:v>
                </c:pt>
                <c:pt idx="4">
                  <c:v>2015
n=6</c:v>
                </c:pt>
                <c:pt idx="5">
                  <c:v>2016
n=8</c:v>
                </c:pt>
                <c:pt idx="6">
                  <c:v>2017
n=18</c:v>
                </c:pt>
                <c:pt idx="7">
                  <c:v>2018
n=18</c:v>
                </c:pt>
                <c:pt idx="8">
                  <c:v>2019
n=10</c:v>
                </c:pt>
                <c:pt idx="9">
                  <c:v>2020
n=19</c:v>
                </c:pt>
              </c:strCache>
            </c:strRef>
          </c:cat>
          <c:val>
            <c:numRef>
              <c:f>'Chart Data'!$B$2:$B$11</c:f>
              <c:numCache>
                <c:formatCode>0%</c:formatCode>
                <c:ptCount val="10"/>
                <c:pt idx="0">
                  <c:v>0</c:v>
                </c:pt>
                <c:pt idx="1">
                  <c:v>0</c:v>
                </c:pt>
                <c:pt idx="2">
                  <c:v>0</c:v>
                </c:pt>
                <c:pt idx="3">
                  <c:v>0.3333333333</c:v>
                </c:pt>
                <c:pt idx="4">
                  <c:v>0.3333333333</c:v>
                </c:pt>
                <c:pt idx="5">
                  <c:v>0.625</c:v>
                </c:pt>
                <c:pt idx="6">
                  <c:v>0.8333333333</c:v>
                </c:pt>
                <c:pt idx="7">
                  <c:v>0.6111111111</c:v>
                </c:pt>
                <c:pt idx="8">
                  <c:v>0.9</c:v>
                </c:pt>
                <c:pt idx="9">
                  <c:v>0.8421052632</c:v>
                </c:pt>
              </c:numCache>
            </c:numRef>
          </c:val>
          <c:smooth val="0"/>
        </c:ser>
        <c:dLbls>
          <c:txPr>
            <a:bodyPr xmlns:a="http://schemas.openxmlformats.org/drawingml/2006/main" anchorCtr="1"/>
            <a:lstStyle xmlns:a="http://schemas.openxmlformats.org/drawingml/2006/main"/>
            <a:p xmlns:a="http://schemas.openxmlformats.org/drawingml/2006/main">
              <a:pPr>
                <a:defRPr sz="1350">
                  <a:latin typeface="DejaVu Sans"/>
                  <a:ea typeface="DejaVu Sans"/>
                  <a:cs typeface="DejaVu San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catAx>
      <c:valAx>
        <c:axId val="48672768"/>
        <c:scaling>
          <c:orientation val="minMax"/>
          <c:max val="1"/>
          <c:min val="0"/>
        </c:scaling>
        <c:delete val="0"/>
        <c:axPos val="l"/>
        <c:majorGridlines>
          <c:spPr>
            <a:ln xmlns:a="http://schemas.openxmlformats.org/drawingml/2006/main" w="9525">
              <a:solidFill>
                <a:srgbClr val="E7EEF2"/>
              </a:solidFill>
            </a:ln>
          </c:spPr>
        </c:majorGridlines>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scatterChart>
        <c:scatterStyle val="marker"/>
        <c:ser>
          <c:idx val="0"/>
          <c:order val="0"/>
          <c:tx>
            <c:v>CCAFS LC-40</c:v>
          </c:tx>
          <c:spPr>
            <a:solidFill xmlns:a="http://schemas.openxmlformats.org/drawingml/2006/main">
              <a:srgbClr val="24678A"/>
            </a:solidFill>
            <ns0:ln xmlns:ns0="http://schemas.openxmlformats.org/drawingml/2006/main" w="28575">
              <ns0:noFill/>
            </ns0:ln>
          </c:spPr>
          <c:marker>
            <c:symbol val="circle"/>
            <c:size val="10"/>
            <c:spPr>
              <ns1:solidFill xmlns:ns1="http://schemas.openxmlformats.org/drawingml/2006/main">
                <ns1:srgbClr val="24678A"/>
              </ns1:solidFill>
              <ns2:ln xmlns:ns2="http://schemas.openxmlformats.org/drawingml/2006/main">
                <ns2:noFill/>
              </ns2:ln>
            </c:spPr>
          </c:marker>
          <c:xVal>
            <c:numRef>
              <c:f>'Chart Data'!$A$2:$A$2</c:f>
              <c:numCache>
                <c:formatCode>General</c:formatCode>
                <c:ptCount val="1"/>
                <c:pt idx="0">
                  <c:v>-80.57735648</c:v>
                </c:pt>
              </c:numCache>
            </c:numRef>
          </c:xVal>
          <c:yVal>
            <c:numRef>
              <c:f>'Chart Data'!$B$2:$B$2</c:f>
              <c:numCache>
                <c:formatCode>General</c:formatCode>
                <c:ptCount val="1"/>
                <c:pt idx="0">
                  <c:v>28.56230197</c:v>
                </c:pt>
              </c:numCache>
            </c:numRef>
          </c:yVal>
          <c:smooth val="0"/>
        </c:ser>
        <c:ser>
          <c:idx val="1"/>
          <c:order val="1"/>
          <c:tx>
            <c:v>CCAFS SLC-40</c:v>
          </c:tx>
          <c:spPr>
            <a:solidFill xmlns:a="http://schemas.openxmlformats.org/drawingml/2006/main">
              <a:srgbClr val="D16635"/>
            </a:solidFill>
            <ns3:ln xmlns:ns3="http://schemas.openxmlformats.org/drawingml/2006/main" w="28575">
              <ns3:noFill/>
            </ns3:ln>
          </c:spPr>
          <c:marker>
            <c:symbol val="circle"/>
            <c:size val="10"/>
            <c:spPr>
              <ns4:solidFill xmlns:ns4="http://schemas.openxmlformats.org/drawingml/2006/main">
                <ns4:srgbClr val="D16635"/>
              </ns4:solidFill>
              <ns5:ln xmlns:ns5="http://schemas.openxmlformats.org/drawingml/2006/main">
                <ns5:noFill/>
              </ns5:ln>
            </c:spPr>
          </c:marker>
          <c:xVal>
            <c:numRef>
              <c:f>'Chart Data'!$C$2:$C$2</c:f>
              <c:numCache>
                <c:formatCode>General</c:formatCode>
                <c:ptCount val="1"/>
                <c:pt idx="0">
                  <c:v>-80.57682003</c:v>
                </c:pt>
              </c:numCache>
            </c:numRef>
          </c:xVal>
          <c:yVal>
            <c:numRef>
              <c:f>'Chart Data'!$D$2:$D$2</c:f>
              <c:numCache>
                <c:formatCode>General</c:formatCode>
                <c:ptCount val="1"/>
                <c:pt idx="0">
                  <c:v>28.56319718</c:v>
                </c:pt>
              </c:numCache>
            </c:numRef>
          </c:yVal>
          <c:smooth val="0"/>
        </c:ser>
        <c:ser>
          <c:idx val="2"/>
          <c:order val="2"/>
          <c:tx>
            <c:v>KSC LC-39A</c:v>
          </c:tx>
          <c:spPr>
            <a:solidFill xmlns:a="http://schemas.openxmlformats.org/drawingml/2006/main">
              <a:srgbClr val="16817A"/>
            </a:solidFill>
            <ns6:ln xmlns:ns6="http://schemas.openxmlformats.org/drawingml/2006/main" w="28575">
              <ns6:noFill/>
            </ns6:ln>
          </c:spPr>
          <c:marker>
            <c:symbol val="circle"/>
            <c:size val="10"/>
            <c:spPr>
              <ns7:solidFill xmlns:ns7="http://schemas.openxmlformats.org/drawingml/2006/main">
                <ns7:srgbClr val="16817A"/>
              </ns7:solidFill>
              <ns8:ln xmlns:ns8="http://schemas.openxmlformats.org/drawingml/2006/main">
                <ns8:noFill/>
              </ns8:ln>
            </c:spPr>
          </c:marker>
          <c:xVal>
            <c:numRef>
              <c:f>'Chart Data'!$E$2:$E$2</c:f>
              <c:numCache>
                <c:formatCode>General</c:formatCode>
                <c:ptCount val="1"/>
                <c:pt idx="0">
                  <c:v>-80.64689529</c:v>
                </c:pt>
              </c:numCache>
            </c:numRef>
          </c:xVal>
          <c:yVal>
            <c:numRef>
              <c:f>'Chart Data'!$F$2:$F$2</c:f>
              <c:numCache>
                <c:formatCode>General</c:formatCode>
                <c:ptCount val="1"/>
                <c:pt idx="0">
                  <c:v>28.57325457</c:v>
                </c:pt>
              </c:numCache>
            </c:numRef>
          </c:yVal>
          <c:smooth val="0"/>
        </c:ser>
        <c:ser>
          <c:idx val="3"/>
          <c:order val="3"/>
          <c:tx>
            <c:v>VAFB SLC-4E</c:v>
          </c:tx>
          <c:spPr>
            <a:solidFill xmlns:a="http://schemas.openxmlformats.org/drawingml/2006/main">
              <a:srgbClr val="9463B5"/>
            </a:solidFill>
            <ns9:ln xmlns:ns9="http://schemas.openxmlformats.org/drawingml/2006/main" w="28575">
              <ns9:noFill/>
            </ns9:ln>
          </c:spPr>
          <c:marker>
            <c:symbol val="circle"/>
            <c:size val="10"/>
            <c:spPr>
              <ns10:solidFill xmlns:ns10="http://schemas.openxmlformats.org/drawingml/2006/main">
                <ns10:srgbClr val="9463B5"/>
              </ns10:solidFill>
              <ns11:ln xmlns:ns11="http://schemas.openxmlformats.org/drawingml/2006/main">
                <ns11:noFill/>
              </ns11:ln>
            </c:spPr>
          </c:marker>
          <c:xVal>
            <c:numRef>
              <c:f>'Chart Data'!$G$2:$G$2</c:f>
              <c:numCache>
                <c:formatCode>General</c:formatCode>
                <c:ptCount val="1"/>
                <c:pt idx="0">
                  <c:v>-120.6107455</c:v>
                </c:pt>
              </c:numCache>
            </c:numRef>
          </c:xVal>
          <c:yVal>
            <c:numRef>
              <c:f>'Chart Data'!$H$2:$H$2</c:f>
              <c:numCache>
                <c:formatCode>General</c:formatCode>
                <c:ptCount val="1"/>
                <c:pt idx="0">
                  <c:v>34.63283416</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25"/>
        </c:scaling>
        <c:delete val="0"/>
        <c:axPos val="l"/>
        <c:majorGridlines>
          <c:spPr>
            <a:ln xmlns:a="http://schemas.openxmlformats.org/drawingml/2006/main" w="9525">
              <a:solidFill>
                <a:srgbClr val="E7EEF2"/>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Latitude (° N)</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majorUnit val="5"/>
      </c:valAx>
      <c:valAx>
        <c:axId val="48650112"/>
        <c:scaling>
          <c:orientation val="minMax"/>
          <c:max val="-75"/>
          <c:min val="-125"/>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Longitude (°)</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scatterChart>
        <c:scatterStyle val="lineMarker"/>
        <c:ser>
          <c:idx val="0"/>
          <c:order val="0"/>
          <c:tx>
            <c:v>Coastline</c:v>
          </c:tx>
          <c:spPr>
            <a:solidFill xmlns:a="http://schemas.openxmlformats.org/drawingml/2006/main">
              <a:srgbClr val="24678A"/>
            </a:solidFill>
            <ns0:ln xmlns:ns0="http://schemas.openxmlformats.org/drawingml/2006/main" w="28575">
              <ns0:solidFill>
                <ns0:srgbClr val="24678A"/>
              </ns0:solidFill>
            </ns0:ln>
          </c:spPr>
          <c:marker>
            <c:symbol val="circle"/>
            <c:size val="7"/>
            <c:spPr>
              <ns1:solidFill xmlns:ns1="http://schemas.openxmlformats.org/drawingml/2006/main">
                <ns1:srgbClr val="24678A"/>
              </ns1:solidFill>
              <ns2:ln xmlns:ns2="http://schemas.openxmlformats.org/drawingml/2006/main">
                <ns2:noFill/>
              </ns2:ln>
            </c:spPr>
          </c:marker>
          <c:xVal>
            <c:numRef>
              <c:f>'Chart Data'!$A$2:$A$3</c:f>
              <c:numCache>
                <c:formatCode>General</c:formatCode>
                <c:ptCount val="2"/>
                <c:pt idx="0">
                  <c:v>-80.57682</c:v>
                </c:pt>
                <c:pt idx="1">
                  <c:v>-80.56799</c:v>
                </c:pt>
              </c:numCache>
            </c:numRef>
          </c:xVal>
          <c:yVal>
            <c:numRef>
              <c:f>'Chart Data'!$B$2:$B$3</c:f>
              <c:numCache>
                <c:formatCode>0.000</c:formatCode>
                <c:ptCount val="2"/>
                <c:pt idx="0">
                  <c:v>28.563197</c:v>
                </c:pt>
                <c:pt idx="1">
                  <c:v>28.56334</c:v>
                </c:pt>
              </c:numCache>
            </c:numRef>
          </c:yVal>
          <c:smooth val="0"/>
        </c:ser>
        <c:ser>
          <c:idx val="1"/>
          <c:order val="1"/>
          <c:tx>
            <c:v>Highway</c:v>
          </c:tx>
          <c:spPr>
            <a:solidFill xmlns:a="http://schemas.openxmlformats.org/drawingml/2006/main">
              <a:srgbClr val="D16635"/>
            </a:solidFill>
            <ns3:ln xmlns:ns3="http://schemas.openxmlformats.org/drawingml/2006/main" w="28575">
              <ns3:solidFill>
                <ns3:srgbClr val="D16635"/>
              </ns3:solidFill>
            </ns3:ln>
          </c:spPr>
          <c:marker>
            <c:symbol val="circle"/>
            <c:size val="7"/>
            <c:spPr>
              <ns4:solidFill xmlns:ns4="http://schemas.openxmlformats.org/drawingml/2006/main">
                <ns4:srgbClr val="D16635"/>
              </ns4:solidFill>
              <ns5:ln xmlns:ns5="http://schemas.openxmlformats.org/drawingml/2006/main">
                <ns5:noFill/>
              </ns5:ln>
            </c:spPr>
          </c:marker>
          <c:xVal>
            <c:numRef>
              <c:f>'Chart Data'!$C$2:$C$3</c:f>
              <c:numCache>
                <c:formatCode>General</c:formatCode>
                <c:ptCount val="2"/>
                <c:pt idx="0">
                  <c:v>-80.57682</c:v>
                </c:pt>
                <c:pt idx="1">
                  <c:v>-80.57085</c:v>
                </c:pt>
              </c:numCache>
            </c:numRef>
          </c:xVal>
          <c:yVal>
            <c:numRef>
              <c:f>'Chart Data'!$D$2:$D$3</c:f>
              <c:numCache>
                <c:formatCode>0.000</c:formatCode>
                <c:ptCount val="2"/>
                <c:pt idx="0">
                  <c:v>28.563197</c:v>
                </c:pt>
                <c:pt idx="1">
                  <c:v>28.56335</c:v>
                </c:pt>
              </c:numCache>
            </c:numRef>
          </c:yVal>
          <c:smooth val="0"/>
        </c:ser>
        <c:ser>
          <c:idx val="2"/>
          <c:order val="2"/>
          <c:tx>
            <c:v>Railway</c:v>
          </c:tx>
          <c:spPr>
            <a:solidFill xmlns:a="http://schemas.openxmlformats.org/drawingml/2006/main">
              <a:srgbClr val="16817A"/>
            </a:solidFill>
            <ns6:ln xmlns:ns6="http://schemas.openxmlformats.org/drawingml/2006/main" w="28575">
              <ns6:solidFill>
                <ns6:srgbClr val="16817A"/>
              </ns6:solidFill>
            </ns6:ln>
          </c:spPr>
          <c:marker>
            <c:symbol val="circle"/>
            <c:size val="7"/>
            <c:spPr>
              <ns7:solidFill xmlns:ns7="http://schemas.openxmlformats.org/drawingml/2006/main">
                <ns7:srgbClr val="16817A"/>
              </ns7:solidFill>
              <ns8:ln xmlns:ns8="http://schemas.openxmlformats.org/drawingml/2006/main">
                <ns8:noFill/>
              </ns8:ln>
            </c:spPr>
          </c:marker>
          <c:xVal>
            <c:numRef>
              <c:f>'Chart Data'!$E$2:$E$3</c:f>
              <c:numCache>
                <c:formatCode>General</c:formatCode>
                <c:ptCount val="2"/>
                <c:pt idx="0">
                  <c:v>-80.57682</c:v>
                </c:pt>
                <c:pt idx="1">
                  <c:v>-80.58525</c:v>
                </c:pt>
              </c:numCache>
            </c:numRef>
          </c:xVal>
          <c:yVal>
            <c:numRef>
              <c:f>'Chart Data'!$F$2:$F$3</c:f>
              <c:numCache>
                <c:formatCode>0.000</c:formatCode>
                <c:ptCount val="2"/>
                <c:pt idx="0">
                  <c:v>28.563197</c:v>
                </c:pt>
                <c:pt idx="1">
                  <c:v>28.57206</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28.574"/>
          <c:min val="28.56"/>
        </c:scaling>
        <c:delete val="0"/>
        <c:axPos val="l"/>
        <c:majorGridlines>
          <c:spPr>
            <a:ln xmlns:a="http://schemas.openxmlformats.org/drawingml/2006/main" w="9525">
              <a:solidFill>
                <a:srgbClr val="E7EEF2"/>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Latitude (° N)</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00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valAx>
      <c:valAx>
        <c:axId val="48650112"/>
        <c:scaling>
          <c:orientation val="minMax"/>
          <c:max val="-80.565"/>
          <c:min val="-80.588"/>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Longitude (°)</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00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Class 1 rate</c:v>
          </c:tx>
          <c:spPr>
            <a:solidFill xmlns:a="http://schemas.openxmlformats.org/drawingml/2006/main">
              <a:srgbClr val="24678A"/>
            </a:solidFill>
          </c:spPr>
          <c:cat>
            <c:strRef>
              <c:f>'Chart Data'!$A$2:$A$6</c:f>
              <c:strCache>
                <c:ptCount val="5"/>
                <c:pt idx="0">
                  <c:v>0–&lt;2,000
n=13</c:v>
                </c:pt>
                <c:pt idx="1">
                  <c:v>2,000–&lt;4,000
n=21</c:v>
                </c:pt>
                <c:pt idx="2">
                  <c:v>4,000–&lt;6,000
n=13</c:v>
                </c:pt>
                <c:pt idx="3">
                  <c:v>6,000–&lt;8,000
n=4</c:v>
                </c:pt>
                <c:pt idx="4">
                  <c:v>8,000–&lt;10,000
n=5</c:v>
                </c:pt>
              </c:strCache>
            </c:strRef>
          </c:cat>
          <c:val>
            <c:numRef>
              <c:f>'Chart Data'!$B$2:$B$6</c:f>
              <c:numCache>
                <c:formatCode>0.0%</c:formatCode>
                <c:ptCount val="5"/>
                <c:pt idx="0">
                  <c:v>0.2307692308</c:v>
                </c:pt>
                <c:pt idx="1">
                  <c:v>0.619047619</c:v>
                </c:pt>
                <c:pt idx="2">
                  <c:v>0.3846153846</c:v>
                </c:pt>
                <c:pt idx="3">
                  <c:v>0</c:v>
                </c:pt>
                <c:pt idx="4">
                  <c:v>0.6</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12B3C"/>
                  </a:solidFill>
                  <a:latin typeface="DejaVu Sans"/>
                  <a:ea typeface="DejaVu Sans"/>
                  <a:cs typeface="DejaVu San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catAx>
      <c:valAx>
        <c:axId val="48672768"/>
        <c:scaling>
          <c:orientation val="minMax"/>
          <c:max val="1"/>
          <c:min val="0"/>
        </c:scaling>
        <c:delete val="0"/>
        <c:axPos val="l"/>
        <c:majorGridlines>
          <c:spPr>
            <a:ln xmlns:a="http://schemas.openxmlformats.org/drawingml/2006/main" w="9525">
              <a:solidFill>
                <a:srgbClr val="E7EEF2"/>
              </a:solidFill>
            </a:ln>
          </c:spPr>
        </c:majorGridlines>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10-fold CV</c:v>
          </c:tx>
          <c:spPr>
            <a:solidFill xmlns:a="http://schemas.openxmlformats.org/drawingml/2006/main">
              <a:srgbClr val="24678A"/>
            </a:solidFill>
          </c:spPr>
          <c:cat>
            <c:strRef>
              <c:f>'Chart Data'!$A$2:$A$5</c:f>
              <c:strCache>
                <c:ptCount val="4"/>
                <c:pt idx="0">
                  <c:v>Logistic regression</c:v>
                </c:pt>
                <c:pt idx="1">
                  <c:v>SVM</c:v>
                </c:pt>
                <c:pt idx="2">
                  <c:v>Decision tree</c:v>
                </c:pt>
                <c:pt idx="3">
                  <c:v>KNN</c:v>
                </c:pt>
              </c:strCache>
            </c:strRef>
          </c:cat>
          <c:val>
            <c:numRef>
              <c:f>'Chart Data'!$B$2:$B$5</c:f>
              <c:numCache>
                <c:formatCode>0.0%</c:formatCode>
                <c:ptCount val="4"/>
                <c:pt idx="0">
                  <c:v>0.8464285714</c:v>
                </c:pt>
                <c:pt idx="1">
                  <c:v>0.8482142857</c:v>
                </c:pt>
                <c:pt idx="2">
                  <c:v>0.875</c:v>
                </c:pt>
                <c:pt idx="3">
                  <c:v>0.8482142857</c:v>
                </c:pt>
              </c:numCache>
            </c:numRef>
          </c:val>
        </c:ser>
        <c:ser>
          <c:idx val="1"/>
          <c:order val="1"/>
          <c:tx>
            <c:v>Test</c:v>
          </c:tx>
          <c:spPr>
            <a:solidFill xmlns:a="http://schemas.openxmlformats.org/drawingml/2006/main">
              <a:srgbClr val="D16635"/>
            </a:solidFill>
          </c:spPr>
          <c:cat>
            <c:strRef>
              <c:f>'Chart Data'!$C$2:$C$5</c:f>
              <c:strCache>
                <c:ptCount val="4"/>
                <c:pt idx="0">
                  <c:v>Logistic regression</c:v>
                </c:pt>
                <c:pt idx="1">
                  <c:v>SVM</c:v>
                </c:pt>
                <c:pt idx="2">
                  <c:v>Decision tree</c:v>
                </c:pt>
                <c:pt idx="3">
                  <c:v>KNN</c:v>
                </c:pt>
              </c:strCache>
            </c:strRef>
          </c:cat>
          <c:val>
            <c:numRef>
              <c:f>'Chart Data'!$D$2:$D$5</c:f>
              <c:numCache>
                <c:formatCode>0.0%</c:formatCode>
                <c:ptCount val="4"/>
                <c:pt idx="0">
                  <c:v>0.8333333333</c:v>
                </c:pt>
                <c:pt idx="1">
                  <c:v>0.8333333333</c:v>
                </c:pt>
                <c:pt idx="2">
                  <c:v>0.7777777778</c:v>
                </c:pt>
                <c:pt idx="3">
                  <c:v>0.8333333333</c:v>
                </c:pt>
              </c:numCache>
            </c:numRef>
          </c:val>
        </c:ser>
        <c:dLbls>
          <c:txPr>
            <a:bodyPr xmlns:a="http://schemas.openxmlformats.org/drawingml/2006/main" anchorCtr="1"/>
            <a:lstStyle xmlns:a="http://schemas.openxmlformats.org/drawingml/2006/main"/>
            <a:p xmlns:a="http://schemas.openxmlformats.org/drawingml/2006/main">
              <a:pPr>
                <a:defRPr sz="1350">
                  <a:latin typeface="DejaVu Sans"/>
                  <a:ea typeface="DejaVu Sans"/>
                  <a:cs typeface="DejaVu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72768"/>
      </c:catAx>
      <c:valAx>
        <c:axId val="48672768"/>
        <c:scaling>
          <c:orientation val="minMax"/>
          <c:max val="1"/>
          <c:min val="0"/>
        </c:scaling>
        <c:delete val="0"/>
        <c:axPos val="l"/>
        <c:majorGridlines>
          <c:spPr>
            <a:ln xmlns:a="http://schemas.openxmlformats.org/drawingml/2006/main" w="9525">
              <a:solidFill>
                <a:srgbClr val="E7EEF2"/>
              </a:solidFill>
            </a:ln>
          </c:spPr>
        </c:majorGridlines>
        <c:numFmt formatCode="0%"/>
        <c:majorTickMark val="none"/>
        <c:minorTickMark val="none"/>
        <c:spPr>
          <a:ln xmlns:a="http://schemas.openxmlformats.org/drawingml/2006/main" w="9525">
            <a:solidFill>
              <a:srgbClr val="E7EEF2"/>
            </a:solidFill>
          </a:ln>
        </c:spPr>
        <c:txPr>
          <a:bodyPr xmlns:a="http://schemas.openxmlformats.org/drawingml/2006/main" anchorCtr="1"/>
          <a:lstStyle xmlns:a="http://schemas.openxmlformats.org/drawingml/2006/main"/>
          <a:p xmlns:a="http://schemas.openxmlformats.org/drawingml/2006/main">
            <a:pPr>
              <a:defRPr sz="1350">
                <a:solidFill>
                  <a:srgbClr val="556774"/>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B3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4f93e05cd914226"/>
          <a:srcRect xmlns:a="http://schemas.openxmlformats.org/drawingml/2006/main" l="2503" t="0" r="2503" b="0"/>
          <a:stretch xmlns:a="http://schemas.openxmlformats.org/drawingml/2006/main">
            <a:fillRect l="0" t="0" r="0" b="0"/>
          </a:stretch>
        </p:blipFill>
        <p:spPr>
          <a:xfrm xmlns:a="http://schemas.openxmlformats.org/drawingml/2006/main">
            <a:off x="7115175" y="0"/>
            <a:ext cx="50768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D9CF098-3BA1-406B-9901-7A8D1017D6B2}"/>
              </a:ext>
            </a:extLst>
          </p:cNvPr>
          <p:cNvSpPr>
            <a:spLocks xmlns:a="http://schemas.openxmlformats.org/drawingml/2006/main" noGrp="1"/>
          </p:cNvSpPr>
          <p:nvPr/>
        </p:nvSpPr>
        <p:spPr>
          <a:xfrm xmlns:a="http://schemas.openxmlformats.org/drawingml/2006/main">
            <a:off x="552450" y="53340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8AC0DA"/>
                </a:solidFill>
                <a:latin typeface="DejaVu Sans"/>
                <a:ea typeface="DejaVu Sans"/>
                <a:cs typeface="DejaVu Sans"/>
              </a:defRPr>
            </a:pPr>
            <a:r>
              <a:rPr sz="1350" b="1">
                <a:solidFill>
                  <a:srgbClr val="8AC0DA"/>
                </a:solidFill>
                <a:latin typeface="DejaVu Sans"/>
                <a:ea typeface="DejaVu Sans"/>
                <a:cs typeface="DejaVu Sans"/>
              </a:rPr>
              <a:t>IBM APPLIED DATA SCIENCE CAPSTONE</a:t>
            </a:r>
          </a:p>
        </p:txBody>
      </p:sp>
      <p:sp>
        <p:nvSpPr>
          <p:cNvPr id="3" name="">
            <a:extLst xmlns:a="http://schemas.openxmlformats.org/drawingml/2006/main">
              <a:ext uri="{FF2B5EF4-FFF2-40B4-BE49-F238E27FC236}">
                <a16:creationId xmlns:a16="http://schemas.microsoft.com/office/drawing/2014/main" id="{13CCB865-82BB-4381-8331-7B9A9A863702}"/>
              </a:ext>
            </a:extLst>
          </p:cNvPr>
          <p:cNvSpPr>
            <a:spLocks xmlns:a="http://schemas.openxmlformats.org/drawingml/2006/main" noGrp="1"/>
          </p:cNvSpPr>
          <p:nvPr/>
        </p:nvSpPr>
        <p:spPr>
          <a:xfrm xmlns:a="http://schemas.openxmlformats.org/drawingml/2006/main">
            <a:off x="552450" y="1562100"/>
            <a:ext cx="6572250"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FFFFF"/>
                </a:solidFill>
                <a:latin typeface="DejaVu Sans"/>
                <a:ea typeface="DejaVu Sans"/>
                <a:cs typeface="DejaVu Sans"/>
              </a:defRPr>
            </a:pPr>
            <a:r>
              <a:rPr sz="4050" b="1">
                <a:solidFill>
                  <a:srgbClr val="FFFFFF"/>
                </a:solidFill>
                <a:latin typeface="DejaVu Sans"/>
                <a:ea typeface="DejaVu Sans"/>
                <a:cs typeface="DejaVu Sans"/>
              </a:rPr>
              <a:t>Falcon 9</a:t>
            </a:r>
          </a:p>
          <a:p xmlns:a="http://schemas.openxmlformats.org/drawingml/2006/main">
            <a:pPr>
              <a:defRPr sz="4050" b="1">
                <a:solidFill>
                  <a:srgbClr val="FFFFFF"/>
                </a:solidFill>
                <a:latin typeface="DejaVu Sans"/>
                <a:ea typeface="DejaVu Sans"/>
                <a:cs typeface="DejaVu Sans"/>
              </a:defRPr>
            </a:pPr>
            <a:r>
              <a:rPr sz="4050" b="1">
                <a:solidFill>
                  <a:srgbClr val="FFFFFF"/>
                </a:solidFill>
                <a:latin typeface="DejaVu Sans"/>
                <a:ea typeface="DejaVu Sans"/>
                <a:cs typeface="DejaVu Sans"/>
              </a:rPr>
              <a:t>First-stage</a:t>
            </a:r>
          </a:p>
          <a:p xmlns:a="http://schemas.openxmlformats.org/drawingml/2006/main">
            <a:pPr>
              <a:defRPr sz="4050" b="1">
                <a:solidFill>
                  <a:srgbClr val="FFFFFF"/>
                </a:solidFill>
                <a:latin typeface="DejaVu Sans"/>
                <a:ea typeface="DejaVu Sans"/>
                <a:cs typeface="DejaVu Sans"/>
              </a:defRPr>
            </a:pPr>
            <a:r>
              <a:rPr sz="4050" b="1">
                <a:solidFill>
                  <a:srgbClr val="FFFFFF"/>
                </a:solidFill>
                <a:latin typeface="DejaVu Sans"/>
                <a:ea typeface="DejaVu Sans"/>
                <a:cs typeface="DejaVu Sans"/>
              </a:rPr>
              <a:t>Landing Prediction</a:t>
            </a:r>
          </a:p>
        </p:txBody>
      </p:sp>
      <p:sp>
        <p:nvSpPr>
          <p:cNvPr id="4" name="">
            <a:extLst xmlns:a="http://schemas.openxmlformats.org/drawingml/2006/main">
              <a:ext uri="{FF2B5EF4-FFF2-40B4-BE49-F238E27FC236}">
                <a16:creationId xmlns:a16="http://schemas.microsoft.com/office/drawing/2014/main" id="{3ACA474D-A703-4F61-8F91-AB17FE2BB1D6}"/>
              </a:ext>
            </a:extLst>
          </p:cNvPr>
          <p:cNvSpPr>
            <a:spLocks xmlns:a="http://schemas.openxmlformats.org/drawingml/2006/main" noGrp="1"/>
          </p:cNvSpPr>
          <p:nvPr/>
        </p:nvSpPr>
        <p:spPr>
          <a:xfrm xmlns:a="http://schemas.openxmlformats.org/drawingml/2006/main">
            <a:off x="571500" y="4429125"/>
            <a:ext cx="6334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D8E5ED"/>
                </a:solidFill>
                <a:latin typeface="DejaVu Sans"/>
                <a:ea typeface="DejaVu Sans"/>
                <a:cs typeface="DejaVu Sans"/>
              </a:defRPr>
            </a:pPr>
            <a:r>
              <a:rPr sz="2025" b="0">
                <a:solidFill>
                  <a:srgbClr val="D8E5ED"/>
                </a:solidFill>
                <a:latin typeface="DejaVu Sans"/>
                <a:ea typeface="DejaVu Sans"/>
                <a:cs typeface="DejaVu Sans"/>
              </a:rPr>
              <a:t>From launch records to geographic insights</a:t>
            </a:r>
          </a:p>
          <a:p xmlns:a="http://schemas.openxmlformats.org/drawingml/2006/main">
            <a:pPr>
              <a:defRPr sz="2025" b="0">
                <a:solidFill>
                  <a:srgbClr val="D8E5ED"/>
                </a:solidFill>
                <a:latin typeface="DejaVu Sans"/>
                <a:ea typeface="DejaVu Sans"/>
                <a:cs typeface="DejaVu Sans"/>
              </a:defRPr>
            </a:pPr>
            <a:r>
              <a:rPr sz="2025" b="0">
                <a:solidFill>
                  <a:srgbClr val="D8E5ED"/>
                </a:solidFill>
                <a:latin typeface="DejaVu Sans"/>
                <a:ea typeface="DejaVu Sans"/>
                <a:cs typeface="DejaVu Sans"/>
              </a:rPr>
              <a:t>and classification models</a:t>
            </a:r>
          </a:p>
        </p:txBody>
      </p:sp>
      <p:sp>
        <p:nvSpPr>
          <p:cNvPr id="5" name="">
            <a:extLst xmlns:a="http://schemas.openxmlformats.org/drawingml/2006/main">
              <a:ext uri="{FF2B5EF4-FFF2-40B4-BE49-F238E27FC236}">
                <a16:creationId xmlns:a16="http://schemas.microsoft.com/office/drawing/2014/main" id="{935997DA-562E-4D18-ACED-988709D71C8F}"/>
              </a:ext>
            </a:extLst>
          </p:cNvPr>
          <p:cNvSpPr>
            <a:spLocks xmlns:a="http://schemas.openxmlformats.org/drawingml/2006/main" noGrp="1"/>
          </p:cNvSpPr>
          <p:nvPr/>
        </p:nvSpPr>
        <p:spPr>
          <a:xfrm xmlns:a="http://schemas.openxmlformats.org/drawingml/2006/main">
            <a:off x="571500" y="5867400"/>
            <a:ext cx="642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FFFFFF"/>
                </a:solidFill>
                <a:latin typeface="DejaVu Sans"/>
                <a:ea typeface="DejaVu Sans"/>
                <a:cs typeface="DejaVu Sans"/>
              </a:defRPr>
            </a:pPr>
            <a:r>
              <a:rPr sz="1425" b="0">
                <a:solidFill>
                  <a:srgbClr val="FFFFFF"/>
                </a:solidFill>
                <a:latin typeface="DejaVu Sans"/>
                <a:ea typeface="DejaVu Sans"/>
                <a:cs typeface="DejaVu Sans"/>
              </a:rPr>
              <a:t>Cristian  /  Technical project report  /  September 2026</a:t>
            </a:r>
          </a:p>
        </p:txBody>
      </p:sp>
      <p:sp>
        <p:nvSpPr>
          <p:cNvPr id="6" name="">
            <a:extLst xmlns:a="http://schemas.openxmlformats.org/drawingml/2006/main">
              <a:ext uri="{FF2B5EF4-FFF2-40B4-BE49-F238E27FC236}">
                <a16:creationId xmlns:a16="http://schemas.microsoft.com/office/drawing/2014/main" id="{62EF56D8-EBAF-446F-BEBA-EDE42A62BADD}"/>
              </a:ext>
            </a:extLst>
          </p:cNvPr>
          <p:cNvSpPr>
            <a:spLocks xmlns:a="http://schemas.openxmlformats.org/drawingml/2006/main" noGrp="1"/>
          </p:cNvSpPr>
          <p:nvPr/>
        </p:nvSpPr>
        <p:spPr>
          <a:xfrm xmlns:a="http://schemas.openxmlformats.org/drawingml/2006/main">
            <a:off x="7458075" y="655320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00" b="0">
                <a:solidFill>
                  <a:srgbClr val="FFFFFF"/>
                </a:solidFill>
                <a:latin typeface="DejaVu Sans"/>
                <a:ea typeface="DejaVu Sans"/>
                <a:cs typeface="DejaVu Sans"/>
              </a:defRPr>
            </a:pPr>
            <a:r>
              <a:rPr sz="900" b="0">
                <a:solidFill>
                  <a:srgbClr val="FFFFFF"/>
                </a:solidFill>
                <a:latin typeface="DejaVu Sans"/>
                <a:ea typeface="DejaVu Sans"/>
                <a:cs typeface="DejaVu Sans"/>
              </a:rPr>
              <a:t>Photo: Michael Seeley / NASA APOD</a:t>
            </a:r>
          </a:p>
        </p:txBody>
      </p:sp>
    </p:spTree>
    <p:extLst>
      <p:ext uri="{BB962C8B-B14F-4D97-AF65-F5344CB8AC3E}">
        <p14:creationId xmlns:p14="http://schemas.microsoft.com/office/powerpoint/2010/main" val="16836802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996233-0D22-4E7B-9FE4-B8FFCDBDBF62}"/>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EXECUTIVE SUMMARY</a:t>
            </a:r>
          </a:p>
        </p:txBody>
      </p:sp>
      <p:sp>
        <p:nvSpPr>
          <p:cNvPr id="2" name="">
            <a:extLst xmlns:a="http://schemas.openxmlformats.org/drawingml/2006/main">
              <a:ext uri="{FF2B5EF4-FFF2-40B4-BE49-F238E27FC236}">
                <a16:creationId xmlns:a16="http://schemas.microsoft.com/office/drawing/2014/main" id="{195563FD-475C-46F9-916C-9CF828547CD0}"/>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Executive summary: findings and model performance</a:t>
            </a:r>
          </a:p>
        </p:txBody>
      </p:sp>
      <p:sp>
        <p:nvSpPr>
          <p:cNvPr id="3" name="">
            <a:extLst xmlns:a="http://schemas.openxmlformats.org/drawingml/2006/main">
              <a:ext uri="{FF2B5EF4-FFF2-40B4-BE49-F238E27FC236}">
                <a16:creationId xmlns:a16="http://schemas.microsoft.com/office/drawing/2014/main" id="{FC8817BE-A73B-42C9-BF81-90E51BA964A2}"/>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The strongest conclusion is a testable workflow, with clear limits on generalization.</a:t>
            </a:r>
          </a:p>
        </p:txBody>
      </p:sp>
      <p:sp>
        <p:nvSpPr>
          <p:cNvPr id="4" name="">
            <a:extLst xmlns:a="http://schemas.openxmlformats.org/drawingml/2006/main">
              <a:ext uri="{FF2B5EF4-FFF2-40B4-BE49-F238E27FC236}">
                <a16:creationId xmlns:a16="http://schemas.microsoft.com/office/drawing/2014/main" id="{02EB7378-F07E-4296-8F72-947C9AA6BB6A}"/>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0bde033458524f8e"/>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5E698ACB-7E38-42E2-B1E4-64BEFDBF21E3}"/>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06FF024-6D90-4AF3-ABF5-E98C0D5B774D}"/>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05148AFE-48C8-468C-BB69-E959C2A957B5}"/>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02</a:t>
            </a:r>
          </a:p>
        </p:txBody>
      </p:sp>
      <p:graphicFrame>
        <p:nvGraphicFramePr>
          <p:cNvPr id="18" name=""/>
          <p:cNvGraphicFramePr/>
          <p:nvPr/>
        </p:nvGraphicFramePr>
        <p:xfrm>
          <a:off xmlns:a="http://schemas.openxmlformats.org/drawingml/2006/main" x="552450" y="2266950"/>
          <a:ext xmlns:a="http://schemas.openxmlformats.org/drawingml/2006/main" cx="11087100" cy="2914650"/>
        </p:xfrm>
        <a:graphic xmlns:a="http://schemas.openxmlformats.org/drawingml/2006/main">
          <a:graphicData uri="http://schemas.openxmlformats.org/drawingml/2006/table">
            <a:tbl>
              <a:tblPr/>
              <a:tblGrid>
                <a:gridCol w="3095625"/>
                <a:gridCol w="3429000"/>
                <a:gridCol w="4562475"/>
              </a:tblGrid>
              <a:tr h="728663">
                <a:tc>
                  <a:txBody>
                    <a:bodyPr/>
                    <a:lstStyle/>
                    <a:p>
                      <a:r>
                        <a:rPr sz="1725" b="1">
                          <a:solidFill>
                            <a:srgbClr val="FFFFFF"/>
                          </a:solidFill>
                          <a:latin typeface="DejaVu Sans"/>
                          <a:ea typeface="DejaVu Sans"/>
                          <a:cs typeface="DejaVu Sans"/>
                        </a:rPr>
                        <a:t>Finding</a:t>
                      </a:r>
                    </a:p>
                  </a:txBody>
                  <a:tcPr marL="91440" marR="91440" marT="45720" marB="45720">
                    <a:solidFill>
                      <a:srgbClr val="112B3C"/>
                    </a:solidFill>
                  </a:tcPr>
                </a:tc>
                <a:tc>
                  <a:txBody>
                    <a:bodyPr/>
                    <a:lstStyle/>
                    <a:p>
                      <a:r>
                        <a:rPr sz="1725" b="1">
                          <a:solidFill>
                            <a:srgbClr val="FFFFFF"/>
                          </a:solidFill>
                          <a:latin typeface="DejaVu Sans"/>
                          <a:ea typeface="DejaVu Sans"/>
                          <a:cs typeface="DejaVu Sans"/>
                        </a:rPr>
                        <a:t>Evidence</a:t>
                      </a:r>
                    </a:p>
                  </a:txBody>
                  <a:tcPr marL="91440" marR="91440" marT="45720" marB="45720">
                    <a:solidFill>
                      <a:srgbClr val="112B3C"/>
                    </a:solidFill>
                  </a:tcPr>
                </a:tc>
                <a:tc>
                  <a:txBody>
                    <a:bodyPr/>
                    <a:lstStyle/>
                    <a:p>
                      <a:r>
                        <a:rPr sz="1725" b="1">
                          <a:solidFill>
                            <a:srgbClr val="FFFFFF"/>
                          </a:solidFill>
                          <a:latin typeface="DejaVu Sans"/>
                          <a:ea typeface="DejaVu Sans"/>
                          <a:cs typeface="DejaVu Sans"/>
                        </a:rPr>
                        <a:t>Interpretation</a:t>
                      </a:r>
                    </a:p>
                  </a:txBody>
                  <a:tcPr marL="91440" marR="91440" marT="45720" marB="45720">
                    <a:solidFill>
                      <a:srgbClr val="112B3C"/>
                    </a:solidFill>
                  </a:tcPr>
                </a:tc>
              </a:tr>
              <a:tr h="728663">
                <a:tc>
                  <a:txBody>
                    <a:bodyPr/>
                    <a:lstStyle/>
                    <a:p>
                      <a:r>
                        <a:rPr sz="1725" b="0">
                          <a:solidFill>
                            <a:srgbClr val="112B3C"/>
                          </a:solidFill>
                          <a:latin typeface="DejaVu Sans"/>
                          <a:ea typeface="DejaVu Sans"/>
                          <a:cs typeface="DejaVu Sans"/>
                        </a:rPr>
                        <a:t>Landing outcomes vary</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60 / 90 Class 1 outcomes</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Payload, orbit, site and time matter jointly.</a:t>
                      </a:r>
                    </a:p>
                  </a:txBody>
                  <a:tcPr marL="91440" marR="91440" marT="45720" marB="45720">
                    <a:solidFill>
                      <a:srgbClr val="FFFFFF"/>
                    </a:solidFill>
                  </a:tcPr>
                </a:tc>
              </a:tr>
              <a:tr h="728663">
                <a:tc>
                  <a:txBody>
                    <a:bodyPr/>
                    <a:lstStyle/>
                    <a:p>
                      <a:r>
                        <a:rPr sz="1725" b="0">
                          <a:solidFill>
                            <a:srgbClr val="112B3C"/>
                          </a:solidFill>
                          <a:latin typeface="DejaVu Sans"/>
                          <a:ea typeface="DejaVu Sans"/>
                          <a:cs typeface="DejaVu Sans"/>
                        </a:rPr>
                        <a:t>Three models tie on test data</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83.33% accuracy; 15 / 18 correct</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LR, SVM and KNN outperform the 66.67% baseline.</a:t>
                      </a:r>
                    </a:p>
                  </a:txBody>
                  <a:tcPr marL="91440" marR="91440" marT="45720" marB="45720">
                    <a:solidFill>
                      <a:srgbClr val="F3F6F8"/>
                    </a:solidFill>
                  </a:tcPr>
                </a:tc>
              </a:tr>
              <a:tr h="728663">
                <a:tc>
                  <a:txBody>
                    <a:bodyPr/>
                    <a:lstStyle/>
                    <a:p>
                      <a:r>
                        <a:rPr sz="1725" b="0">
                          <a:solidFill>
                            <a:srgbClr val="112B3C"/>
                          </a:solidFill>
                          <a:latin typeface="DejaVu Sans"/>
                          <a:ea typeface="DejaVu Sans"/>
                          <a:cs typeface="DejaVu Sans"/>
                        </a:rPr>
                        <a:t>KSC leads the dashboard sample</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10 / 13 Class 1; 76.92%</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This is a separate 56-record cohort.</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8733FF04-6AD4-42DB-BA34-156BDFE92472}"/>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E6886C7-8688-428F-89BB-5A35E1E607CD}"/>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Reported model scores are laboratory results: scaling before the split introduces leakage.</a:t>
            </a:r>
          </a:p>
        </p:txBody>
      </p:sp>
    </p:spTree>
    <p:extLst>
      <p:ext uri="{BB962C8B-B14F-4D97-AF65-F5344CB8AC3E}">
        <p14:creationId xmlns:p14="http://schemas.microsoft.com/office/powerpoint/2010/main" val="19120857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AC27AE5-5F1A-4646-9968-13318EC82808}"/>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INTRODUCTION</a:t>
            </a:r>
          </a:p>
        </p:txBody>
      </p:sp>
      <p:sp>
        <p:nvSpPr>
          <p:cNvPr id="2" name="">
            <a:extLst xmlns:a="http://schemas.openxmlformats.org/drawingml/2006/main">
              <a:ext uri="{FF2B5EF4-FFF2-40B4-BE49-F238E27FC236}">
                <a16:creationId xmlns:a16="http://schemas.microsoft.com/office/drawing/2014/main" id="{6223C237-F42F-4D9C-9BBD-F0D9AAC7E42D}"/>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Can launch information predict a landing outcome?</a:t>
            </a:r>
          </a:p>
        </p:txBody>
      </p:sp>
      <p:sp>
        <p:nvSpPr>
          <p:cNvPr id="3" name="">
            <a:extLst xmlns:a="http://schemas.openxmlformats.org/drawingml/2006/main">
              <a:ext uri="{FF2B5EF4-FFF2-40B4-BE49-F238E27FC236}">
                <a16:creationId xmlns:a16="http://schemas.microsoft.com/office/drawing/2014/main" id="{6A168CDA-13C7-4A7A-82AE-700F9863ACAB}"/>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Business context: first-stage recovery is relevant to launch economics and reuse.</a:t>
            </a:r>
          </a:p>
        </p:txBody>
      </p:sp>
      <p:sp>
        <p:nvSpPr>
          <p:cNvPr id="4" name="">
            <a:extLst xmlns:a="http://schemas.openxmlformats.org/drawingml/2006/main">
              <a:ext uri="{FF2B5EF4-FFF2-40B4-BE49-F238E27FC236}">
                <a16:creationId xmlns:a16="http://schemas.microsoft.com/office/drawing/2014/main" id="{455BDD07-0169-4854-AFA3-66357E35C371}"/>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1f2d835d19e94094"/>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054BF3A9-FB56-478E-B8D5-DB6BD3FB956F}"/>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3583E02-36D9-4161-96F5-81F5F69DE9CF}"/>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F0257C57-A7C1-4CD8-9C3F-3FD551C0D0FE}"/>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6161C1C6-5CDB-4BCA-8DC0-35AF0057359F}"/>
              </a:ext>
            </a:extLst>
          </p:cNvPr>
          <p:cNvSpPr>
            <a:spLocks xmlns:a="http://schemas.openxmlformats.org/drawingml/2006/main" noGrp="1"/>
          </p:cNvSpPr>
          <p:nvPr/>
        </p:nvSpPr>
        <p:spPr>
          <a:xfrm xmlns:a="http://schemas.openxmlformats.org/drawingml/2006/main">
            <a:off x="552450" y="22383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D16635"/>
                </a:solidFill>
                <a:latin typeface="DejaVu Sans"/>
                <a:ea typeface="DejaVu Sans"/>
                <a:cs typeface="DejaVu Sans"/>
              </a:defRPr>
            </a:pPr>
            <a:r>
              <a:rPr sz="2025" b="1">
                <a:solidFill>
                  <a:srgbClr val="D16635"/>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38F12399-6AB0-4269-AEA7-0CD59D8C8612}"/>
              </a:ext>
            </a:extLst>
          </p:cNvPr>
          <p:cNvSpPr>
            <a:spLocks xmlns:a="http://schemas.openxmlformats.org/drawingml/2006/main" noGrp="1"/>
          </p:cNvSpPr>
          <p:nvPr/>
        </p:nvSpPr>
        <p:spPr>
          <a:xfrm xmlns:a="http://schemas.openxmlformats.org/drawingml/2006/main">
            <a:off x="1276350" y="2238375"/>
            <a:ext cx="10229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12B3C"/>
                </a:solidFill>
                <a:latin typeface="DejaVu Sans"/>
                <a:ea typeface="DejaVu Sans"/>
                <a:cs typeface="DejaVu Sans"/>
              </a:defRPr>
            </a:pPr>
            <a:r>
              <a:rPr sz="2025" b="0">
                <a:solidFill>
                  <a:srgbClr val="112B3C"/>
                </a:solidFill>
                <a:latin typeface="DejaVu Sans"/>
                <a:ea typeface="DejaVu Sans"/>
                <a:cs typeface="DejaVu Sans"/>
              </a:rPr>
              <a:t>Define a binary target from the recorded first-stage landing outcome.</a:t>
            </a:r>
          </a:p>
        </p:txBody>
      </p:sp>
      <p:sp>
        <p:nvSpPr>
          <p:cNvPr id="10" name="">
            <a:extLst xmlns:a="http://schemas.openxmlformats.org/drawingml/2006/main">
              <a:ext uri="{FF2B5EF4-FFF2-40B4-BE49-F238E27FC236}">
                <a16:creationId xmlns:a16="http://schemas.microsoft.com/office/drawing/2014/main" id="{A458B0F9-E936-49E0-96EC-F60066EDD43B}"/>
              </a:ext>
            </a:extLst>
          </p:cNvPr>
          <p:cNvSpPr>
            <a:spLocks xmlns:a="http://schemas.openxmlformats.org/drawingml/2006/main" noGrp="1"/>
          </p:cNvSpPr>
          <p:nvPr/>
        </p:nvSpPr>
        <p:spPr>
          <a:xfrm xmlns:a="http://schemas.openxmlformats.org/drawingml/2006/main">
            <a:off x="552450" y="310515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D16635"/>
                </a:solidFill>
                <a:latin typeface="DejaVu Sans"/>
                <a:ea typeface="DejaVu Sans"/>
                <a:cs typeface="DejaVu Sans"/>
              </a:defRPr>
            </a:pPr>
            <a:r>
              <a:rPr sz="2025" b="1">
                <a:solidFill>
                  <a:srgbClr val="D16635"/>
                </a:solidFill>
                <a:latin typeface="DejaVu Sans"/>
                <a:ea typeface="DejaVu Sans"/>
                <a:cs typeface="DejaVu Sans"/>
              </a:rPr>
              <a:t>02</a:t>
            </a:r>
          </a:p>
        </p:txBody>
      </p:sp>
      <p:sp>
        <p:nvSpPr>
          <p:cNvPr id="11" name="">
            <a:extLst xmlns:a="http://schemas.openxmlformats.org/drawingml/2006/main">
              <a:ext uri="{FF2B5EF4-FFF2-40B4-BE49-F238E27FC236}">
                <a16:creationId xmlns:a16="http://schemas.microsoft.com/office/drawing/2014/main" id="{519B760B-7A79-4E25-9594-A0A6AE4F0504}"/>
              </a:ext>
            </a:extLst>
          </p:cNvPr>
          <p:cNvSpPr>
            <a:spLocks xmlns:a="http://schemas.openxmlformats.org/drawingml/2006/main" noGrp="1"/>
          </p:cNvSpPr>
          <p:nvPr/>
        </p:nvSpPr>
        <p:spPr>
          <a:xfrm xmlns:a="http://schemas.openxmlformats.org/drawingml/2006/main">
            <a:off x="1276350" y="3105150"/>
            <a:ext cx="10229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12B3C"/>
                </a:solidFill>
                <a:latin typeface="DejaVu Sans"/>
                <a:ea typeface="DejaVu Sans"/>
                <a:cs typeface="DejaVu Sans"/>
              </a:defRPr>
            </a:pPr>
            <a:r>
              <a:rPr sz="2025" b="0">
                <a:solidFill>
                  <a:srgbClr val="112B3C"/>
                </a:solidFill>
                <a:latin typeface="DejaVu Sans"/>
                <a:ea typeface="DejaVu Sans"/>
                <a:cs typeface="DejaVu Sans"/>
              </a:rPr>
              <a:t>Explore payload, orbit, launch site, booster history and time.</a:t>
            </a:r>
          </a:p>
        </p:txBody>
      </p:sp>
      <p:sp>
        <p:nvSpPr>
          <p:cNvPr id="12" name="">
            <a:extLst xmlns:a="http://schemas.openxmlformats.org/drawingml/2006/main">
              <a:ext uri="{FF2B5EF4-FFF2-40B4-BE49-F238E27FC236}">
                <a16:creationId xmlns:a16="http://schemas.microsoft.com/office/drawing/2014/main" id="{709F52D9-1389-450F-A48F-C3AE2C9B5281}"/>
              </a:ext>
            </a:extLst>
          </p:cNvPr>
          <p:cNvSpPr>
            <a:spLocks xmlns:a="http://schemas.openxmlformats.org/drawingml/2006/main" noGrp="1"/>
          </p:cNvSpPr>
          <p:nvPr/>
        </p:nvSpPr>
        <p:spPr>
          <a:xfrm xmlns:a="http://schemas.openxmlformats.org/drawingml/2006/main">
            <a:off x="552450" y="39719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D16635"/>
                </a:solidFill>
                <a:latin typeface="DejaVu Sans"/>
                <a:ea typeface="DejaVu Sans"/>
                <a:cs typeface="DejaVu Sans"/>
              </a:defRPr>
            </a:pPr>
            <a:r>
              <a:rPr sz="2025" b="1">
                <a:solidFill>
                  <a:srgbClr val="D16635"/>
                </a:solidFill>
                <a:latin typeface="DejaVu Sans"/>
                <a:ea typeface="DejaVu Sans"/>
                <a:cs typeface="DejaVu Sans"/>
              </a:rPr>
              <a:t>03</a:t>
            </a:r>
          </a:p>
        </p:txBody>
      </p:sp>
      <p:sp>
        <p:nvSpPr>
          <p:cNvPr id="13" name="">
            <a:extLst xmlns:a="http://schemas.openxmlformats.org/drawingml/2006/main">
              <a:ext uri="{FF2B5EF4-FFF2-40B4-BE49-F238E27FC236}">
                <a16:creationId xmlns:a16="http://schemas.microsoft.com/office/drawing/2014/main" id="{0DBDEB6D-FF3A-4E3B-8CFE-307FF3D6C7C8}"/>
              </a:ext>
            </a:extLst>
          </p:cNvPr>
          <p:cNvSpPr>
            <a:spLocks xmlns:a="http://schemas.openxmlformats.org/drawingml/2006/main" noGrp="1"/>
          </p:cNvSpPr>
          <p:nvPr/>
        </p:nvSpPr>
        <p:spPr>
          <a:xfrm xmlns:a="http://schemas.openxmlformats.org/drawingml/2006/main">
            <a:off x="1276350" y="3971925"/>
            <a:ext cx="10229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12B3C"/>
                </a:solidFill>
                <a:latin typeface="DejaVu Sans"/>
                <a:ea typeface="DejaVu Sans"/>
                <a:cs typeface="DejaVu Sans"/>
              </a:defRPr>
            </a:pPr>
            <a:r>
              <a:rPr sz="2025" b="0">
                <a:solidFill>
                  <a:srgbClr val="112B3C"/>
                </a:solidFill>
                <a:latin typeface="DejaVu Sans"/>
                <a:ea typeface="DejaVu Sans"/>
                <a:cs typeface="DejaVu Sans"/>
              </a:rPr>
              <a:t>Compare interpretable baselines with tuned classification models.</a:t>
            </a:r>
          </a:p>
        </p:txBody>
      </p:sp>
      <p:sp>
        <p:nvSpPr>
          <p:cNvPr id="14" name="">
            <a:extLst xmlns:a="http://schemas.openxmlformats.org/drawingml/2006/main">
              <a:ext uri="{FF2B5EF4-FFF2-40B4-BE49-F238E27FC236}">
                <a16:creationId xmlns:a16="http://schemas.microsoft.com/office/drawing/2014/main" id="{12CCAE83-9210-4C0A-97CA-4F40C63A1B87}"/>
              </a:ext>
            </a:extLst>
          </p:cNvPr>
          <p:cNvSpPr>
            <a:spLocks xmlns:a="http://schemas.openxmlformats.org/drawingml/2006/main" noGrp="1"/>
          </p:cNvSpPr>
          <p:nvPr/>
        </p:nvSpPr>
        <p:spPr>
          <a:xfrm xmlns:a="http://schemas.openxmlformats.org/drawingml/2006/main">
            <a:off x="552450" y="483870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D16635"/>
                </a:solidFill>
                <a:latin typeface="DejaVu Sans"/>
                <a:ea typeface="DejaVu Sans"/>
                <a:cs typeface="DejaVu Sans"/>
              </a:defRPr>
            </a:pPr>
            <a:r>
              <a:rPr sz="2025" b="1">
                <a:solidFill>
                  <a:srgbClr val="D16635"/>
                </a:solidFill>
                <a:latin typeface="DejaVu Sans"/>
                <a:ea typeface="DejaVu Sans"/>
                <a:cs typeface="DejaVu Sans"/>
              </a:rPr>
              <a:t>04</a:t>
            </a:r>
          </a:p>
        </p:txBody>
      </p:sp>
      <p:sp>
        <p:nvSpPr>
          <p:cNvPr id="15" name="">
            <a:extLst xmlns:a="http://schemas.openxmlformats.org/drawingml/2006/main">
              <a:ext uri="{FF2B5EF4-FFF2-40B4-BE49-F238E27FC236}">
                <a16:creationId xmlns:a16="http://schemas.microsoft.com/office/drawing/2014/main" id="{FEDDF1C5-78DF-40BC-9B1A-49EF31D680C2}"/>
              </a:ext>
            </a:extLst>
          </p:cNvPr>
          <p:cNvSpPr>
            <a:spLocks xmlns:a="http://schemas.openxmlformats.org/drawingml/2006/main" noGrp="1"/>
          </p:cNvSpPr>
          <p:nvPr/>
        </p:nvSpPr>
        <p:spPr>
          <a:xfrm xmlns:a="http://schemas.openxmlformats.org/drawingml/2006/main">
            <a:off x="1276350" y="4838700"/>
            <a:ext cx="10229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12B3C"/>
                </a:solidFill>
                <a:latin typeface="DejaVu Sans"/>
                <a:ea typeface="DejaVu Sans"/>
                <a:cs typeface="DejaVu Sans"/>
              </a:defRPr>
            </a:pPr>
            <a:r>
              <a:rPr sz="2025" b="0">
                <a:solidFill>
                  <a:srgbClr val="112B3C"/>
                </a:solidFill>
                <a:latin typeface="DejaVu Sans"/>
                <a:ea typeface="DejaVu Sans"/>
                <a:cs typeface="DejaVu Sans"/>
              </a:rPr>
              <a:t>Use the evidence to guide further validation before operational decisions.</a:t>
            </a:r>
          </a:p>
        </p:txBody>
      </p:sp>
    </p:spTree>
    <p:extLst>
      <p:ext uri="{BB962C8B-B14F-4D97-AF65-F5344CB8AC3E}">
        <p14:creationId xmlns:p14="http://schemas.microsoft.com/office/powerpoint/2010/main" val="1201669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69F14B-A646-4790-9BC6-D675A97CA122}"/>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DATA SCOPE</a:t>
            </a:r>
          </a:p>
        </p:txBody>
      </p:sp>
      <p:sp>
        <p:nvSpPr>
          <p:cNvPr id="2" name="">
            <a:extLst xmlns:a="http://schemas.openxmlformats.org/drawingml/2006/main">
              <a:ext uri="{FF2B5EF4-FFF2-40B4-BE49-F238E27FC236}">
                <a16:creationId xmlns:a16="http://schemas.microsoft.com/office/drawing/2014/main" id="{5AFF43BD-A87A-411B-8734-BF81698F0E53}"/>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Three snapshots answer different questions</a:t>
            </a:r>
          </a:p>
        </p:txBody>
      </p:sp>
      <p:sp>
        <p:nvSpPr>
          <p:cNvPr id="3" name="">
            <a:extLst xmlns:a="http://schemas.openxmlformats.org/drawingml/2006/main">
              <a:ext uri="{FF2B5EF4-FFF2-40B4-BE49-F238E27FC236}">
                <a16:creationId xmlns:a16="http://schemas.microsoft.com/office/drawing/2014/main" id="{7C323E20-CA1C-48DE-834F-57ACF65EC384}"/>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Keep denominators and outcome definitions explicit when comparing results.</a:t>
            </a:r>
          </a:p>
        </p:txBody>
      </p:sp>
      <p:sp>
        <p:nvSpPr>
          <p:cNvPr id="4" name="">
            <a:extLst xmlns:a="http://schemas.openxmlformats.org/drawingml/2006/main">
              <a:ext uri="{FF2B5EF4-FFF2-40B4-BE49-F238E27FC236}">
                <a16:creationId xmlns:a16="http://schemas.microsoft.com/office/drawing/2014/main" id="{1555E1E6-A553-4553-AED5-EC2A6C63B326}"/>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ef42aed654014225"/>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CC47B5F0-8581-4496-93E6-58B4384C9B6E}"/>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A329E3C-B2BC-4002-9C2B-3165A47D68EC}"/>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443A48A8-4382-4E77-B475-BBD2E16E47B7}"/>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04</a:t>
            </a:r>
          </a:p>
        </p:txBody>
      </p:sp>
      <p:graphicFrame>
        <p:nvGraphicFramePr>
          <p:cNvPr id="18" name=""/>
          <p:cNvGraphicFramePr/>
          <p:nvPr/>
        </p:nvGraphicFramePr>
        <p:xfrm>
          <a:off xmlns:a="http://schemas.openxmlformats.org/drawingml/2006/main" x="552450" y="2238375"/>
          <a:ext xmlns:a="http://schemas.openxmlformats.org/drawingml/2006/main" cx="11087100" cy="2819400"/>
        </p:xfrm>
        <a:graphic xmlns:a="http://schemas.openxmlformats.org/drawingml/2006/main">
          <a:graphicData uri="http://schemas.openxmlformats.org/drawingml/2006/table">
            <a:tbl>
              <a:tblPr/>
              <a:tblGrid>
                <a:gridCol w="3476625"/>
                <a:gridCol w="3619500"/>
                <a:gridCol w="3990975"/>
              </a:tblGrid>
              <a:tr h="704850">
                <a:tc>
                  <a:txBody>
                    <a:bodyPr/>
                    <a:lstStyle/>
                    <a:p>
                      <a:r>
                        <a:rPr sz="1800" b="1">
                          <a:solidFill>
                            <a:srgbClr val="FFFFFF"/>
                          </a:solidFill>
                          <a:latin typeface="DejaVu Sans"/>
                          <a:ea typeface="DejaVu Sans"/>
                          <a:cs typeface="DejaVu Sans"/>
                        </a:rPr>
                        <a:t>Analysis</a:t>
                      </a:r>
                    </a:p>
                  </a:txBody>
                  <a:tcPr marL="91440" marR="91440" marT="45720" marB="45720">
                    <a:solidFill>
                      <a:srgbClr val="112B3C"/>
                    </a:solidFill>
                  </a:tcPr>
                </a:tc>
                <a:tc>
                  <a:txBody>
                    <a:bodyPr/>
                    <a:lstStyle/>
                    <a:p>
                      <a:r>
                        <a:rPr sz="1800" b="1">
                          <a:solidFill>
                            <a:srgbClr val="FFFFFF"/>
                          </a:solidFill>
                          <a:latin typeface="DejaVu Sans"/>
                          <a:ea typeface="DejaVu Sans"/>
                          <a:cs typeface="DejaVu Sans"/>
                        </a:rPr>
                        <a:t>Records / labels</a:t>
                      </a:r>
                    </a:p>
                  </a:txBody>
                  <a:tcPr marL="91440" marR="91440" marT="45720" marB="45720">
                    <a:solidFill>
                      <a:srgbClr val="112B3C"/>
                    </a:solidFill>
                  </a:tcPr>
                </a:tc>
                <a:tc>
                  <a:txBody>
                    <a:bodyPr/>
                    <a:lstStyle/>
                    <a:p>
                      <a:r>
                        <a:rPr sz="1800" b="1">
                          <a:solidFill>
                            <a:srgbClr val="FFFFFF"/>
                          </a:solidFill>
                          <a:latin typeface="DejaVu Sans"/>
                          <a:ea typeface="DejaVu Sans"/>
                          <a:cs typeface="DejaVu Sans"/>
                        </a:rPr>
                        <a:t>Coverage</a:t>
                      </a:r>
                    </a:p>
                  </a:txBody>
                  <a:tcPr marL="91440" marR="91440" marT="45720" marB="45720">
                    <a:solidFill>
                      <a:srgbClr val="112B3C"/>
                    </a:solidFill>
                  </a:tcPr>
                </a:tc>
              </a:tr>
              <a:tr h="704850">
                <a:tc>
                  <a:txBody>
                    <a:bodyPr/>
                    <a:lstStyle/>
                    <a:p>
                      <a:r>
                        <a:rPr sz="1800" b="0">
                          <a:solidFill>
                            <a:srgbClr val="112B3C"/>
                          </a:solidFill>
                          <a:latin typeface="DejaVu Sans"/>
                          <a:ea typeface="DejaVu Sans"/>
                          <a:cs typeface="DejaVu Sans"/>
                        </a:rPr>
                        <a:t>Python EDA + ML</a:t>
                      </a:r>
                    </a:p>
                  </a:txBody>
                  <a:tcPr marL="91440" marR="91440" marT="45720" marB="45720">
                    <a:solidFill>
                      <a:srgbClr val="FFFFFF"/>
                    </a:solidFill>
                  </a:tcPr>
                </a:tc>
                <a:tc>
                  <a:txBody>
                    <a:bodyPr/>
                    <a:lstStyle/>
                    <a:p>
                      <a:r>
                        <a:rPr sz="1800" b="0">
                          <a:solidFill>
                            <a:srgbClr val="112B3C"/>
                          </a:solidFill>
                          <a:latin typeface="DejaVu Sans"/>
                          <a:ea typeface="DejaVu Sans"/>
                          <a:cs typeface="DejaVu Sans"/>
                        </a:rPr>
                        <a:t>90 launches • 3 site labels</a:t>
                      </a:r>
                    </a:p>
                  </a:txBody>
                  <a:tcPr marL="91440" marR="91440" marT="45720" marB="45720">
                    <a:solidFill>
                      <a:srgbClr val="FFFFFF"/>
                    </a:solidFill>
                  </a:tcPr>
                </a:tc>
                <a:tc>
                  <a:txBody>
                    <a:bodyPr/>
                    <a:lstStyle/>
                    <a:p>
                      <a:r>
                        <a:rPr sz="1800" b="0">
                          <a:solidFill>
                            <a:srgbClr val="112B3C"/>
                          </a:solidFill>
                          <a:latin typeface="DejaVu Sans"/>
                          <a:ea typeface="DejaVu Sans"/>
                          <a:cs typeface="DejaVu Sans"/>
                        </a:rPr>
                        <a:t>4 Jun 2010–5 Nov 2020</a:t>
                      </a:r>
                    </a:p>
                  </a:txBody>
                  <a:tcPr marL="91440" marR="91440" marT="45720" marB="45720">
                    <a:solidFill>
                      <a:srgbClr val="FFFFFF"/>
                    </a:solidFill>
                  </a:tcPr>
                </a:tc>
              </a:tr>
              <a:tr h="704850">
                <a:tc>
                  <a:txBody>
                    <a:bodyPr/>
                    <a:lstStyle/>
                    <a:p>
                      <a:r>
                        <a:rPr sz="1800" b="0">
                          <a:solidFill>
                            <a:srgbClr val="112B3C"/>
                          </a:solidFill>
                          <a:latin typeface="DejaVu Sans"/>
                          <a:ea typeface="DejaVu Sans"/>
                          <a:cs typeface="DejaVu Sans"/>
                        </a:rPr>
                        <a:t>SQL exercises</a:t>
                      </a:r>
                    </a:p>
                  </a:txBody>
                  <a:tcPr marL="91440" marR="91440" marT="45720" marB="45720">
                    <a:solidFill>
                      <a:srgbClr val="F3F6F8"/>
                    </a:solidFill>
                  </a:tcPr>
                </a:tc>
                <a:tc>
                  <a:txBody>
                    <a:bodyPr/>
                    <a:lstStyle/>
                    <a:p>
                      <a:r>
                        <a:rPr sz="1800" b="0">
                          <a:solidFill>
                            <a:srgbClr val="112B3C"/>
                          </a:solidFill>
                          <a:latin typeface="DejaVu Sans"/>
                          <a:ea typeface="DejaVu Sans"/>
                          <a:cs typeface="DejaVu Sans"/>
                        </a:rPr>
                        <a:t>101 launches • 4 site labels</a:t>
                      </a:r>
                    </a:p>
                  </a:txBody>
                  <a:tcPr marL="91440" marR="91440" marT="45720" marB="45720">
                    <a:solidFill>
                      <a:srgbClr val="F3F6F8"/>
                    </a:solidFill>
                  </a:tcPr>
                </a:tc>
                <a:tc>
                  <a:txBody>
                    <a:bodyPr/>
                    <a:lstStyle/>
                    <a:p>
                      <a:r>
                        <a:rPr sz="1800" b="0">
                          <a:solidFill>
                            <a:srgbClr val="112B3C"/>
                          </a:solidFill>
                          <a:latin typeface="DejaVu Sans"/>
                          <a:ea typeface="DejaVu Sans"/>
                          <a:cs typeface="DejaVu Sans"/>
                        </a:rPr>
                        <a:t>4 Jun 2010–6 Dec 2020</a:t>
                      </a:r>
                    </a:p>
                  </a:txBody>
                  <a:tcPr marL="91440" marR="91440" marT="45720" marB="45720">
                    <a:solidFill>
                      <a:srgbClr val="F3F6F8"/>
                    </a:solidFill>
                  </a:tcPr>
                </a:tc>
              </a:tr>
              <a:tr h="704850">
                <a:tc>
                  <a:txBody>
                    <a:bodyPr/>
                    <a:lstStyle/>
                    <a:p>
                      <a:r>
                        <a:rPr sz="1800" b="0">
                          <a:solidFill>
                            <a:srgbClr val="112B3C"/>
                          </a:solidFill>
                          <a:latin typeface="DejaVu Sans"/>
                          <a:ea typeface="DejaVu Sans"/>
                          <a:cs typeface="DejaVu Sans"/>
                        </a:rPr>
                        <a:t>Folium + Dash</a:t>
                      </a:r>
                    </a:p>
                  </a:txBody>
                  <a:tcPr marL="91440" marR="91440" marT="45720" marB="45720">
                    <a:solidFill>
                      <a:srgbClr val="FFFFFF"/>
                    </a:solidFill>
                  </a:tcPr>
                </a:tc>
                <a:tc>
                  <a:txBody>
                    <a:bodyPr/>
                    <a:lstStyle/>
                    <a:p>
                      <a:r>
                        <a:rPr sz="1800" b="0">
                          <a:solidFill>
                            <a:srgbClr val="112B3C"/>
                          </a:solidFill>
                          <a:latin typeface="DejaVu Sans"/>
                          <a:ea typeface="DejaVu Sans"/>
                          <a:cs typeface="DejaVu Sans"/>
                        </a:rPr>
                        <a:t>56 launches • 4 site labels</a:t>
                      </a:r>
                    </a:p>
                  </a:txBody>
                  <a:tcPr marL="91440" marR="91440" marT="45720" marB="45720">
                    <a:solidFill>
                      <a:srgbClr val="FFFFFF"/>
                    </a:solidFill>
                  </a:tcPr>
                </a:tc>
                <a:tc>
                  <a:txBody>
                    <a:bodyPr/>
                    <a:lstStyle/>
                    <a:p>
                      <a:r>
                        <a:rPr sz="1800" b="0">
                          <a:solidFill>
                            <a:srgbClr val="112B3C"/>
                          </a:solidFill>
                          <a:latin typeface="DejaVu Sans"/>
                          <a:ea typeface="DejaVu Sans"/>
                          <a:cs typeface="DejaVu Sans"/>
                        </a:rPr>
                        <a:t>Separate course snapshot</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06B0CC9-F01A-4D12-96F0-30EC7CCB397D}"/>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BAAEC2E-D492-4F3E-923C-910CDD784282}"/>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Do not transfer a percentage from one snapshot to another.</a:t>
            </a:r>
          </a:p>
        </p:txBody>
      </p:sp>
    </p:spTree>
    <p:extLst>
      <p:ext uri="{BB962C8B-B14F-4D97-AF65-F5344CB8AC3E}">
        <p14:creationId xmlns:p14="http://schemas.microsoft.com/office/powerpoint/2010/main" val="880109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EDE8822-E94C-4ED7-A018-DED7A2BB91F7}"/>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METHODOLOGY / COLLECTION</a:t>
            </a:r>
          </a:p>
        </p:txBody>
      </p:sp>
      <p:sp>
        <p:nvSpPr>
          <p:cNvPr id="2" name="">
            <a:extLst xmlns:a="http://schemas.openxmlformats.org/drawingml/2006/main">
              <a:ext uri="{FF2B5EF4-FFF2-40B4-BE49-F238E27FC236}">
                <a16:creationId xmlns:a16="http://schemas.microsoft.com/office/drawing/2014/main" id="{43817CA0-649E-45B8-A79B-CE34FDAA9EB7}"/>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SpaceX API: build one record per eligible launch</a:t>
            </a:r>
          </a:p>
        </p:txBody>
      </p:sp>
      <p:sp>
        <p:nvSpPr>
          <p:cNvPr id="3" name="">
            <a:extLst xmlns:a="http://schemas.openxmlformats.org/drawingml/2006/main">
              <a:ext uri="{FF2B5EF4-FFF2-40B4-BE49-F238E27FC236}">
                <a16:creationId xmlns:a16="http://schemas.microsoft.com/office/drawing/2014/main" id="{AF1280B4-AC9D-4705-B31A-A8EB6534CE43}"/>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The notebook uses a fixed API snapshot and enriches nested identifiers.</a:t>
            </a:r>
          </a:p>
        </p:txBody>
      </p:sp>
      <p:sp>
        <p:nvSpPr>
          <p:cNvPr id="4" name="">
            <a:extLst xmlns:a="http://schemas.openxmlformats.org/drawingml/2006/main">
              <a:ext uri="{FF2B5EF4-FFF2-40B4-BE49-F238E27FC236}">
                <a16:creationId xmlns:a16="http://schemas.microsoft.com/office/drawing/2014/main" id="{B343CAAE-ACFD-4765-86B1-987B5C6113B4}"/>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c60294d91d1940b4"/>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C4BAF39D-50CA-4255-82C6-C8C8A2F0AC6E}"/>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40EA91A-5D0B-4074-BDC4-0C0666C75071}"/>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36168D1B-06E0-4467-AAEF-FDF6BDF46C88}"/>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05</a:t>
            </a:r>
          </a:p>
        </p:txBody>
      </p:sp>
      <p:sp>
        <p:nvSpPr>
          <p:cNvPr id="8" name="">
            <a:extLst xmlns:a="http://schemas.openxmlformats.org/drawingml/2006/main">
              <a:ext uri="{FF2B5EF4-FFF2-40B4-BE49-F238E27FC236}">
                <a16:creationId xmlns:a16="http://schemas.microsoft.com/office/drawing/2014/main" id="{786AB468-DA46-4985-A991-B9BC2B847DB9}"/>
              </a:ext>
            </a:extLst>
          </p:cNvPr>
          <p:cNvSpPr>
            <a:spLocks xmlns:a="http://schemas.openxmlformats.org/drawingml/2006/main" noGrp="1"/>
          </p:cNvSpPr>
          <p:nvPr/>
        </p:nvSpPr>
        <p:spPr>
          <a:xfrm xmlns:a="http://schemas.openxmlformats.org/drawingml/2006/main">
            <a:off x="552450" y="222885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D16635"/>
                </a:solidFill>
                <a:latin typeface="DejaVu Sans"/>
                <a:ea typeface="DejaVu Sans"/>
                <a:cs typeface="DejaVu Sans"/>
              </a:defRPr>
            </a:pPr>
            <a:r>
              <a:rPr sz="1950" b="1">
                <a:solidFill>
                  <a:srgbClr val="D16635"/>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AA861E73-3A81-4495-975B-244C4EF77991}"/>
              </a:ext>
            </a:extLst>
          </p:cNvPr>
          <p:cNvSpPr>
            <a:spLocks xmlns:a="http://schemas.openxmlformats.org/drawingml/2006/main" noGrp="1"/>
          </p:cNvSpPr>
          <p:nvPr/>
        </p:nvSpPr>
        <p:spPr>
          <a:xfrm xmlns:a="http://schemas.openxmlformats.org/drawingml/2006/main">
            <a:off x="1276350" y="2228850"/>
            <a:ext cx="10229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12B3C"/>
                </a:solidFill>
                <a:latin typeface="DejaVu Sans"/>
                <a:ea typeface="DejaVu Sans"/>
                <a:cs typeface="DejaVu Sans"/>
              </a:defRPr>
            </a:pPr>
            <a:r>
              <a:rPr sz="1950" b="0">
                <a:solidFill>
                  <a:srgbClr val="112B3C"/>
                </a:solidFill>
                <a:latin typeface="DejaVu Sans"/>
                <a:ea typeface="DejaVu Sans"/>
                <a:cs typeface="DejaVu Sans"/>
              </a:rPr>
              <a:t>Load launch JSON; flatten the records with pandas.json_normalize.</a:t>
            </a:r>
          </a:p>
        </p:txBody>
      </p:sp>
      <p:sp>
        <p:nvSpPr>
          <p:cNvPr id="10" name="">
            <a:extLst xmlns:a="http://schemas.openxmlformats.org/drawingml/2006/main">
              <a:ext uri="{FF2B5EF4-FFF2-40B4-BE49-F238E27FC236}">
                <a16:creationId xmlns:a16="http://schemas.microsoft.com/office/drawing/2014/main" id="{C88B9C46-A9BA-4AAF-B209-D02A14D9D077}"/>
              </a:ext>
            </a:extLst>
          </p:cNvPr>
          <p:cNvSpPr>
            <a:spLocks xmlns:a="http://schemas.openxmlformats.org/drawingml/2006/main" noGrp="1"/>
          </p:cNvSpPr>
          <p:nvPr/>
        </p:nvSpPr>
        <p:spPr>
          <a:xfrm xmlns:a="http://schemas.openxmlformats.org/drawingml/2006/main">
            <a:off x="552450" y="310515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D16635"/>
                </a:solidFill>
                <a:latin typeface="DejaVu Sans"/>
                <a:ea typeface="DejaVu Sans"/>
                <a:cs typeface="DejaVu Sans"/>
              </a:defRPr>
            </a:pPr>
            <a:r>
              <a:rPr sz="1950" b="1">
                <a:solidFill>
                  <a:srgbClr val="D16635"/>
                </a:solidFill>
                <a:latin typeface="DejaVu Sans"/>
                <a:ea typeface="DejaVu Sans"/>
                <a:cs typeface="DejaVu Sans"/>
              </a:rPr>
              <a:t>02</a:t>
            </a:r>
          </a:p>
        </p:txBody>
      </p:sp>
      <p:sp>
        <p:nvSpPr>
          <p:cNvPr id="11" name="">
            <a:extLst xmlns:a="http://schemas.openxmlformats.org/drawingml/2006/main">
              <a:ext uri="{FF2B5EF4-FFF2-40B4-BE49-F238E27FC236}">
                <a16:creationId xmlns:a16="http://schemas.microsoft.com/office/drawing/2014/main" id="{FF27001A-8D19-4761-AA3D-935F24163B35}"/>
              </a:ext>
            </a:extLst>
          </p:cNvPr>
          <p:cNvSpPr>
            <a:spLocks xmlns:a="http://schemas.openxmlformats.org/drawingml/2006/main" noGrp="1"/>
          </p:cNvSpPr>
          <p:nvPr/>
        </p:nvSpPr>
        <p:spPr>
          <a:xfrm xmlns:a="http://schemas.openxmlformats.org/drawingml/2006/main">
            <a:off x="1276350" y="3105150"/>
            <a:ext cx="10229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12B3C"/>
                </a:solidFill>
                <a:latin typeface="DejaVu Sans"/>
                <a:ea typeface="DejaVu Sans"/>
                <a:cs typeface="DejaVu Sans"/>
              </a:defRPr>
            </a:pPr>
            <a:r>
              <a:rPr sz="1950" b="0">
                <a:solidFill>
                  <a:srgbClr val="112B3C"/>
                </a:solidFill>
                <a:latin typeface="DejaVu Sans"/>
                <a:ea typeface="DejaVu Sans"/>
                <a:cs typeface="DejaVu Sans"/>
              </a:rPr>
              <a:t>Keep single-core, single-payload launches; parse the UTC date.</a:t>
            </a:r>
          </a:p>
        </p:txBody>
      </p:sp>
      <p:sp>
        <p:nvSpPr>
          <p:cNvPr id="12" name="">
            <a:extLst xmlns:a="http://schemas.openxmlformats.org/drawingml/2006/main">
              <a:ext uri="{FF2B5EF4-FFF2-40B4-BE49-F238E27FC236}">
                <a16:creationId xmlns:a16="http://schemas.microsoft.com/office/drawing/2014/main" id="{5DE6E2D9-EA88-49B4-97D3-2A9B9DE32807}"/>
              </a:ext>
            </a:extLst>
          </p:cNvPr>
          <p:cNvSpPr>
            <a:spLocks xmlns:a="http://schemas.openxmlformats.org/drawingml/2006/main" noGrp="1"/>
          </p:cNvSpPr>
          <p:nvPr/>
        </p:nvSpPr>
        <p:spPr>
          <a:xfrm xmlns:a="http://schemas.openxmlformats.org/drawingml/2006/main">
            <a:off x="552450" y="398145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D16635"/>
                </a:solidFill>
                <a:latin typeface="DejaVu Sans"/>
                <a:ea typeface="DejaVu Sans"/>
                <a:cs typeface="DejaVu Sans"/>
              </a:defRPr>
            </a:pPr>
            <a:r>
              <a:rPr sz="1950" b="1">
                <a:solidFill>
                  <a:srgbClr val="D16635"/>
                </a:solidFill>
                <a:latin typeface="DejaVu Sans"/>
                <a:ea typeface="DejaVu Sans"/>
                <a:cs typeface="DejaVu Sans"/>
              </a:rPr>
              <a:t>03</a:t>
            </a:r>
          </a:p>
        </p:txBody>
      </p:sp>
      <p:sp>
        <p:nvSpPr>
          <p:cNvPr id="13" name="">
            <a:extLst xmlns:a="http://schemas.openxmlformats.org/drawingml/2006/main">
              <a:ext uri="{FF2B5EF4-FFF2-40B4-BE49-F238E27FC236}">
                <a16:creationId xmlns:a16="http://schemas.microsoft.com/office/drawing/2014/main" id="{3665B76D-73C6-40BF-B247-C687F4AC648E}"/>
              </a:ext>
            </a:extLst>
          </p:cNvPr>
          <p:cNvSpPr>
            <a:spLocks xmlns:a="http://schemas.openxmlformats.org/drawingml/2006/main" noGrp="1"/>
          </p:cNvSpPr>
          <p:nvPr/>
        </p:nvSpPr>
        <p:spPr>
          <a:xfrm xmlns:a="http://schemas.openxmlformats.org/drawingml/2006/main">
            <a:off x="1276350" y="3981450"/>
            <a:ext cx="10229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12B3C"/>
                </a:solidFill>
                <a:latin typeface="DejaVu Sans"/>
                <a:ea typeface="DejaVu Sans"/>
                <a:cs typeface="DejaVu Sans"/>
              </a:defRPr>
            </a:pPr>
            <a:r>
              <a:rPr sz="1950" b="0">
                <a:solidFill>
                  <a:srgbClr val="112B3C"/>
                </a:solidFill>
                <a:latin typeface="DejaVu Sans"/>
                <a:ea typeface="DejaVu Sans"/>
                <a:cs typeface="DejaVu Sans"/>
              </a:rPr>
              <a:t>Resolve rocket, launchpad, payload and core IDs through helper calls.</a:t>
            </a:r>
          </a:p>
        </p:txBody>
      </p:sp>
      <p:sp>
        <p:nvSpPr>
          <p:cNvPr id="14" name="">
            <a:extLst xmlns:a="http://schemas.openxmlformats.org/drawingml/2006/main">
              <a:ext uri="{FF2B5EF4-FFF2-40B4-BE49-F238E27FC236}">
                <a16:creationId xmlns:a16="http://schemas.microsoft.com/office/drawing/2014/main" id="{9B8F5144-6605-4951-A0CE-7CDD7FF2CD76}"/>
              </a:ext>
            </a:extLst>
          </p:cNvPr>
          <p:cNvSpPr>
            <a:spLocks xmlns:a="http://schemas.openxmlformats.org/drawingml/2006/main" noGrp="1"/>
          </p:cNvSpPr>
          <p:nvPr/>
        </p:nvSpPr>
        <p:spPr>
          <a:xfrm xmlns:a="http://schemas.openxmlformats.org/drawingml/2006/main">
            <a:off x="552450" y="485775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D16635"/>
                </a:solidFill>
                <a:latin typeface="DejaVu Sans"/>
                <a:ea typeface="DejaVu Sans"/>
                <a:cs typeface="DejaVu Sans"/>
              </a:defRPr>
            </a:pPr>
            <a:r>
              <a:rPr sz="1950" b="1">
                <a:solidFill>
                  <a:srgbClr val="D16635"/>
                </a:solidFill>
                <a:latin typeface="DejaVu Sans"/>
                <a:ea typeface="DejaVu Sans"/>
                <a:cs typeface="DejaVu Sans"/>
              </a:rPr>
              <a:t>04</a:t>
            </a:r>
          </a:p>
        </p:txBody>
      </p:sp>
      <p:sp>
        <p:nvSpPr>
          <p:cNvPr id="15" name="">
            <a:extLst xmlns:a="http://schemas.openxmlformats.org/drawingml/2006/main">
              <a:ext uri="{FF2B5EF4-FFF2-40B4-BE49-F238E27FC236}">
                <a16:creationId xmlns:a16="http://schemas.microsoft.com/office/drawing/2014/main" id="{ABFB8101-3C76-45A9-81D7-6C571495ADB1}"/>
              </a:ext>
            </a:extLst>
          </p:cNvPr>
          <p:cNvSpPr>
            <a:spLocks xmlns:a="http://schemas.openxmlformats.org/drawingml/2006/main" noGrp="1"/>
          </p:cNvSpPr>
          <p:nvPr/>
        </p:nvSpPr>
        <p:spPr>
          <a:xfrm xmlns:a="http://schemas.openxmlformats.org/drawingml/2006/main">
            <a:off x="1276350" y="4857750"/>
            <a:ext cx="10229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12B3C"/>
                </a:solidFill>
                <a:latin typeface="DejaVu Sans"/>
                <a:ea typeface="DejaVu Sans"/>
                <a:cs typeface="DejaVu Sans"/>
              </a:defRPr>
            </a:pPr>
            <a:r>
              <a:rPr sz="1950" b="0">
                <a:solidFill>
                  <a:srgbClr val="112B3C"/>
                </a:solidFill>
                <a:latin typeface="DejaVu Sans"/>
                <a:ea typeface="DejaVu Sans"/>
                <a:cs typeface="DejaVu Sans"/>
              </a:rPr>
              <a:t>Filter to Falcon 9; reset flight numbers and export dataset_part_1.csv.</a:t>
            </a:r>
          </a:p>
        </p:txBody>
      </p:sp>
    </p:spTree>
    <p:extLst>
      <p:ext uri="{BB962C8B-B14F-4D97-AF65-F5344CB8AC3E}">
        <p14:creationId xmlns:p14="http://schemas.microsoft.com/office/powerpoint/2010/main" val="6761137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5755A9C-9CC0-43E9-805E-AF41DD8605DA}"/>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METHODOLOGY / COLLECTION</a:t>
            </a:r>
          </a:p>
        </p:txBody>
      </p:sp>
      <p:sp>
        <p:nvSpPr>
          <p:cNvPr id="2" name="">
            <a:extLst xmlns:a="http://schemas.openxmlformats.org/drawingml/2006/main">
              <a:ext uri="{FF2B5EF4-FFF2-40B4-BE49-F238E27FC236}">
                <a16:creationId xmlns:a16="http://schemas.microsoft.com/office/drawing/2014/main" id="{40F24609-45E5-43ED-B0DB-28EF5AA5C900}"/>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Web scraping provides a second historical view</a:t>
            </a:r>
          </a:p>
        </p:txBody>
      </p:sp>
      <p:sp>
        <p:nvSpPr>
          <p:cNvPr id="3" name="">
            <a:extLst xmlns:a="http://schemas.openxmlformats.org/drawingml/2006/main">
              <a:ext uri="{FF2B5EF4-FFF2-40B4-BE49-F238E27FC236}">
                <a16:creationId xmlns:a16="http://schemas.microsoft.com/office/drawing/2014/main" id="{CFDCFA34-F23E-403F-82B9-768FDDE1894C}"/>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A fixed Wikipedia revision makes the intended source reproducible.</a:t>
            </a:r>
          </a:p>
        </p:txBody>
      </p:sp>
      <p:sp>
        <p:nvSpPr>
          <p:cNvPr id="4" name="">
            <a:extLst xmlns:a="http://schemas.openxmlformats.org/drawingml/2006/main">
              <a:ext uri="{FF2B5EF4-FFF2-40B4-BE49-F238E27FC236}">
                <a16:creationId xmlns:a16="http://schemas.microsoft.com/office/drawing/2014/main" id="{FA3088BD-DC38-4DD0-AD7A-2DD0C68FB0DB}"/>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765790b76bcd4702"/>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E376B58B-E72A-41F2-9497-AB8EDE80F7D6}"/>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FF9AD4B-6A07-4F1C-A02A-A6B6E1BEDBE4}"/>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4235DCA0-D6EC-4FD8-8D64-0F553C5D918D}"/>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06</a:t>
            </a:r>
          </a:p>
        </p:txBody>
      </p:sp>
      <p:sp>
        <p:nvSpPr>
          <p:cNvPr id="8" name="">
            <a:extLst xmlns:a="http://schemas.openxmlformats.org/drawingml/2006/main">
              <a:ext uri="{FF2B5EF4-FFF2-40B4-BE49-F238E27FC236}">
                <a16:creationId xmlns:a16="http://schemas.microsoft.com/office/drawing/2014/main" id="{A3D7555F-8669-4A03-9B88-A28ED26E4172}"/>
              </a:ext>
            </a:extLst>
          </p:cNvPr>
          <p:cNvSpPr>
            <a:spLocks xmlns:a="http://schemas.openxmlformats.org/drawingml/2006/main" noGrp="1"/>
          </p:cNvSpPr>
          <p:nvPr/>
        </p:nvSpPr>
        <p:spPr>
          <a:xfrm xmlns:a="http://schemas.openxmlformats.org/drawingml/2006/main">
            <a:off x="552450" y="22383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D16635"/>
                </a:solidFill>
                <a:latin typeface="DejaVu Sans"/>
                <a:ea typeface="DejaVu Sans"/>
                <a:cs typeface="DejaVu Sans"/>
              </a:defRPr>
            </a:pPr>
            <a:r>
              <a:rPr sz="1950" b="1">
                <a:solidFill>
                  <a:srgbClr val="D16635"/>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662943FC-5C38-4EA9-975D-FD9FD28F6A59}"/>
              </a:ext>
            </a:extLst>
          </p:cNvPr>
          <p:cNvSpPr>
            <a:spLocks xmlns:a="http://schemas.openxmlformats.org/drawingml/2006/main" noGrp="1"/>
          </p:cNvSpPr>
          <p:nvPr/>
        </p:nvSpPr>
        <p:spPr>
          <a:xfrm xmlns:a="http://schemas.openxmlformats.org/drawingml/2006/main">
            <a:off x="1276350" y="2238375"/>
            <a:ext cx="1022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12B3C"/>
                </a:solidFill>
                <a:latin typeface="DejaVu Sans"/>
                <a:ea typeface="DejaVu Sans"/>
                <a:cs typeface="DejaVu Sans"/>
              </a:defRPr>
            </a:pPr>
            <a:r>
              <a:rPr sz="1950" b="0">
                <a:solidFill>
                  <a:srgbClr val="112B3C"/>
                </a:solidFill>
                <a:latin typeface="DejaVu Sans"/>
                <a:ea typeface="DejaVu Sans"/>
                <a:cs typeface="DejaVu Sans"/>
              </a:rPr>
              <a:t>Fetch the Falcon 9 / Falcon Heavy launch-list HTML with requests.</a:t>
            </a:r>
          </a:p>
        </p:txBody>
      </p:sp>
      <p:sp>
        <p:nvSpPr>
          <p:cNvPr id="10" name="">
            <a:extLst xmlns:a="http://schemas.openxmlformats.org/drawingml/2006/main">
              <a:ext uri="{FF2B5EF4-FFF2-40B4-BE49-F238E27FC236}">
                <a16:creationId xmlns:a16="http://schemas.microsoft.com/office/drawing/2014/main" id="{2C3EC1BD-5311-4102-B4CB-A4C57E9A94C6}"/>
              </a:ext>
            </a:extLst>
          </p:cNvPr>
          <p:cNvSpPr>
            <a:spLocks xmlns:a="http://schemas.openxmlformats.org/drawingml/2006/main" noGrp="1"/>
          </p:cNvSpPr>
          <p:nvPr/>
        </p:nvSpPr>
        <p:spPr>
          <a:xfrm xmlns:a="http://schemas.openxmlformats.org/drawingml/2006/main">
            <a:off x="552450" y="30956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D16635"/>
                </a:solidFill>
                <a:latin typeface="DejaVu Sans"/>
                <a:ea typeface="DejaVu Sans"/>
                <a:cs typeface="DejaVu Sans"/>
              </a:defRPr>
            </a:pPr>
            <a:r>
              <a:rPr sz="1950" b="1">
                <a:solidFill>
                  <a:srgbClr val="D16635"/>
                </a:solidFill>
                <a:latin typeface="DejaVu Sans"/>
                <a:ea typeface="DejaVu Sans"/>
                <a:cs typeface="DejaVu Sans"/>
              </a:rPr>
              <a:t>02</a:t>
            </a:r>
          </a:p>
        </p:txBody>
      </p:sp>
      <p:sp>
        <p:nvSpPr>
          <p:cNvPr id="11" name="">
            <a:extLst xmlns:a="http://schemas.openxmlformats.org/drawingml/2006/main">
              <a:ext uri="{FF2B5EF4-FFF2-40B4-BE49-F238E27FC236}">
                <a16:creationId xmlns:a16="http://schemas.microsoft.com/office/drawing/2014/main" id="{F4A6B172-F811-46F3-BB09-ABF5AA3F4BCF}"/>
              </a:ext>
            </a:extLst>
          </p:cNvPr>
          <p:cNvSpPr>
            <a:spLocks xmlns:a="http://schemas.openxmlformats.org/drawingml/2006/main" noGrp="1"/>
          </p:cNvSpPr>
          <p:nvPr/>
        </p:nvSpPr>
        <p:spPr>
          <a:xfrm xmlns:a="http://schemas.openxmlformats.org/drawingml/2006/main">
            <a:off x="1276350" y="3095625"/>
            <a:ext cx="1022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12B3C"/>
                </a:solidFill>
                <a:latin typeface="DejaVu Sans"/>
                <a:ea typeface="DejaVu Sans"/>
                <a:cs typeface="DejaVu Sans"/>
              </a:defRPr>
            </a:pPr>
            <a:r>
              <a:rPr sz="1950" b="0">
                <a:solidFill>
                  <a:srgbClr val="112B3C"/>
                </a:solidFill>
                <a:latin typeface="DejaVu Sans"/>
                <a:ea typeface="DejaVu Sans"/>
                <a:cs typeface="DejaVu Sans"/>
              </a:rPr>
              <a:t>Use BeautifulSoup to identify launch tables and clean their headers.</a:t>
            </a:r>
          </a:p>
        </p:txBody>
      </p:sp>
      <p:sp>
        <p:nvSpPr>
          <p:cNvPr id="12" name="">
            <a:extLst xmlns:a="http://schemas.openxmlformats.org/drawingml/2006/main">
              <a:ext uri="{FF2B5EF4-FFF2-40B4-BE49-F238E27FC236}">
                <a16:creationId xmlns:a16="http://schemas.microsoft.com/office/drawing/2014/main" id="{C1F11733-8C4E-4F9A-AB4D-52839444FC6B}"/>
              </a:ext>
            </a:extLst>
          </p:cNvPr>
          <p:cNvSpPr>
            <a:spLocks xmlns:a="http://schemas.openxmlformats.org/drawingml/2006/main" noGrp="1"/>
          </p:cNvSpPr>
          <p:nvPr/>
        </p:nvSpPr>
        <p:spPr>
          <a:xfrm xmlns:a="http://schemas.openxmlformats.org/drawingml/2006/main">
            <a:off x="552450" y="39528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D16635"/>
                </a:solidFill>
                <a:latin typeface="DejaVu Sans"/>
                <a:ea typeface="DejaVu Sans"/>
                <a:cs typeface="DejaVu Sans"/>
              </a:defRPr>
            </a:pPr>
            <a:r>
              <a:rPr sz="1950" b="1">
                <a:solidFill>
                  <a:srgbClr val="D16635"/>
                </a:solidFill>
                <a:latin typeface="DejaVu Sans"/>
                <a:ea typeface="DejaVu Sans"/>
                <a:cs typeface="DejaVu Sans"/>
              </a:rPr>
              <a:t>03</a:t>
            </a:r>
          </a:p>
        </p:txBody>
      </p:sp>
      <p:sp>
        <p:nvSpPr>
          <p:cNvPr id="13" name="">
            <a:extLst xmlns:a="http://schemas.openxmlformats.org/drawingml/2006/main">
              <a:ext uri="{FF2B5EF4-FFF2-40B4-BE49-F238E27FC236}">
                <a16:creationId xmlns:a16="http://schemas.microsoft.com/office/drawing/2014/main" id="{7A677814-FCDC-440A-9F27-D86AFB84BDEB}"/>
              </a:ext>
            </a:extLst>
          </p:cNvPr>
          <p:cNvSpPr>
            <a:spLocks xmlns:a="http://schemas.openxmlformats.org/drawingml/2006/main" noGrp="1"/>
          </p:cNvSpPr>
          <p:nvPr/>
        </p:nvSpPr>
        <p:spPr>
          <a:xfrm xmlns:a="http://schemas.openxmlformats.org/drawingml/2006/main">
            <a:off x="1276350" y="3952875"/>
            <a:ext cx="1022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12B3C"/>
                </a:solidFill>
                <a:latin typeface="DejaVu Sans"/>
                <a:ea typeface="DejaVu Sans"/>
                <a:cs typeface="DejaVu Sans"/>
              </a:defRPr>
            </a:pPr>
            <a:r>
              <a:rPr sz="1950" b="0">
                <a:solidFill>
                  <a:srgbClr val="112B3C"/>
                </a:solidFill>
                <a:latin typeface="DejaVu Sans"/>
                <a:ea typeface="DejaVu Sans"/>
                <a:cs typeface="DejaVu Sans"/>
              </a:rPr>
              <a:t>Parse date, booster, payload, customer, site and outcome fields.</a:t>
            </a:r>
          </a:p>
        </p:txBody>
      </p:sp>
      <p:sp>
        <p:nvSpPr>
          <p:cNvPr id="14" name="">
            <a:extLst xmlns:a="http://schemas.openxmlformats.org/drawingml/2006/main">
              <a:ext uri="{FF2B5EF4-FFF2-40B4-BE49-F238E27FC236}">
                <a16:creationId xmlns:a16="http://schemas.microsoft.com/office/drawing/2014/main" id="{01EB87C9-3A5C-4CD4-A3C1-112FF93BA79D}"/>
              </a:ext>
            </a:extLst>
          </p:cNvPr>
          <p:cNvSpPr>
            <a:spLocks xmlns:a="http://schemas.openxmlformats.org/drawingml/2006/main" noGrp="1"/>
          </p:cNvSpPr>
          <p:nvPr/>
        </p:nvSpPr>
        <p:spPr>
          <a:xfrm xmlns:a="http://schemas.openxmlformats.org/drawingml/2006/main">
            <a:off x="552450" y="48101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D16635"/>
                </a:solidFill>
                <a:latin typeface="DejaVu Sans"/>
                <a:ea typeface="DejaVu Sans"/>
                <a:cs typeface="DejaVu Sans"/>
              </a:defRPr>
            </a:pPr>
            <a:r>
              <a:rPr sz="1950" b="1">
                <a:solidFill>
                  <a:srgbClr val="D16635"/>
                </a:solidFill>
                <a:latin typeface="DejaVu Sans"/>
                <a:ea typeface="DejaVu Sans"/>
                <a:cs typeface="DejaVu Sans"/>
              </a:rPr>
              <a:t>04</a:t>
            </a:r>
          </a:p>
        </p:txBody>
      </p:sp>
      <p:sp>
        <p:nvSpPr>
          <p:cNvPr id="15" name="">
            <a:extLst xmlns:a="http://schemas.openxmlformats.org/drawingml/2006/main">
              <a:ext uri="{FF2B5EF4-FFF2-40B4-BE49-F238E27FC236}">
                <a16:creationId xmlns:a16="http://schemas.microsoft.com/office/drawing/2014/main" id="{8002ED8C-99B5-4023-A49D-ACCFA74ED85B}"/>
              </a:ext>
            </a:extLst>
          </p:cNvPr>
          <p:cNvSpPr>
            <a:spLocks xmlns:a="http://schemas.openxmlformats.org/drawingml/2006/main" noGrp="1"/>
          </p:cNvSpPr>
          <p:nvPr/>
        </p:nvSpPr>
        <p:spPr>
          <a:xfrm xmlns:a="http://schemas.openxmlformats.org/drawingml/2006/main">
            <a:off x="1276350" y="4810125"/>
            <a:ext cx="1022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12B3C"/>
                </a:solidFill>
                <a:latin typeface="DejaVu Sans"/>
                <a:ea typeface="DejaVu Sans"/>
                <a:cs typeface="DejaVu Sans"/>
              </a:defRPr>
            </a:pPr>
            <a:r>
              <a:rPr sz="1950" b="0">
                <a:solidFill>
                  <a:srgbClr val="112B3C"/>
                </a:solidFill>
                <a:latin typeface="DejaVu Sans"/>
                <a:ea typeface="DejaVu Sans"/>
                <a:cs typeface="DejaVu Sans"/>
              </a:rPr>
              <a:t>Export spacex_web_scraped.csv for tabular inspection.</a:t>
            </a:r>
          </a:p>
        </p:txBody>
      </p:sp>
    </p:spTree>
    <p:extLst>
      <p:ext uri="{BB962C8B-B14F-4D97-AF65-F5344CB8AC3E}">
        <p14:creationId xmlns:p14="http://schemas.microsoft.com/office/powerpoint/2010/main" val="18529946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902E27-26F5-4B31-90CF-2EBFACB835D6}"/>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METHODOLOGY / WRANGLING</a:t>
            </a:r>
          </a:p>
        </p:txBody>
      </p:sp>
      <p:sp>
        <p:nvSpPr>
          <p:cNvPr id="2" name="">
            <a:extLst xmlns:a="http://schemas.openxmlformats.org/drawingml/2006/main">
              <a:ext uri="{FF2B5EF4-FFF2-40B4-BE49-F238E27FC236}">
                <a16:creationId xmlns:a16="http://schemas.microsoft.com/office/drawing/2014/main" id="{FAD588AE-A31E-4440-BBA1-B071CD111150}"/>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The target definition controls the interpretation</a:t>
            </a:r>
          </a:p>
        </p:txBody>
      </p:sp>
      <p:sp>
        <p:nvSpPr>
          <p:cNvPr id="3" name="">
            <a:extLst xmlns:a="http://schemas.openxmlformats.org/drawingml/2006/main">
              <a:ext uri="{FF2B5EF4-FFF2-40B4-BE49-F238E27FC236}">
                <a16:creationId xmlns:a16="http://schemas.microsoft.com/office/drawing/2014/main" id="{F31CCA51-3B40-4F29-B171-F861037ACB7E}"/>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Mean-impute payload; retain meaningful missing landing-pad identifiers.</a:t>
            </a:r>
          </a:p>
        </p:txBody>
      </p:sp>
      <p:sp>
        <p:nvSpPr>
          <p:cNvPr id="4" name="">
            <a:extLst xmlns:a="http://schemas.openxmlformats.org/drawingml/2006/main">
              <a:ext uri="{FF2B5EF4-FFF2-40B4-BE49-F238E27FC236}">
                <a16:creationId xmlns:a16="http://schemas.microsoft.com/office/drawing/2014/main" id="{DDCDD78E-F273-455C-B6E3-F80A27055BA8}"/>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d153d2cb1b2546a9"/>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6E518300-EEEB-4285-8F9B-201C82032B1A}"/>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BCCE35-E96D-4800-BC2A-3681272742E9}"/>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EDA / wrangling notebooks; IBM dataset_part_2.csv (n=90).</a:t>
            </a:r>
          </a:p>
        </p:txBody>
      </p:sp>
      <p:sp>
        <p:nvSpPr>
          <p:cNvPr id="7" name="">
            <a:extLst xmlns:a="http://schemas.openxmlformats.org/drawingml/2006/main">
              <a:ext uri="{FF2B5EF4-FFF2-40B4-BE49-F238E27FC236}">
                <a16:creationId xmlns:a16="http://schemas.microsoft.com/office/drawing/2014/main" id="{0FAA0435-D2D4-4B7A-8239-4FC8EEAA452A}"/>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07</a:t>
            </a:r>
          </a:p>
        </p:txBody>
      </p:sp>
      <p:graphicFrame>
        <p:nvGraphicFramePr>
          <p:cNvPr id="18" name=""/>
          <p:cNvGraphicFramePr/>
          <p:nvPr/>
        </p:nvGraphicFramePr>
        <p:xfrm>
          <a:off xmlns:a="http://schemas.openxmlformats.org/drawingml/2006/main" x="552450" y="2190750"/>
          <a:ext xmlns:a="http://schemas.openxmlformats.org/drawingml/2006/main" cx="11087100" cy="3000375"/>
        </p:xfrm>
        <a:graphic xmlns:a="http://schemas.openxmlformats.org/drawingml/2006/main">
          <a:graphicData uri="http://schemas.openxmlformats.org/drawingml/2006/table">
            <a:tbl>
              <a:tblPr/>
              <a:tblGrid>
                <a:gridCol w="6286500"/>
                <a:gridCol w="2609850"/>
                <a:gridCol w="2190750"/>
              </a:tblGrid>
              <a:tr h="600075">
                <a:tc>
                  <a:txBody>
                    <a:bodyPr/>
                    <a:lstStyle/>
                    <a:p>
                      <a:r>
                        <a:rPr sz="1725" b="1">
                          <a:solidFill>
                            <a:srgbClr val="FFFFFF"/>
                          </a:solidFill>
                          <a:latin typeface="DejaVu Sans"/>
                          <a:ea typeface="DejaVu Sans"/>
                          <a:cs typeface="DejaVu Sans"/>
                        </a:rPr>
                        <a:t>Recorded landing outcome</a:t>
                      </a:r>
                    </a:p>
                  </a:txBody>
                  <a:tcPr marL="91440" marR="91440" marT="45720" marB="45720">
                    <a:solidFill>
                      <a:srgbClr val="112B3C"/>
                    </a:solidFill>
                  </a:tcPr>
                </a:tc>
                <a:tc>
                  <a:txBody>
                    <a:bodyPr/>
                    <a:lstStyle/>
                    <a:p>
                      <a:r>
                        <a:rPr sz="1725" b="1">
                          <a:solidFill>
                            <a:srgbClr val="FFFFFF"/>
                          </a:solidFill>
                          <a:latin typeface="DejaVu Sans"/>
                          <a:ea typeface="DejaVu Sans"/>
                          <a:cs typeface="DejaVu Sans"/>
                        </a:rPr>
                        <a:t>Records</a:t>
                      </a:r>
                    </a:p>
                  </a:txBody>
                  <a:tcPr marL="91440" marR="91440" marT="45720" marB="45720">
                    <a:solidFill>
                      <a:srgbClr val="112B3C"/>
                    </a:solidFill>
                  </a:tcPr>
                </a:tc>
                <a:tc>
                  <a:txBody>
                    <a:bodyPr/>
                    <a:lstStyle/>
                    <a:p>
                      <a:r>
                        <a:rPr sz="1725" b="1">
                          <a:solidFill>
                            <a:srgbClr val="FFFFFF"/>
                          </a:solidFill>
                          <a:latin typeface="DejaVu Sans"/>
                          <a:ea typeface="DejaVu Sans"/>
                          <a:cs typeface="DejaVu Sans"/>
                        </a:rPr>
                        <a:t>Class</a:t>
                      </a:r>
                    </a:p>
                  </a:txBody>
                  <a:tcPr marL="91440" marR="91440" marT="45720" marB="45720">
                    <a:solidFill>
                      <a:srgbClr val="112B3C"/>
                    </a:solidFill>
                  </a:tcPr>
                </a:tc>
              </a:tr>
              <a:tr h="600075">
                <a:tc>
                  <a:txBody>
                    <a:bodyPr/>
                    <a:lstStyle/>
                    <a:p>
                      <a:r>
                        <a:rPr sz="1725" b="0">
                          <a:solidFill>
                            <a:srgbClr val="112B3C"/>
                          </a:solidFill>
                          <a:latin typeface="DejaVu Sans"/>
                          <a:ea typeface="DejaVu Sans"/>
                          <a:cs typeface="DejaVu Sans"/>
                        </a:rPr>
                        <a:t>True ASDS / True RTLS / True Ocean</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41 + 14 + 5 = 60</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1</a:t>
                      </a:r>
                    </a:p>
                  </a:txBody>
                  <a:tcPr marL="91440" marR="91440" marT="45720" marB="45720">
                    <a:solidFill>
                      <a:srgbClr val="FFFFFF"/>
                    </a:solidFill>
                  </a:tcPr>
                </a:tc>
              </a:tr>
              <a:tr h="600075">
                <a:tc>
                  <a:txBody>
                    <a:bodyPr/>
                    <a:lstStyle/>
                    <a:p>
                      <a:r>
                        <a:rPr sz="1725" b="0">
                          <a:solidFill>
                            <a:srgbClr val="112B3C"/>
                          </a:solidFill>
                          <a:latin typeface="DejaVu Sans"/>
                          <a:ea typeface="DejaVu Sans"/>
                          <a:cs typeface="DejaVu Sans"/>
                        </a:rPr>
                        <a:t>False or unknown / no attempt</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30</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0</a:t>
                      </a:r>
                    </a:p>
                  </a:txBody>
                  <a:tcPr marL="91440" marR="91440" marT="45720" marB="45720">
                    <a:solidFill>
                      <a:srgbClr val="F3F6F8"/>
                    </a:solidFill>
                  </a:tcPr>
                </a:tc>
              </a:tr>
              <a:tr h="600075">
                <a:tc>
                  <a:txBody>
                    <a:bodyPr/>
                    <a:lstStyle/>
                    <a:p>
                      <a:r>
                        <a:rPr sz="1725" b="0">
                          <a:solidFill>
                            <a:srgbClr val="112B3C"/>
                          </a:solidFill>
                          <a:latin typeface="DejaVu Sans"/>
                          <a:ea typeface="DejaVu Sans"/>
                          <a:cs typeface="DejaVu Sans"/>
                        </a:rPr>
                        <a:t>LandingPad is missing</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26 / 90</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Retain</a:t>
                      </a:r>
                    </a:p>
                  </a:txBody>
                  <a:tcPr marL="91440" marR="91440" marT="45720" marB="45720">
                    <a:solidFill>
                      <a:srgbClr val="FFFFFF"/>
                    </a:solidFill>
                  </a:tcPr>
                </a:tc>
              </a:tr>
              <a:tr h="600075">
                <a:tc>
                  <a:txBody>
                    <a:bodyPr/>
                    <a:lstStyle/>
                    <a:p>
                      <a:r>
                        <a:rPr sz="1725" b="0">
                          <a:solidFill>
                            <a:srgbClr val="112B3C"/>
                          </a:solidFill>
                          <a:latin typeface="DejaVu Sans"/>
                          <a:ea typeface="DejaVu Sans"/>
                          <a:cs typeface="DejaVu Sans"/>
                        </a:rPr>
                        <a:t>Payload mean used for imputation</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6,104.96 kg</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Numeric input</a:t>
                      </a:r>
                    </a:p>
                  </a:txBody>
                  <a:tcPr marL="91440" marR="91440" marT="45720" marB="45720">
                    <a:solidFill>
                      <a:srgbClr val="F3F6F8"/>
                    </a:solidFill>
                  </a:tcPr>
                </a:tc>
              </a:tr>
            </a:tbl>
          </a:graphicData>
        </a:graphic>
      </p:graphicFrame>
      <p:sp>
        <p:nvSpPr>
          <p:cNvPr id="9" name="">
            <a:extLst xmlns:a="http://schemas.openxmlformats.org/drawingml/2006/main">
              <a:ext uri="{FF2B5EF4-FFF2-40B4-BE49-F238E27FC236}">
                <a16:creationId xmlns:a16="http://schemas.microsoft.com/office/drawing/2014/main" id="{03D6FC8D-89C3-421F-91E3-B747E3AA8707}"/>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05A0EF2-A36B-4C9C-99C7-D65A1929FA6A}"/>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Five Class 1 records are ocean landings: the label is broader than recovered boosters.</a:t>
            </a:r>
          </a:p>
        </p:txBody>
      </p:sp>
    </p:spTree>
    <p:extLst>
      <p:ext uri="{BB962C8B-B14F-4D97-AF65-F5344CB8AC3E}">
        <p14:creationId xmlns:p14="http://schemas.microsoft.com/office/powerpoint/2010/main" val="5846038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5C8DA8-7D29-4AE0-A597-022ECEF190D2}"/>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METHODOLOGY / ANALYTICS</a:t>
            </a:r>
          </a:p>
        </p:txBody>
      </p:sp>
      <p:sp>
        <p:nvSpPr>
          <p:cNvPr id="2" name="">
            <a:extLst xmlns:a="http://schemas.openxmlformats.org/drawingml/2006/main">
              <a:ext uri="{FF2B5EF4-FFF2-40B4-BE49-F238E27FC236}">
                <a16:creationId xmlns:a16="http://schemas.microsoft.com/office/drawing/2014/main" id="{A1FA1FC2-54FE-4964-BF33-83580E6D179A}"/>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Use each analytical tool for a distinct question</a:t>
            </a:r>
          </a:p>
        </p:txBody>
      </p:sp>
      <p:sp>
        <p:nvSpPr>
          <p:cNvPr id="3" name="">
            <a:extLst xmlns:a="http://schemas.openxmlformats.org/drawingml/2006/main">
              <a:ext uri="{FF2B5EF4-FFF2-40B4-BE49-F238E27FC236}">
                <a16:creationId xmlns:a16="http://schemas.microsoft.com/office/drawing/2014/main" id="{0F3E6A6A-6A79-4BDD-BECE-A445CE663476}"/>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Combine quantitative comparisons with interactive geographic and mission views.</a:t>
            </a:r>
          </a:p>
        </p:txBody>
      </p:sp>
      <p:sp>
        <p:nvSpPr>
          <p:cNvPr id="4" name="">
            <a:extLst xmlns:a="http://schemas.openxmlformats.org/drawingml/2006/main">
              <a:ext uri="{FF2B5EF4-FFF2-40B4-BE49-F238E27FC236}">
                <a16:creationId xmlns:a16="http://schemas.microsoft.com/office/drawing/2014/main" id="{5682E2E6-3BEF-4DF1-A0C1-30B2587F2145}"/>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510314b00b1143ea"/>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BC845EE3-AA70-43D1-8286-8465A694D921}"/>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6D2238-33CE-4FAD-AB9D-1502D3CDE9FF}"/>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814D12FD-620E-4062-A341-41FFE5C00F03}"/>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08</a:t>
            </a:r>
          </a:p>
        </p:txBody>
      </p:sp>
      <p:graphicFrame>
        <p:nvGraphicFramePr>
          <p:cNvPr id="16" name=""/>
          <p:cNvGraphicFramePr/>
          <p:nvPr/>
        </p:nvGraphicFramePr>
        <p:xfrm>
          <a:off xmlns:a="http://schemas.openxmlformats.org/drawingml/2006/main" x="552450" y="2219325"/>
          <a:ext xmlns:a="http://schemas.openxmlformats.org/drawingml/2006/main" cx="11087100" cy="3409950"/>
        </p:xfrm>
        <a:graphic xmlns:a="http://schemas.openxmlformats.org/drawingml/2006/main">
          <a:graphicData uri="http://schemas.openxmlformats.org/drawingml/2006/table">
            <a:tbl>
              <a:tblPr/>
              <a:tblGrid>
                <a:gridCol w="2333625"/>
                <a:gridCol w="4286250"/>
                <a:gridCol w="4467225"/>
              </a:tblGrid>
              <a:tr h="681990">
                <a:tc>
                  <a:txBody>
                    <a:bodyPr/>
                    <a:lstStyle/>
                    <a:p>
                      <a:r>
                        <a:rPr sz="1650" b="1">
                          <a:solidFill>
                            <a:srgbClr val="FFFFFF"/>
                          </a:solidFill>
                          <a:latin typeface="DejaVu Sans"/>
                          <a:ea typeface="DejaVu Sans"/>
                          <a:cs typeface="DejaVu Sans"/>
                        </a:rPr>
                        <a:t>Tool</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Method</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Question</a:t>
                      </a:r>
                    </a:p>
                  </a:txBody>
                  <a:tcPr marL="91440" marR="91440" marT="45720" marB="45720">
                    <a:solidFill>
                      <a:srgbClr val="112B3C"/>
                    </a:solidFill>
                  </a:tcPr>
                </a:tc>
              </a:tr>
              <a:tr h="681990">
                <a:tc>
                  <a:txBody>
                    <a:bodyPr/>
                    <a:lstStyle/>
                    <a:p>
                      <a:r>
                        <a:rPr sz="1650" b="0">
                          <a:solidFill>
                            <a:srgbClr val="112B3C"/>
                          </a:solidFill>
                          <a:latin typeface="DejaVu Sans"/>
                          <a:ea typeface="DejaVu Sans"/>
                          <a:cs typeface="DejaVu Sans"/>
                        </a:rPr>
                        <a:t>Python / pandas</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Group by site, orbit, year; visualize</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Where do Class 1 rates differ?</a:t>
                      </a:r>
                    </a:p>
                  </a:txBody>
                  <a:tcPr marL="91440" marR="91440" marT="45720" marB="45720">
                    <a:solidFill>
                      <a:srgbClr val="FFFFFF"/>
                    </a:solidFill>
                  </a:tcPr>
                </a:tc>
              </a:tr>
              <a:tr h="681990">
                <a:tc>
                  <a:txBody>
                    <a:bodyPr/>
                    <a:lstStyle/>
                    <a:p>
                      <a:r>
                        <a:rPr sz="1650" b="0">
                          <a:solidFill>
                            <a:srgbClr val="112B3C"/>
                          </a:solidFill>
                          <a:latin typeface="DejaVu Sans"/>
                          <a:ea typeface="DejaVu Sans"/>
                          <a:cs typeface="DejaVu Sans"/>
                        </a:rPr>
                        <a:t>SQLite</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Filter, aggregate, rank and compare</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What do detailed launch records show?</a:t>
                      </a:r>
                    </a:p>
                  </a:txBody>
                  <a:tcPr marL="91440" marR="91440" marT="45720" marB="45720">
                    <a:solidFill>
                      <a:srgbClr val="F3F6F8"/>
                    </a:solidFill>
                  </a:tcPr>
                </a:tc>
              </a:tr>
              <a:tr h="681990">
                <a:tc>
                  <a:txBody>
                    <a:bodyPr/>
                    <a:lstStyle/>
                    <a:p>
                      <a:r>
                        <a:rPr sz="1650" b="0">
                          <a:solidFill>
                            <a:srgbClr val="112B3C"/>
                          </a:solidFill>
                          <a:latin typeface="DejaVu Sans"/>
                          <a:ea typeface="DejaVu Sans"/>
                          <a:cs typeface="DejaVu Sans"/>
                        </a:rPr>
                        <a:t>Folium</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Markers, clusters, distance lines</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How are sites positioned geographically?</a:t>
                      </a:r>
                    </a:p>
                  </a:txBody>
                  <a:tcPr marL="91440" marR="91440" marT="45720" marB="45720">
                    <a:solidFill>
                      <a:srgbClr val="FFFFFF"/>
                    </a:solidFill>
                  </a:tcPr>
                </a:tc>
              </a:tr>
              <a:tr h="681990">
                <a:tc>
                  <a:txBody>
                    <a:bodyPr/>
                    <a:lstStyle/>
                    <a:p>
                      <a:r>
                        <a:rPr sz="1650" b="0">
                          <a:solidFill>
                            <a:srgbClr val="112B3C"/>
                          </a:solidFill>
                          <a:latin typeface="DejaVu Sans"/>
                          <a:ea typeface="DejaVu Sans"/>
                          <a:cs typeface="DejaVu Sans"/>
                        </a:rPr>
                        <a:t>Plotly Dash</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Site selector + payload range + callbacks</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How do filtered outcomes change?</a:t>
                      </a:r>
                    </a:p>
                  </a:txBody>
                  <a:tcPr marL="91440" marR="91440" marT="45720" marB="45720">
                    <a:solidFill>
                      <a:srgbClr val="F3F6F8"/>
                    </a:solidFill>
                  </a:tcPr>
                </a:tc>
              </a:tr>
            </a:tbl>
          </a:graphicData>
        </a:graphic>
      </p:graphicFrame>
    </p:spTree>
    <p:extLst>
      <p:ext uri="{BB962C8B-B14F-4D97-AF65-F5344CB8AC3E}">
        <p14:creationId xmlns:p14="http://schemas.microsoft.com/office/powerpoint/2010/main" val="12446003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7030941-BF72-4652-A727-55CC01D8CC4D}"/>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EDA</a:t>
            </a:r>
          </a:p>
        </p:txBody>
      </p:sp>
      <p:sp>
        <p:nvSpPr>
          <p:cNvPr id="2" name="">
            <a:extLst xmlns:a="http://schemas.openxmlformats.org/drawingml/2006/main">
              <a:ext uri="{FF2B5EF4-FFF2-40B4-BE49-F238E27FC236}">
                <a16:creationId xmlns:a16="http://schemas.microsoft.com/office/drawing/2014/main" id="{9197B7DF-E01C-4BFB-B0E0-1E49D25486CA}"/>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Payload alone does not separate the two classes</a:t>
            </a:r>
          </a:p>
        </p:txBody>
      </p:sp>
      <p:sp>
        <p:nvSpPr>
          <p:cNvPr id="3" name="">
            <a:extLst xmlns:a="http://schemas.openxmlformats.org/drawingml/2006/main">
              <a:ext uri="{FF2B5EF4-FFF2-40B4-BE49-F238E27FC236}">
                <a16:creationId xmlns:a16="http://schemas.microsoft.com/office/drawing/2014/main" id="{64A84B98-CB4F-4D3B-8C4A-6256D8A49438}"/>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Later flights include many Class 1 outcomes across a wide payload range.</a:t>
            </a:r>
          </a:p>
        </p:txBody>
      </p:sp>
      <p:sp>
        <p:nvSpPr>
          <p:cNvPr id="4" name="">
            <a:extLst xmlns:a="http://schemas.openxmlformats.org/drawingml/2006/main">
              <a:ext uri="{FF2B5EF4-FFF2-40B4-BE49-F238E27FC236}">
                <a16:creationId xmlns:a16="http://schemas.microsoft.com/office/drawing/2014/main" id="{CF0C6270-B331-4BF1-976E-D358662C275E}"/>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615767fc443a4b4a"/>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AADEAC6A-22C8-40C4-9A62-FB639E6B24B2}"/>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979D58-AF12-4AEF-91F7-3EC66D571EA9}"/>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EDA / wrangling notebooks; IBM dataset_part_2.csv (n=90).</a:t>
            </a:r>
          </a:p>
        </p:txBody>
      </p:sp>
      <p:sp>
        <p:nvSpPr>
          <p:cNvPr id="7" name="">
            <a:extLst xmlns:a="http://schemas.openxmlformats.org/drawingml/2006/main">
              <a:ext uri="{FF2B5EF4-FFF2-40B4-BE49-F238E27FC236}">
                <a16:creationId xmlns:a16="http://schemas.microsoft.com/office/drawing/2014/main" id="{7D4E5084-D06E-42EB-B6DD-0C81EFA199DE}"/>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09</a:t>
            </a:r>
          </a:p>
        </p:txBody>
      </p:sp>
      <p:sp>
        <p:nvSpPr>
          <p:cNvPr id="8" name="">
            <a:extLst xmlns:a="http://schemas.openxmlformats.org/drawingml/2006/main">
              <a:ext uri="{FF2B5EF4-FFF2-40B4-BE49-F238E27FC236}">
                <a16:creationId xmlns:a16="http://schemas.microsoft.com/office/drawing/2014/main" id="{31DA65D3-715B-4A4F-9EDC-A1767CF1CE69}"/>
              </a:ext>
            </a:extLst>
          </p:cNvPr>
          <p:cNvSpPr>
            <a:spLocks xmlns:a="http://schemas.openxmlformats.org/drawingml/2006/main" noGrp="1"/>
          </p:cNvSpPr>
          <p:nvPr/>
        </p:nvSpPr>
        <p:spPr>
          <a:xfrm xmlns:a="http://schemas.openxmlformats.org/drawingml/2006/main">
            <a:off x="552450" y="21431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16635"/>
                </a:solidFill>
                <a:latin typeface="DejaVu Sans"/>
                <a:ea typeface="DejaVu Sans"/>
                <a:cs typeface="DejaVu Sans"/>
              </a:defRPr>
            </a:pPr>
            <a:r>
              <a:rPr sz="1800" b="1">
                <a:solidFill>
                  <a:srgbClr val="D16635"/>
                </a:solidFill>
                <a:latin typeface="DejaVu Sans"/>
                <a:ea typeface="DejaVu Sans"/>
                <a:cs typeface="DejaVu Sans"/>
              </a:rPr>
              <a:t>Class 0 (n=30)</a:t>
            </a:r>
          </a:p>
        </p:txBody>
      </p:sp>
      <p:graphicFrame>
        <p:nvGraphicFramePr>
          <p:cNvPr id="22" name="Chart"/>
          <p:cNvGraphicFramePr/>
          <p:nvPr/>
        </p:nvGraphicFramePr>
        <p:xfrm>
          <a:off xmlns:a="http://schemas.openxmlformats.org/drawingml/2006/main" x="552450" y="2524125"/>
          <a:ext xmlns:a="http://schemas.openxmlformats.org/drawingml/2006/main" cx="5286375" cy="2924175"/>
        </p:xfrm>
        <a:graphic xmlns:a="http://schemas.openxmlformats.org/drawingml/2006/main">
          <a:graphicData uri="http://schemas.openxmlformats.org/drawingml/2006/chart">
            <c:chart xmlns:r="http://schemas.openxmlformats.org/officeDocument/2006/relationships" xmlns:c="http://schemas.openxmlformats.org/drawingml/2006/chart" r:id="Rd83c053abe4f453d"/>
          </a:graphicData>
        </a:graphic>
      </p:graphicFrame>
      <p:sp>
        <p:nvSpPr>
          <p:cNvPr id="10" name="">
            <a:extLst xmlns:a="http://schemas.openxmlformats.org/drawingml/2006/main">
              <a:ext uri="{FF2B5EF4-FFF2-40B4-BE49-F238E27FC236}">
                <a16:creationId xmlns:a16="http://schemas.microsoft.com/office/drawing/2014/main" id="{1757B1A3-D778-4A5D-A38B-0360BB4A9442}"/>
              </a:ext>
            </a:extLst>
          </p:cNvPr>
          <p:cNvSpPr>
            <a:spLocks xmlns:a="http://schemas.openxmlformats.org/drawingml/2006/main" noGrp="1"/>
          </p:cNvSpPr>
          <p:nvPr/>
        </p:nvSpPr>
        <p:spPr>
          <a:xfrm xmlns:a="http://schemas.openxmlformats.org/drawingml/2006/main">
            <a:off x="6257925" y="21431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6817A"/>
                </a:solidFill>
                <a:latin typeface="DejaVu Sans"/>
                <a:ea typeface="DejaVu Sans"/>
                <a:cs typeface="DejaVu Sans"/>
              </a:defRPr>
            </a:pPr>
            <a:r>
              <a:rPr sz="1800" b="1">
                <a:solidFill>
                  <a:srgbClr val="16817A"/>
                </a:solidFill>
                <a:latin typeface="DejaVu Sans"/>
                <a:ea typeface="DejaVu Sans"/>
                <a:cs typeface="DejaVu Sans"/>
              </a:rPr>
              <a:t>Class 1 (n=60)</a:t>
            </a:r>
          </a:p>
        </p:txBody>
      </p:sp>
      <p:graphicFrame>
        <p:nvGraphicFramePr>
          <p:cNvPr id="24" name="Chart"/>
          <p:cNvGraphicFramePr/>
          <p:nvPr/>
        </p:nvGraphicFramePr>
        <p:xfrm>
          <a:off xmlns:a="http://schemas.openxmlformats.org/drawingml/2006/main" x="6257925" y="2524125"/>
          <a:ext xmlns:a="http://schemas.openxmlformats.org/drawingml/2006/main" cx="5286375" cy="2924175"/>
        </p:xfrm>
        <a:graphic xmlns:a="http://schemas.openxmlformats.org/drawingml/2006/main">
          <a:graphicData uri="http://schemas.openxmlformats.org/drawingml/2006/chart">
            <c:chart xmlns:r="http://schemas.openxmlformats.org/officeDocument/2006/relationships" xmlns:c="http://schemas.openxmlformats.org/drawingml/2006/chart" r:id="R2653ce657464439a"/>
          </a:graphicData>
        </a:graphic>
      </p:graphicFrame>
      <p:sp>
        <p:nvSpPr>
          <p:cNvPr id="12" name="">
            <a:extLst xmlns:a="http://schemas.openxmlformats.org/drawingml/2006/main">
              <a:ext uri="{FF2B5EF4-FFF2-40B4-BE49-F238E27FC236}">
                <a16:creationId xmlns:a16="http://schemas.microsoft.com/office/drawing/2014/main" id="{C6FE9D35-18C8-4ADB-BCD7-1865782BAA24}"/>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76B59C3-34B0-4775-9578-FE42B92E4415}"/>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Flight number also represents time: apparent payload effects may reflect operational evolution.</a:t>
            </a:r>
          </a:p>
        </p:txBody>
      </p:sp>
    </p:spTree>
    <p:extLst>
      <p:ext uri="{BB962C8B-B14F-4D97-AF65-F5344CB8AC3E}">
        <p14:creationId xmlns:p14="http://schemas.microsoft.com/office/powerpoint/2010/main" val="76709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BC29108-994D-4E6C-83FD-38D689C881E4}"/>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EDA</a:t>
            </a:r>
          </a:p>
        </p:txBody>
      </p:sp>
      <p:sp>
        <p:nvSpPr>
          <p:cNvPr id="2" name="">
            <a:extLst xmlns:a="http://schemas.openxmlformats.org/drawingml/2006/main">
              <a:ext uri="{FF2B5EF4-FFF2-40B4-BE49-F238E27FC236}">
                <a16:creationId xmlns:a16="http://schemas.microsoft.com/office/drawing/2014/main" id="{45C75992-5A3E-4ACD-9E64-06DDAF7E2B12}"/>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Flight number by launch site</a:t>
            </a:r>
          </a:p>
        </p:txBody>
      </p:sp>
      <p:sp>
        <p:nvSpPr>
          <p:cNvPr id="3" name="">
            <a:extLst xmlns:a="http://schemas.openxmlformats.org/drawingml/2006/main">
              <a:ext uri="{FF2B5EF4-FFF2-40B4-BE49-F238E27FC236}">
                <a16:creationId xmlns:a16="http://schemas.microsoft.com/office/drawing/2014/main" id="{A3848955-1B2D-4EA3-9F11-4EB603F0CAB6}"/>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Site codes: 1 = CCAFS SLC 40; 2 = KSC LC 39A; 3 = VAFB SLC 4E.</a:t>
            </a:r>
          </a:p>
        </p:txBody>
      </p:sp>
      <p:sp>
        <p:nvSpPr>
          <p:cNvPr id="4" name="">
            <a:extLst xmlns:a="http://schemas.openxmlformats.org/drawingml/2006/main">
              <a:ext uri="{FF2B5EF4-FFF2-40B4-BE49-F238E27FC236}">
                <a16:creationId xmlns:a16="http://schemas.microsoft.com/office/drawing/2014/main" id="{8464BBC3-D102-47A5-8E08-F38AE0431DCF}"/>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37df73708b614c7a"/>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E076C312-F371-4F76-B294-E5267C13A404}"/>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00DFE88-07F5-4C9A-99C7-1371E511EF1A}"/>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EDA / wrangling notebooks; IBM dataset_part_2.csv (n=90).</a:t>
            </a:r>
          </a:p>
        </p:txBody>
      </p:sp>
      <p:sp>
        <p:nvSpPr>
          <p:cNvPr id="7" name="">
            <a:extLst xmlns:a="http://schemas.openxmlformats.org/drawingml/2006/main">
              <a:ext uri="{FF2B5EF4-FFF2-40B4-BE49-F238E27FC236}">
                <a16:creationId xmlns:a16="http://schemas.microsoft.com/office/drawing/2014/main" id="{3C1D9FDC-573D-4C06-932C-EE07A638E2CD}"/>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10</a:t>
            </a:r>
          </a:p>
        </p:txBody>
      </p:sp>
      <p:sp>
        <p:nvSpPr>
          <p:cNvPr id="8" name="">
            <a:extLst xmlns:a="http://schemas.openxmlformats.org/drawingml/2006/main">
              <a:ext uri="{FF2B5EF4-FFF2-40B4-BE49-F238E27FC236}">
                <a16:creationId xmlns:a16="http://schemas.microsoft.com/office/drawing/2014/main" id="{CFE047EE-7C25-4D0D-9245-B410EB9F376B}"/>
              </a:ext>
            </a:extLst>
          </p:cNvPr>
          <p:cNvSpPr>
            <a:spLocks xmlns:a="http://schemas.openxmlformats.org/drawingml/2006/main" noGrp="1"/>
          </p:cNvSpPr>
          <p:nvPr/>
        </p:nvSpPr>
        <p:spPr>
          <a:xfrm xmlns:a="http://schemas.openxmlformats.org/drawingml/2006/main">
            <a:off x="552450" y="21431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16635"/>
                </a:solidFill>
                <a:latin typeface="DejaVu Sans"/>
                <a:ea typeface="DejaVu Sans"/>
                <a:cs typeface="DejaVu Sans"/>
              </a:defRPr>
            </a:pPr>
            <a:r>
              <a:rPr sz="1800" b="1">
                <a:solidFill>
                  <a:srgbClr val="D16635"/>
                </a:solidFill>
                <a:latin typeface="DejaVu Sans"/>
                <a:ea typeface="DejaVu Sans"/>
                <a:cs typeface="DejaVu Sans"/>
              </a:rPr>
              <a:t>Class 0 (n=30)</a:t>
            </a:r>
          </a:p>
        </p:txBody>
      </p:sp>
      <p:graphicFrame>
        <p:nvGraphicFramePr>
          <p:cNvPr id="22" name="Chart"/>
          <p:cNvGraphicFramePr/>
          <p:nvPr/>
        </p:nvGraphicFramePr>
        <p:xfrm>
          <a:off xmlns:a="http://schemas.openxmlformats.org/drawingml/2006/main" x="552450" y="2524125"/>
          <a:ext xmlns:a="http://schemas.openxmlformats.org/drawingml/2006/main" cx="5286375" cy="2924175"/>
        </p:xfrm>
        <a:graphic xmlns:a="http://schemas.openxmlformats.org/drawingml/2006/main">
          <a:graphicData uri="http://schemas.openxmlformats.org/drawingml/2006/chart">
            <c:chart xmlns:r="http://schemas.openxmlformats.org/officeDocument/2006/relationships" xmlns:c="http://schemas.openxmlformats.org/drawingml/2006/chart" r:id="R80d663475c5d406d"/>
          </a:graphicData>
        </a:graphic>
      </p:graphicFrame>
      <p:sp>
        <p:nvSpPr>
          <p:cNvPr id="10" name="">
            <a:extLst xmlns:a="http://schemas.openxmlformats.org/drawingml/2006/main">
              <a:ext uri="{FF2B5EF4-FFF2-40B4-BE49-F238E27FC236}">
                <a16:creationId xmlns:a16="http://schemas.microsoft.com/office/drawing/2014/main" id="{7D21A8B5-3BDA-45FD-BBB0-A37570B6BEB1}"/>
              </a:ext>
            </a:extLst>
          </p:cNvPr>
          <p:cNvSpPr>
            <a:spLocks xmlns:a="http://schemas.openxmlformats.org/drawingml/2006/main" noGrp="1"/>
          </p:cNvSpPr>
          <p:nvPr/>
        </p:nvSpPr>
        <p:spPr>
          <a:xfrm xmlns:a="http://schemas.openxmlformats.org/drawingml/2006/main">
            <a:off x="6257925" y="21431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6817A"/>
                </a:solidFill>
                <a:latin typeface="DejaVu Sans"/>
                <a:ea typeface="DejaVu Sans"/>
                <a:cs typeface="DejaVu Sans"/>
              </a:defRPr>
            </a:pPr>
            <a:r>
              <a:rPr sz="1800" b="1">
                <a:solidFill>
                  <a:srgbClr val="16817A"/>
                </a:solidFill>
                <a:latin typeface="DejaVu Sans"/>
                <a:ea typeface="DejaVu Sans"/>
                <a:cs typeface="DejaVu Sans"/>
              </a:rPr>
              <a:t>Class 1 (n=60)</a:t>
            </a:r>
          </a:p>
        </p:txBody>
      </p:sp>
      <p:graphicFrame>
        <p:nvGraphicFramePr>
          <p:cNvPr id="24" name="Chart"/>
          <p:cNvGraphicFramePr/>
          <p:nvPr/>
        </p:nvGraphicFramePr>
        <p:xfrm>
          <a:off xmlns:a="http://schemas.openxmlformats.org/drawingml/2006/main" x="6257925" y="2524125"/>
          <a:ext xmlns:a="http://schemas.openxmlformats.org/drawingml/2006/main" cx="5286375" cy="2924175"/>
        </p:xfrm>
        <a:graphic xmlns:a="http://schemas.openxmlformats.org/drawingml/2006/main">
          <a:graphicData uri="http://schemas.openxmlformats.org/drawingml/2006/chart">
            <c:chart xmlns:r="http://schemas.openxmlformats.org/officeDocument/2006/relationships" xmlns:c="http://schemas.openxmlformats.org/drawingml/2006/chart" r:id="R3c76db2524f341e5"/>
          </a:graphicData>
        </a:graphic>
      </p:graphicFrame>
      <p:sp>
        <p:nvSpPr>
          <p:cNvPr id="12" name="">
            <a:extLst xmlns:a="http://schemas.openxmlformats.org/drawingml/2006/main">
              <a:ext uri="{FF2B5EF4-FFF2-40B4-BE49-F238E27FC236}">
                <a16:creationId xmlns:a16="http://schemas.microsoft.com/office/drawing/2014/main" id="{9CFCC6EC-1602-4CC0-9AB5-E2B201EC332B}"/>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76EBF1E-EA31-403C-B2E0-CE2687E8F2B1}"/>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Sites serve different periods of the launch program. Compare site rates with time in view.</a:t>
            </a:r>
          </a:p>
        </p:txBody>
      </p:sp>
    </p:spTree>
    <p:extLst>
      <p:ext uri="{BB962C8B-B14F-4D97-AF65-F5344CB8AC3E}">
        <p14:creationId xmlns:p14="http://schemas.microsoft.com/office/powerpoint/2010/main" val="18686377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566C4E2-7AF4-46BA-88CD-ADC5AB0C34CD}"/>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EDA</a:t>
            </a:r>
          </a:p>
        </p:txBody>
      </p:sp>
      <p:sp>
        <p:nvSpPr>
          <p:cNvPr id="2" name="">
            <a:extLst xmlns:a="http://schemas.openxmlformats.org/drawingml/2006/main">
              <a:ext uri="{FF2B5EF4-FFF2-40B4-BE49-F238E27FC236}">
                <a16:creationId xmlns:a16="http://schemas.microsoft.com/office/drawing/2014/main" id="{DD35093D-299B-44D7-B3A9-16F01873BAE1}"/>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Payload mass (kg) by launch site</a:t>
            </a:r>
          </a:p>
        </p:txBody>
      </p:sp>
      <p:sp>
        <p:nvSpPr>
          <p:cNvPr id="3" name="">
            <a:extLst xmlns:a="http://schemas.openxmlformats.org/drawingml/2006/main">
              <a:ext uri="{FF2B5EF4-FFF2-40B4-BE49-F238E27FC236}">
                <a16:creationId xmlns:a16="http://schemas.microsoft.com/office/drawing/2014/main" id="{B1EAD06A-7A2F-4137-B223-F85112ED471A}"/>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Site codes: 1 = CCAFS SLC 40; 2 = KSC LC 39A; 3 = VAFB SLC 4E.</a:t>
            </a:r>
          </a:p>
        </p:txBody>
      </p:sp>
      <p:sp>
        <p:nvSpPr>
          <p:cNvPr id="4" name="">
            <a:extLst xmlns:a="http://schemas.openxmlformats.org/drawingml/2006/main">
              <a:ext uri="{FF2B5EF4-FFF2-40B4-BE49-F238E27FC236}">
                <a16:creationId xmlns:a16="http://schemas.microsoft.com/office/drawing/2014/main" id="{727A9FC9-9087-40CB-B84A-4559BBDC1B88}"/>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7647491ba072442f"/>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6691EABE-23CD-44CC-B50F-8B6BFDE91379}"/>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90670DD-761F-4AF9-9E5F-A8CFD10CB470}"/>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EDA / wrangling notebooks; IBM dataset_part_2.csv (n=90).</a:t>
            </a:r>
          </a:p>
        </p:txBody>
      </p:sp>
      <p:sp>
        <p:nvSpPr>
          <p:cNvPr id="7" name="">
            <a:extLst xmlns:a="http://schemas.openxmlformats.org/drawingml/2006/main">
              <a:ext uri="{FF2B5EF4-FFF2-40B4-BE49-F238E27FC236}">
                <a16:creationId xmlns:a16="http://schemas.microsoft.com/office/drawing/2014/main" id="{EB56962F-5545-4FC8-A02C-F90AD3FF4141}"/>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11</a:t>
            </a:r>
          </a:p>
        </p:txBody>
      </p:sp>
      <p:sp>
        <p:nvSpPr>
          <p:cNvPr id="8" name="">
            <a:extLst xmlns:a="http://schemas.openxmlformats.org/drawingml/2006/main">
              <a:ext uri="{FF2B5EF4-FFF2-40B4-BE49-F238E27FC236}">
                <a16:creationId xmlns:a16="http://schemas.microsoft.com/office/drawing/2014/main" id="{208C8369-A985-4FF0-83A0-EBEBB9697B9B}"/>
              </a:ext>
            </a:extLst>
          </p:cNvPr>
          <p:cNvSpPr>
            <a:spLocks xmlns:a="http://schemas.openxmlformats.org/drawingml/2006/main" noGrp="1"/>
          </p:cNvSpPr>
          <p:nvPr/>
        </p:nvSpPr>
        <p:spPr>
          <a:xfrm xmlns:a="http://schemas.openxmlformats.org/drawingml/2006/main">
            <a:off x="552450" y="21431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16635"/>
                </a:solidFill>
                <a:latin typeface="DejaVu Sans"/>
                <a:ea typeface="DejaVu Sans"/>
                <a:cs typeface="DejaVu Sans"/>
              </a:defRPr>
            </a:pPr>
            <a:r>
              <a:rPr sz="1800" b="1">
                <a:solidFill>
                  <a:srgbClr val="D16635"/>
                </a:solidFill>
                <a:latin typeface="DejaVu Sans"/>
                <a:ea typeface="DejaVu Sans"/>
                <a:cs typeface="DejaVu Sans"/>
              </a:rPr>
              <a:t>Class 0 (n=30)</a:t>
            </a:r>
          </a:p>
        </p:txBody>
      </p:sp>
      <p:graphicFrame>
        <p:nvGraphicFramePr>
          <p:cNvPr id="22" name="Chart"/>
          <p:cNvGraphicFramePr/>
          <p:nvPr/>
        </p:nvGraphicFramePr>
        <p:xfrm>
          <a:off xmlns:a="http://schemas.openxmlformats.org/drawingml/2006/main" x="552450" y="2524125"/>
          <a:ext xmlns:a="http://schemas.openxmlformats.org/drawingml/2006/main" cx="5286375" cy="2924175"/>
        </p:xfrm>
        <a:graphic xmlns:a="http://schemas.openxmlformats.org/drawingml/2006/main">
          <a:graphicData uri="http://schemas.openxmlformats.org/drawingml/2006/chart">
            <c:chart xmlns:r="http://schemas.openxmlformats.org/officeDocument/2006/relationships" xmlns:c="http://schemas.openxmlformats.org/drawingml/2006/chart" r:id="R258fe2c7399a472d"/>
          </a:graphicData>
        </a:graphic>
      </p:graphicFrame>
      <p:sp>
        <p:nvSpPr>
          <p:cNvPr id="10" name="">
            <a:extLst xmlns:a="http://schemas.openxmlformats.org/drawingml/2006/main">
              <a:ext uri="{FF2B5EF4-FFF2-40B4-BE49-F238E27FC236}">
                <a16:creationId xmlns:a16="http://schemas.microsoft.com/office/drawing/2014/main" id="{8E3D6C5E-D0AE-40FF-8A00-F949F3AA8603}"/>
              </a:ext>
            </a:extLst>
          </p:cNvPr>
          <p:cNvSpPr>
            <a:spLocks xmlns:a="http://schemas.openxmlformats.org/drawingml/2006/main" noGrp="1"/>
          </p:cNvSpPr>
          <p:nvPr/>
        </p:nvSpPr>
        <p:spPr>
          <a:xfrm xmlns:a="http://schemas.openxmlformats.org/drawingml/2006/main">
            <a:off x="6257925" y="21431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6817A"/>
                </a:solidFill>
                <a:latin typeface="DejaVu Sans"/>
                <a:ea typeface="DejaVu Sans"/>
                <a:cs typeface="DejaVu Sans"/>
              </a:defRPr>
            </a:pPr>
            <a:r>
              <a:rPr sz="1800" b="1">
                <a:solidFill>
                  <a:srgbClr val="16817A"/>
                </a:solidFill>
                <a:latin typeface="DejaVu Sans"/>
                <a:ea typeface="DejaVu Sans"/>
                <a:cs typeface="DejaVu Sans"/>
              </a:rPr>
              <a:t>Class 1 (n=60)</a:t>
            </a:r>
          </a:p>
        </p:txBody>
      </p:sp>
      <p:graphicFrame>
        <p:nvGraphicFramePr>
          <p:cNvPr id="24" name="Chart"/>
          <p:cNvGraphicFramePr/>
          <p:nvPr/>
        </p:nvGraphicFramePr>
        <p:xfrm>
          <a:off xmlns:a="http://schemas.openxmlformats.org/drawingml/2006/main" x="6257925" y="2524125"/>
          <a:ext xmlns:a="http://schemas.openxmlformats.org/drawingml/2006/main" cx="5286375" cy="2924175"/>
        </p:xfrm>
        <a:graphic xmlns:a="http://schemas.openxmlformats.org/drawingml/2006/main">
          <a:graphicData uri="http://schemas.openxmlformats.org/drawingml/2006/chart">
            <c:chart xmlns:r="http://schemas.openxmlformats.org/officeDocument/2006/relationships" xmlns:c="http://schemas.openxmlformats.org/drawingml/2006/chart" r:id="R0ac3651463cd46c5"/>
          </a:graphicData>
        </a:graphic>
      </p:graphicFrame>
      <p:sp>
        <p:nvSpPr>
          <p:cNvPr id="12" name="">
            <a:extLst xmlns:a="http://schemas.openxmlformats.org/drawingml/2006/main">
              <a:ext uri="{FF2B5EF4-FFF2-40B4-BE49-F238E27FC236}">
                <a16:creationId xmlns:a16="http://schemas.microsoft.com/office/drawing/2014/main" id="{BC2C4EFB-C4FE-414A-BE2A-0DA8BEDEBFC9}"/>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D0C2557-A299-434F-AD2F-10DE03D36D25}"/>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Both classes span multiple sites and payload ranges. Site alone does not separate outcomes.</a:t>
            </a:r>
          </a:p>
        </p:txBody>
      </p:sp>
    </p:spTree>
    <p:extLst>
      <p:ext uri="{BB962C8B-B14F-4D97-AF65-F5344CB8AC3E}">
        <p14:creationId xmlns:p14="http://schemas.microsoft.com/office/powerpoint/2010/main" val="96709546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1D94874-27E1-44BF-A9C6-3175F3493428}"/>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EDA</a:t>
            </a:r>
          </a:p>
        </p:txBody>
      </p:sp>
      <p:sp>
        <p:nvSpPr>
          <p:cNvPr id="2" name="">
            <a:extLst xmlns:a="http://schemas.openxmlformats.org/drawingml/2006/main">
              <a:ext uri="{FF2B5EF4-FFF2-40B4-BE49-F238E27FC236}">
                <a16:creationId xmlns:a16="http://schemas.microsoft.com/office/drawing/2014/main" id="{6676DB7A-7E19-4B10-AE6F-C0C8B8C2F3F4}"/>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Flight number by orbit</a:t>
            </a:r>
          </a:p>
        </p:txBody>
      </p:sp>
      <p:sp>
        <p:nvSpPr>
          <p:cNvPr id="3" name="">
            <a:extLst xmlns:a="http://schemas.openxmlformats.org/drawingml/2006/main">
              <a:ext uri="{FF2B5EF4-FFF2-40B4-BE49-F238E27FC236}">
                <a16:creationId xmlns:a16="http://schemas.microsoft.com/office/drawing/2014/main" id="{1C4209C7-7373-46AE-8B0B-9AF2B71CCFA6}"/>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Orbit codes identify categories, not ordered orbital distances.</a:t>
            </a:r>
          </a:p>
        </p:txBody>
      </p:sp>
      <p:sp>
        <p:nvSpPr>
          <p:cNvPr id="4" name="">
            <a:extLst xmlns:a="http://schemas.openxmlformats.org/drawingml/2006/main">
              <a:ext uri="{FF2B5EF4-FFF2-40B4-BE49-F238E27FC236}">
                <a16:creationId xmlns:a16="http://schemas.microsoft.com/office/drawing/2014/main" id="{88AE9E30-14BB-4DBA-BC4B-C6666E84B714}"/>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ac8c82b3645f46f2"/>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693A7DA5-C98B-43AE-8663-ADCAB9383418}"/>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9C08190-B459-47DF-898C-642DBDBE3767}"/>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EDA / wrangling notebooks; IBM dataset_part_2.csv (n=90).</a:t>
            </a:r>
          </a:p>
        </p:txBody>
      </p:sp>
      <p:sp>
        <p:nvSpPr>
          <p:cNvPr id="7" name="">
            <a:extLst xmlns:a="http://schemas.openxmlformats.org/drawingml/2006/main">
              <a:ext uri="{FF2B5EF4-FFF2-40B4-BE49-F238E27FC236}">
                <a16:creationId xmlns:a16="http://schemas.microsoft.com/office/drawing/2014/main" id="{0810F465-CEF4-4378-8133-C3A22CA1A5CE}"/>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12</a:t>
            </a:r>
          </a:p>
        </p:txBody>
      </p:sp>
      <p:sp>
        <p:nvSpPr>
          <p:cNvPr id="8" name="">
            <a:extLst xmlns:a="http://schemas.openxmlformats.org/drawingml/2006/main">
              <a:ext uri="{FF2B5EF4-FFF2-40B4-BE49-F238E27FC236}">
                <a16:creationId xmlns:a16="http://schemas.microsoft.com/office/drawing/2014/main" id="{587F1004-F442-49CA-B40D-B771FFB0A4D9}"/>
              </a:ext>
            </a:extLst>
          </p:cNvPr>
          <p:cNvSpPr>
            <a:spLocks xmlns:a="http://schemas.openxmlformats.org/drawingml/2006/main" noGrp="1"/>
          </p:cNvSpPr>
          <p:nvPr/>
        </p:nvSpPr>
        <p:spPr>
          <a:xfrm xmlns:a="http://schemas.openxmlformats.org/drawingml/2006/main">
            <a:off x="552450" y="21431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16635"/>
                </a:solidFill>
                <a:latin typeface="DejaVu Sans"/>
                <a:ea typeface="DejaVu Sans"/>
                <a:cs typeface="DejaVu Sans"/>
              </a:defRPr>
            </a:pPr>
            <a:r>
              <a:rPr sz="1800" b="1">
                <a:solidFill>
                  <a:srgbClr val="D16635"/>
                </a:solidFill>
                <a:latin typeface="DejaVu Sans"/>
                <a:ea typeface="DejaVu Sans"/>
                <a:cs typeface="DejaVu Sans"/>
              </a:rPr>
              <a:t>Class 0</a:t>
            </a:r>
          </a:p>
        </p:txBody>
      </p:sp>
      <p:graphicFrame>
        <p:nvGraphicFramePr>
          <p:cNvPr id="23" name="Chart"/>
          <p:cNvGraphicFramePr/>
          <p:nvPr/>
        </p:nvGraphicFramePr>
        <p:xfrm>
          <a:off xmlns:a="http://schemas.openxmlformats.org/drawingml/2006/main" x="552450" y="2524125"/>
          <a:ext xmlns:a="http://schemas.openxmlformats.org/drawingml/2006/main" cx="4333875" cy="2924175"/>
        </p:xfrm>
        <a:graphic xmlns:a="http://schemas.openxmlformats.org/drawingml/2006/main">
          <a:graphicData uri="http://schemas.openxmlformats.org/drawingml/2006/chart">
            <c:chart xmlns:r="http://schemas.openxmlformats.org/officeDocument/2006/relationships" xmlns:c="http://schemas.openxmlformats.org/drawingml/2006/chart" r:id="Rd65f94ffed6447df"/>
          </a:graphicData>
        </a:graphic>
      </p:graphicFrame>
      <p:sp>
        <p:nvSpPr>
          <p:cNvPr id="10" name="">
            <a:extLst xmlns:a="http://schemas.openxmlformats.org/drawingml/2006/main">
              <a:ext uri="{FF2B5EF4-FFF2-40B4-BE49-F238E27FC236}">
                <a16:creationId xmlns:a16="http://schemas.microsoft.com/office/drawing/2014/main" id="{E1650D92-FB3A-46E7-8CFC-0A4459A5E165}"/>
              </a:ext>
            </a:extLst>
          </p:cNvPr>
          <p:cNvSpPr>
            <a:spLocks xmlns:a="http://schemas.openxmlformats.org/drawingml/2006/main" noGrp="1"/>
          </p:cNvSpPr>
          <p:nvPr/>
        </p:nvSpPr>
        <p:spPr>
          <a:xfrm xmlns:a="http://schemas.openxmlformats.org/drawingml/2006/main">
            <a:off x="5172075" y="21431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6817A"/>
                </a:solidFill>
                <a:latin typeface="DejaVu Sans"/>
                <a:ea typeface="DejaVu Sans"/>
                <a:cs typeface="DejaVu Sans"/>
              </a:defRPr>
            </a:pPr>
            <a:r>
              <a:rPr sz="1800" b="1">
                <a:solidFill>
                  <a:srgbClr val="16817A"/>
                </a:solidFill>
                <a:latin typeface="DejaVu Sans"/>
                <a:ea typeface="DejaVu Sans"/>
                <a:cs typeface="DejaVu Sans"/>
              </a:rPr>
              <a:t>Class 1</a:t>
            </a:r>
          </a:p>
        </p:txBody>
      </p:sp>
      <p:graphicFrame>
        <p:nvGraphicFramePr>
          <p:cNvPr id="25" name="Chart"/>
          <p:cNvGraphicFramePr/>
          <p:nvPr/>
        </p:nvGraphicFramePr>
        <p:xfrm>
          <a:off xmlns:a="http://schemas.openxmlformats.org/drawingml/2006/main" x="5172075" y="2524125"/>
          <a:ext xmlns:a="http://schemas.openxmlformats.org/drawingml/2006/main" cx="4333875" cy="2924175"/>
        </p:xfrm>
        <a:graphic xmlns:a="http://schemas.openxmlformats.org/drawingml/2006/main">
          <a:graphicData uri="http://schemas.openxmlformats.org/drawingml/2006/chart">
            <c:chart xmlns:r="http://schemas.openxmlformats.org/officeDocument/2006/relationships" xmlns:c="http://schemas.openxmlformats.org/drawingml/2006/chart" r:id="R5eec1c03812640c4"/>
          </a:graphicData>
        </a:graphic>
      </p:graphicFrame>
      <p:graphicFrame>
        <p:nvGraphicFramePr>
          <p:cNvPr id="26" name=""/>
          <p:cNvGraphicFramePr/>
          <p:nvPr/>
        </p:nvGraphicFramePr>
        <p:xfrm>
          <a:off xmlns:a="http://schemas.openxmlformats.org/drawingml/2006/main" x="9906000" y="2152650"/>
          <a:ext xmlns:a="http://schemas.openxmlformats.org/drawingml/2006/main" cx="1685925" cy="3429000"/>
        </p:xfrm>
        <a:graphic xmlns:a="http://schemas.openxmlformats.org/drawingml/2006/main">
          <a:graphicData uri="http://schemas.openxmlformats.org/drawingml/2006/table">
            <a:tbl>
              <a:tblPr/>
              <a:tblGrid>
                <a:gridCol w="742950"/>
                <a:gridCol w="942975"/>
              </a:tblGrid>
              <a:tr h="285750">
                <a:tc>
                  <a:txBody>
                    <a:bodyPr/>
                    <a:lstStyle/>
                    <a:p>
                      <a:r>
                        <a:rPr sz="1275" b="1">
                          <a:solidFill>
                            <a:srgbClr val="FFFFFF"/>
                          </a:solidFill>
                          <a:latin typeface="DejaVu Sans"/>
                          <a:ea typeface="DejaVu Sans"/>
                          <a:cs typeface="DejaVu Sans"/>
                        </a:rPr>
                        <a:t>Code</a:t>
                      </a:r>
                    </a:p>
                  </a:txBody>
                  <a:tcPr marL="91440" marR="91440" marT="45720" marB="45720">
                    <a:solidFill>
                      <a:srgbClr val="112B3C"/>
                    </a:solidFill>
                  </a:tcPr>
                </a:tc>
                <a:tc>
                  <a:txBody>
                    <a:bodyPr/>
                    <a:lstStyle/>
                    <a:p>
                      <a:r>
                        <a:rPr sz="1275" b="1">
                          <a:solidFill>
                            <a:srgbClr val="FFFFFF"/>
                          </a:solidFill>
                          <a:latin typeface="DejaVu Sans"/>
                          <a:ea typeface="DejaVu Sans"/>
                          <a:cs typeface="DejaVu Sans"/>
                        </a:rPr>
                        <a:t>Orbit</a:t>
                      </a:r>
                    </a:p>
                  </a:txBody>
                  <a:tcPr marL="91440" marR="91440" marT="45720" marB="45720">
                    <a:solidFill>
                      <a:srgbClr val="112B3C"/>
                    </a:solidFill>
                  </a:tcPr>
                </a:tc>
              </a:tr>
              <a:tr h="285750">
                <a:tc>
                  <a:txBody>
                    <a:bodyPr/>
                    <a:lstStyle/>
                    <a:p>
                      <a:r>
                        <a:rPr sz="1275" b="0">
                          <a:solidFill>
                            <a:srgbClr val="112B3C"/>
                          </a:solidFill>
                          <a:latin typeface="DejaVu Sans"/>
                          <a:ea typeface="DejaVu Sans"/>
                          <a:cs typeface="DejaVu Sans"/>
                        </a:rPr>
                        <a:t>1</a:t>
                      </a:r>
                    </a:p>
                  </a:txBody>
                  <a:tcPr marL="91440" marR="91440" marT="45720" marB="45720">
                    <a:solidFill>
                      <a:srgbClr val="FFFFFF"/>
                    </a:solidFill>
                  </a:tcPr>
                </a:tc>
                <a:tc>
                  <a:txBody>
                    <a:bodyPr/>
                    <a:lstStyle/>
                    <a:p>
                      <a:r>
                        <a:rPr sz="1275" b="0">
                          <a:solidFill>
                            <a:srgbClr val="112B3C"/>
                          </a:solidFill>
                          <a:latin typeface="DejaVu Sans"/>
                          <a:ea typeface="DejaVu Sans"/>
                          <a:cs typeface="DejaVu Sans"/>
                        </a:rPr>
                        <a:t>ES-L1</a:t>
                      </a:r>
                    </a:p>
                  </a:txBody>
                  <a:tcPr marL="91440" marR="91440" marT="45720" marB="45720">
                    <a:solidFill>
                      <a:srgbClr val="FFFFFF"/>
                    </a:solidFill>
                  </a:tcPr>
                </a:tc>
              </a:tr>
              <a:tr h="285750">
                <a:tc>
                  <a:txBody>
                    <a:bodyPr/>
                    <a:lstStyle/>
                    <a:p>
                      <a:r>
                        <a:rPr sz="1275" b="0">
                          <a:solidFill>
                            <a:srgbClr val="112B3C"/>
                          </a:solidFill>
                          <a:latin typeface="DejaVu Sans"/>
                          <a:ea typeface="DejaVu Sans"/>
                          <a:cs typeface="DejaVu Sans"/>
                        </a:rPr>
                        <a:t>2</a:t>
                      </a:r>
                    </a:p>
                  </a:txBody>
                  <a:tcPr marL="91440" marR="91440" marT="45720" marB="45720">
                    <a:solidFill>
                      <a:srgbClr val="F3F6F8"/>
                    </a:solidFill>
                  </a:tcPr>
                </a:tc>
                <a:tc>
                  <a:txBody>
                    <a:bodyPr/>
                    <a:lstStyle/>
                    <a:p>
                      <a:r>
                        <a:rPr sz="1275" b="0">
                          <a:solidFill>
                            <a:srgbClr val="112B3C"/>
                          </a:solidFill>
                          <a:latin typeface="DejaVu Sans"/>
                          <a:ea typeface="DejaVu Sans"/>
                          <a:cs typeface="DejaVu Sans"/>
                        </a:rPr>
                        <a:t>GEO</a:t>
                      </a:r>
                    </a:p>
                  </a:txBody>
                  <a:tcPr marL="91440" marR="91440" marT="45720" marB="45720">
                    <a:solidFill>
                      <a:srgbClr val="F3F6F8"/>
                    </a:solidFill>
                  </a:tcPr>
                </a:tc>
              </a:tr>
              <a:tr h="285750">
                <a:tc>
                  <a:txBody>
                    <a:bodyPr/>
                    <a:lstStyle/>
                    <a:p>
                      <a:r>
                        <a:rPr sz="1275" b="0">
                          <a:solidFill>
                            <a:srgbClr val="112B3C"/>
                          </a:solidFill>
                          <a:latin typeface="DejaVu Sans"/>
                          <a:ea typeface="DejaVu Sans"/>
                          <a:cs typeface="DejaVu Sans"/>
                        </a:rPr>
                        <a:t>3</a:t>
                      </a:r>
                    </a:p>
                  </a:txBody>
                  <a:tcPr marL="91440" marR="91440" marT="45720" marB="45720">
                    <a:solidFill>
                      <a:srgbClr val="FFFFFF"/>
                    </a:solidFill>
                  </a:tcPr>
                </a:tc>
                <a:tc>
                  <a:txBody>
                    <a:bodyPr/>
                    <a:lstStyle/>
                    <a:p>
                      <a:r>
                        <a:rPr sz="1275" b="0">
                          <a:solidFill>
                            <a:srgbClr val="112B3C"/>
                          </a:solidFill>
                          <a:latin typeface="DejaVu Sans"/>
                          <a:ea typeface="DejaVu Sans"/>
                          <a:cs typeface="DejaVu Sans"/>
                        </a:rPr>
                        <a:t>GTO</a:t>
                      </a:r>
                    </a:p>
                  </a:txBody>
                  <a:tcPr marL="91440" marR="91440" marT="45720" marB="45720">
                    <a:solidFill>
                      <a:srgbClr val="FFFFFF"/>
                    </a:solidFill>
                  </a:tcPr>
                </a:tc>
              </a:tr>
              <a:tr h="285750">
                <a:tc>
                  <a:txBody>
                    <a:bodyPr/>
                    <a:lstStyle/>
                    <a:p>
                      <a:r>
                        <a:rPr sz="1275" b="0">
                          <a:solidFill>
                            <a:srgbClr val="112B3C"/>
                          </a:solidFill>
                          <a:latin typeface="DejaVu Sans"/>
                          <a:ea typeface="DejaVu Sans"/>
                          <a:cs typeface="DejaVu Sans"/>
                        </a:rPr>
                        <a:t>4</a:t>
                      </a:r>
                    </a:p>
                  </a:txBody>
                  <a:tcPr marL="91440" marR="91440" marT="45720" marB="45720">
                    <a:solidFill>
                      <a:srgbClr val="F3F6F8"/>
                    </a:solidFill>
                  </a:tcPr>
                </a:tc>
                <a:tc>
                  <a:txBody>
                    <a:bodyPr/>
                    <a:lstStyle/>
                    <a:p>
                      <a:r>
                        <a:rPr sz="1275" b="0">
                          <a:solidFill>
                            <a:srgbClr val="112B3C"/>
                          </a:solidFill>
                          <a:latin typeface="DejaVu Sans"/>
                          <a:ea typeface="DejaVu Sans"/>
                          <a:cs typeface="DejaVu Sans"/>
                        </a:rPr>
                        <a:t>HEO</a:t>
                      </a:r>
                    </a:p>
                  </a:txBody>
                  <a:tcPr marL="91440" marR="91440" marT="45720" marB="45720">
                    <a:solidFill>
                      <a:srgbClr val="F3F6F8"/>
                    </a:solidFill>
                  </a:tcPr>
                </a:tc>
              </a:tr>
              <a:tr h="285750">
                <a:tc>
                  <a:txBody>
                    <a:bodyPr/>
                    <a:lstStyle/>
                    <a:p>
                      <a:r>
                        <a:rPr sz="1275" b="0">
                          <a:solidFill>
                            <a:srgbClr val="112B3C"/>
                          </a:solidFill>
                          <a:latin typeface="DejaVu Sans"/>
                          <a:ea typeface="DejaVu Sans"/>
                          <a:cs typeface="DejaVu Sans"/>
                        </a:rPr>
                        <a:t>5</a:t>
                      </a:r>
                    </a:p>
                  </a:txBody>
                  <a:tcPr marL="91440" marR="91440" marT="45720" marB="45720">
                    <a:solidFill>
                      <a:srgbClr val="FFFFFF"/>
                    </a:solidFill>
                  </a:tcPr>
                </a:tc>
                <a:tc>
                  <a:txBody>
                    <a:bodyPr/>
                    <a:lstStyle/>
                    <a:p>
                      <a:r>
                        <a:rPr sz="1275" b="0">
                          <a:solidFill>
                            <a:srgbClr val="112B3C"/>
                          </a:solidFill>
                          <a:latin typeface="DejaVu Sans"/>
                          <a:ea typeface="DejaVu Sans"/>
                          <a:cs typeface="DejaVu Sans"/>
                        </a:rPr>
                        <a:t>ISS</a:t>
                      </a:r>
                    </a:p>
                  </a:txBody>
                  <a:tcPr marL="91440" marR="91440" marT="45720" marB="45720">
                    <a:solidFill>
                      <a:srgbClr val="FFFFFF"/>
                    </a:solidFill>
                  </a:tcPr>
                </a:tc>
              </a:tr>
              <a:tr h="285750">
                <a:tc>
                  <a:txBody>
                    <a:bodyPr/>
                    <a:lstStyle/>
                    <a:p>
                      <a:r>
                        <a:rPr sz="1275" b="0">
                          <a:solidFill>
                            <a:srgbClr val="112B3C"/>
                          </a:solidFill>
                          <a:latin typeface="DejaVu Sans"/>
                          <a:ea typeface="DejaVu Sans"/>
                          <a:cs typeface="DejaVu Sans"/>
                        </a:rPr>
                        <a:t>6</a:t>
                      </a:r>
                    </a:p>
                  </a:txBody>
                  <a:tcPr marL="91440" marR="91440" marT="45720" marB="45720">
                    <a:solidFill>
                      <a:srgbClr val="F3F6F8"/>
                    </a:solidFill>
                  </a:tcPr>
                </a:tc>
                <a:tc>
                  <a:txBody>
                    <a:bodyPr/>
                    <a:lstStyle/>
                    <a:p>
                      <a:r>
                        <a:rPr sz="1275" b="0">
                          <a:solidFill>
                            <a:srgbClr val="112B3C"/>
                          </a:solidFill>
                          <a:latin typeface="DejaVu Sans"/>
                          <a:ea typeface="DejaVu Sans"/>
                          <a:cs typeface="DejaVu Sans"/>
                        </a:rPr>
                        <a:t>LEO</a:t>
                      </a:r>
                    </a:p>
                  </a:txBody>
                  <a:tcPr marL="91440" marR="91440" marT="45720" marB="45720">
                    <a:solidFill>
                      <a:srgbClr val="F3F6F8"/>
                    </a:solidFill>
                  </a:tcPr>
                </a:tc>
              </a:tr>
              <a:tr h="285750">
                <a:tc>
                  <a:txBody>
                    <a:bodyPr/>
                    <a:lstStyle/>
                    <a:p>
                      <a:r>
                        <a:rPr sz="1275" b="0">
                          <a:solidFill>
                            <a:srgbClr val="112B3C"/>
                          </a:solidFill>
                          <a:latin typeface="DejaVu Sans"/>
                          <a:ea typeface="DejaVu Sans"/>
                          <a:cs typeface="DejaVu Sans"/>
                        </a:rPr>
                        <a:t>7</a:t>
                      </a:r>
                    </a:p>
                  </a:txBody>
                  <a:tcPr marL="91440" marR="91440" marT="45720" marB="45720">
                    <a:solidFill>
                      <a:srgbClr val="FFFFFF"/>
                    </a:solidFill>
                  </a:tcPr>
                </a:tc>
                <a:tc>
                  <a:txBody>
                    <a:bodyPr/>
                    <a:lstStyle/>
                    <a:p>
                      <a:r>
                        <a:rPr sz="1275" b="0">
                          <a:solidFill>
                            <a:srgbClr val="112B3C"/>
                          </a:solidFill>
                          <a:latin typeface="DejaVu Sans"/>
                          <a:ea typeface="DejaVu Sans"/>
                          <a:cs typeface="DejaVu Sans"/>
                        </a:rPr>
                        <a:t>MEO</a:t>
                      </a:r>
                    </a:p>
                  </a:txBody>
                  <a:tcPr marL="91440" marR="91440" marT="45720" marB="45720">
                    <a:solidFill>
                      <a:srgbClr val="FFFFFF"/>
                    </a:solidFill>
                  </a:tcPr>
                </a:tc>
              </a:tr>
              <a:tr h="285750">
                <a:tc>
                  <a:txBody>
                    <a:bodyPr/>
                    <a:lstStyle/>
                    <a:p>
                      <a:r>
                        <a:rPr sz="1275" b="0">
                          <a:solidFill>
                            <a:srgbClr val="112B3C"/>
                          </a:solidFill>
                          <a:latin typeface="DejaVu Sans"/>
                          <a:ea typeface="DejaVu Sans"/>
                          <a:cs typeface="DejaVu Sans"/>
                        </a:rPr>
                        <a:t>8</a:t>
                      </a:r>
                    </a:p>
                  </a:txBody>
                  <a:tcPr marL="91440" marR="91440" marT="45720" marB="45720">
                    <a:solidFill>
                      <a:srgbClr val="F3F6F8"/>
                    </a:solidFill>
                  </a:tcPr>
                </a:tc>
                <a:tc>
                  <a:txBody>
                    <a:bodyPr/>
                    <a:lstStyle/>
                    <a:p>
                      <a:r>
                        <a:rPr sz="1275" b="0">
                          <a:solidFill>
                            <a:srgbClr val="112B3C"/>
                          </a:solidFill>
                          <a:latin typeface="DejaVu Sans"/>
                          <a:ea typeface="DejaVu Sans"/>
                          <a:cs typeface="DejaVu Sans"/>
                        </a:rPr>
                        <a:t>PO</a:t>
                      </a:r>
                    </a:p>
                  </a:txBody>
                  <a:tcPr marL="91440" marR="91440" marT="45720" marB="45720">
                    <a:solidFill>
                      <a:srgbClr val="F3F6F8"/>
                    </a:solidFill>
                  </a:tcPr>
                </a:tc>
              </a:tr>
              <a:tr h="285750">
                <a:tc>
                  <a:txBody>
                    <a:bodyPr/>
                    <a:lstStyle/>
                    <a:p>
                      <a:r>
                        <a:rPr sz="1275" b="0">
                          <a:solidFill>
                            <a:srgbClr val="112B3C"/>
                          </a:solidFill>
                          <a:latin typeface="DejaVu Sans"/>
                          <a:ea typeface="DejaVu Sans"/>
                          <a:cs typeface="DejaVu Sans"/>
                        </a:rPr>
                        <a:t>9</a:t>
                      </a:r>
                    </a:p>
                  </a:txBody>
                  <a:tcPr marL="91440" marR="91440" marT="45720" marB="45720">
                    <a:solidFill>
                      <a:srgbClr val="FFFFFF"/>
                    </a:solidFill>
                  </a:tcPr>
                </a:tc>
                <a:tc>
                  <a:txBody>
                    <a:bodyPr/>
                    <a:lstStyle/>
                    <a:p>
                      <a:r>
                        <a:rPr sz="1275" b="0">
                          <a:solidFill>
                            <a:srgbClr val="112B3C"/>
                          </a:solidFill>
                          <a:latin typeface="DejaVu Sans"/>
                          <a:ea typeface="DejaVu Sans"/>
                          <a:cs typeface="DejaVu Sans"/>
                        </a:rPr>
                        <a:t>SO</a:t>
                      </a:r>
                    </a:p>
                  </a:txBody>
                  <a:tcPr marL="91440" marR="91440" marT="45720" marB="45720">
                    <a:solidFill>
                      <a:srgbClr val="FFFFFF"/>
                    </a:solidFill>
                  </a:tcPr>
                </a:tc>
              </a:tr>
              <a:tr h="285750">
                <a:tc>
                  <a:txBody>
                    <a:bodyPr/>
                    <a:lstStyle/>
                    <a:p>
                      <a:r>
                        <a:rPr sz="1275" b="0">
                          <a:solidFill>
                            <a:srgbClr val="112B3C"/>
                          </a:solidFill>
                          <a:latin typeface="DejaVu Sans"/>
                          <a:ea typeface="DejaVu Sans"/>
                          <a:cs typeface="DejaVu Sans"/>
                        </a:rPr>
                        <a:t>10</a:t>
                      </a:r>
                    </a:p>
                  </a:txBody>
                  <a:tcPr marL="91440" marR="91440" marT="45720" marB="45720">
                    <a:solidFill>
                      <a:srgbClr val="F3F6F8"/>
                    </a:solidFill>
                  </a:tcPr>
                </a:tc>
                <a:tc>
                  <a:txBody>
                    <a:bodyPr/>
                    <a:lstStyle/>
                    <a:p>
                      <a:r>
                        <a:rPr sz="1275" b="0">
                          <a:solidFill>
                            <a:srgbClr val="112B3C"/>
                          </a:solidFill>
                          <a:latin typeface="DejaVu Sans"/>
                          <a:ea typeface="DejaVu Sans"/>
                          <a:cs typeface="DejaVu Sans"/>
                        </a:rPr>
                        <a:t>SSO</a:t>
                      </a:r>
                    </a:p>
                  </a:txBody>
                  <a:tcPr marL="91440" marR="91440" marT="45720" marB="45720">
                    <a:solidFill>
                      <a:srgbClr val="F3F6F8"/>
                    </a:solidFill>
                  </a:tcPr>
                </a:tc>
              </a:tr>
              <a:tr h="285750">
                <a:tc>
                  <a:txBody>
                    <a:bodyPr/>
                    <a:lstStyle/>
                    <a:p>
                      <a:r>
                        <a:rPr sz="1275" b="0">
                          <a:solidFill>
                            <a:srgbClr val="112B3C"/>
                          </a:solidFill>
                          <a:latin typeface="DejaVu Sans"/>
                          <a:ea typeface="DejaVu Sans"/>
                          <a:cs typeface="DejaVu Sans"/>
                        </a:rPr>
                        <a:t>11</a:t>
                      </a:r>
                    </a:p>
                  </a:txBody>
                  <a:tcPr marL="91440" marR="91440" marT="45720" marB="45720">
                    <a:solidFill>
                      <a:srgbClr val="FFFFFF"/>
                    </a:solidFill>
                  </a:tcPr>
                </a:tc>
                <a:tc>
                  <a:txBody>
                    <a:bodyPr/>
                    <a:lstStyle/>
                    <a:p>
                      <a:r>
                        <a:rPr sz="1275" b="0">
                          <a:solidFill>
                            <a:srgbClr val="112B3C"/>
                          </a:solidFill>
                          <a:latin typeface="DejaVu Sans"/>
                          <a:ea typeface="DejaVu Sans"/>
                          <a:cs typeface="DejaVu Sans"/>
                        </a:rPr>
                        <a:t>VLEO</a:t>
                      </a:r>
                    </a:p>
                  </a:txBody>
                  <a:tcPr marL="91440" marR="91440" marT="45720" marB="45720">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D3ADD673-33B8-4A8C-8980-9A3A4002DC80}"/>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B3A3C76-6F11-429F-881F-DEBF3AC4C0C2}"/>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The orbit mix changes across flight numbers, so time can confound orbit comparisons.</a:t>
            </a:r>
          </a:p>
        </p:txBody>
      </p:sp>
    </p:spTree>
    <p:extLst>
      <p:ext uri="{BB962C8B-B14F-4D97-AF65-F5344CB8AC3E}">
        <p14:creationId xmlns:p14="http://schemas.microsoft.com/office/powerpoint/2010/main" val="6006015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134CE20-A3F6-4416-80FA-19B3A994804F}"/>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EDA</a:t>
            </a:r>
          </a:p>
        </p:txBody>
      </p:sp>
      <p:sp>
        <p:nvSpPr>
          <p:cNvPr id="2" name="">
            <a:extLst xmlns:a="http://schemas.openxmlformats.org/drawingml/2006/main">
              <a:ext uri="{FF2B5EF4-FFF2-40B4-BE49-F238E27FC236}">
                <a16:creationId xmlns:a16="http://schemas.microsoft.com/office/drawing/2014/main" id="{ED6F083C-B5A9-4F0F-9145-F445C66B27CC}"/>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Payload mass (kg) by orbit</a:t>
            </a:r>
          </a:p>
        </p:txBody>
      </p:sp>
      <p:sp>
        <p:nvSpPr>
          <p:cNvPr id="3" name="">
            <a:extLst xmlns:a="http://schemas.openxmlformats.org/drawingml/2006/main">
              <a:ext uri="{FF2B5EF4-FFF2-40B4-BE49-F238E27FC236}">
                <a16:creationId xmlns:a16="http://schemas.microsoft.com/office/drawing/2014/main" id="{4EB4BC3C-23F3-4D9F-A8D5-50CDAA7E263B}"/>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Orbit codes identify categories, not ordered orbital distances.</a:t>
            </a:r>
          </a:p>
        </p:txBody>
      </p:sp>
      <p:sp>
        <p:nvSpPr>
          <p:cNvPr id="4" name="">
            <a:extLst xmlns:a="http://schemas.openxmlformats.org/drawingml/2006/main">
              <a:ext uri="{FF2B5EF4-FFF2-40B4-BE49-F238E27FC236}">
                <a16:creationId xmlns:a16="http://schemas.microsoft.com/office/drawing/2014/main" id="{2165AE5C-466B-4567-A1B4-627E4C52F428}"/>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7569ef33c8dd4366"/>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529274C9-FFFD-4DD6-A14B-CA4912165C14}"/>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313DCCD-E437-4307-8B3A-1D515DDECBBD}"/>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EDA / wrangling notebooks; IBM dataset_part_2.csv (n=90).</a:t>
            </a:r>
          </a:p>
        </p:txBody>
      </p:sp>
      <p:sp>
        <p:nvSpPr>
          <p:cNvPr id="7" name="">
            <a:extLst xmlns:a="http://schemas.openxmlformats.org/drawingml/2006/main">
              <a:ext uri="{FF2B5EF4-FFF2-40B4-BE49-F238E27FC236}">
                <a16:creationId xmlns:a16="http://schemas.microsoft.com/office/drawing/2014/main" id="{E87B447D-5567-4E42-BF6F-DA4101C78241}"/>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13</a:t>
            </a:r>
          </a:p>
        </p:txBody>
      </p:sp>
      <p:sp>
        <p:nvSpPr>
          <p:cNvPr id="8" name="">
            <a:extLst xmlns:a="http://schemas.openxmlformats.org/drawingml/2006/main">
              <a:ext uri="{FF2B5EF4-FFF2-40B4-BE49-F238E27FC236}">
                <a16:creationId xmlns:a16="http://schemas.microsoft.com/office/drawing/2014/main" id="{F737C6FF-1B8B-402E-BDAC-9F25C64A6702}"/>
              </a:ext>
            </a:extLst>
          </p:cNvPr>
          <p:cNvSpPr>
            <a:spLocks xmlns:a="http://schemas.openxmlformats.org/drawingml/2006/main" noGrp="1"/>
          </p:cNvSpPr>
          <p:nvPr/>
        </p:nvSpPr>
        <p:spPr>
          <a:xfrm xmlns:a="http://schemas.openxmlformats.org/drawingml/2006/main">
            <a:off x="552450" y="21431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16635"/>
                </a:solidFill>
                <a:latin typeface="DejaVu Sans"/>
                <a:ea typeface="DejaVu Sans"/>
                <a:cs typeface="DejaVu Sans"/>
              </a:defRPr>
            </a:pPr>
            <a:r>
              <a:rPr sz="1800" b="1">
                <a:solidFill>
                  <a:srgbClr val="D16635"/>
                </a:solidFill>
                <a:latin typeface="DejaVu Sans"/>
                <a:ea typeface="DejaVu Sans"/>
                <a:cs typeface="DejaVu Sans"/>
              </a:rPr>
              <a:t>Class 0</a:t>
            </a:r>
          </a:p>
        </p:txBody>
      </p:sp>
      <p:graphicFrame>
        <p:nvGraphicFramePr>
          <p:cNvPr id="23" name="Chart"/>
          <p:cNvGraphicFramePr/>
          <p:nvPr/>
        </p:nvGraphicFramePr>
        <p:xfrm>
          <a:off xmlns:a="http://schemas.openxmlformats.org/drawingml/2006/main" x="552450" y="2524125"/>
          <a:ext xmlns:a="http://schemas.openxmlformats.org/drawingml/2006/main" cx="4333875" cy="2924175"/>
        </p:xfrm>
        <a:graphic xmlns:a="http://schemas.openxmlformats.org/drawingml/2006/main">
          <a:graphicData uri="http://schemas.openxmlformats.org/drawingml/2006/chart">
            <c:chart xmlns:r="http://schemas.openxmlformats.org/officeDocument/2006/relationships" xmlns:c="http://schemas.openxmlformats.org/drawingml/2006/chart" r:id="Re2b8cd1aa65c4896"/>
          </a:graphicData>
        </a:graphic>
      </p:graphicFrame>
      <p:sp>
        <p:nvSpPr>
          <p:cNvPr id="10" name="">
            <a:extLst xmlns:a="http://schemas.openxmlformats.org/drawingml/2006/main">
              <a:ext uri="{FF2B5EF4-FFF2-40B4-BE49-F238E27FC236}">
                <a16:creationId xmlns:a16="http://schemas.microsoft.com/office/drawing/2014/main" id="{9102B2F2-41FD-4F05-B190-1C4439FB2659}"/>
              </a:ext>
            </a:extLst>
          </p:cNvPr>
          <p:cNvSpPr>
            <a:spLocks xmlns:a="http://schemas.openxmlformats.org/drawingml/2006/main" noGrp="1"/>
          </p:cNvSpPr>
          <p:nvPr/>
        </p:nvSpPr>
        <p:spPr>
          <a:xfrm xmlns:a="http://schemas.openxmlformats.org/drawingml/2006/main">
            <a:off x="5172075" y="21431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6817A"/>
                </a:solidFill>
                <a:latin typeface="DejaVu Sans"/>
                <a:ea typeface="DejaVu Sans"/>
                <a:cs typeface="DejaVu Sans"/>
              </a:defRPr>
            </a:pPr>
            <a:r>
              <a:rPr sz="1800" b="1">
                <a:solidFill>
                  <a:srgbClr val="16817A"/>
                </a:solidFill>
                <a:latin typeface="DejaVu Sans"/>
                <a:ea typeface="DejaVu Sans"/>
                <a:cs typeface="DejaVu Sans"/>
              </a:rPr>
              <a:t>Class 1</a:t>
            </a:r>
          </a:p>
        </p:txBody>
      </p:sp>
      <p:graphicFrame>
        <p:nvGraphicFramePr>
          <p:cNvPr id="25" name="Chart"/>
          <p:cNvGraphicFramePr/>
          <p:nvPr/>
        </p:nvGraphicFramePr>
        <p:xfrm>
          <a:off xmlns:a="http://schemas.openxmlformats.org/drawingml/2006/main" x="5172075" y="2524125"/>
          <a:ext xmlns:a="http://schemas.openxmlformats.org/drawingml/2006/main" cx="4333875" cy="2924175"/>
        </p:xfrm>
        <a:graphic xmlns:a="http://schemas.openxmlformats.org/drawingml/2006/main">
          <a:graphicData uri="http://schemas.openxmlformats.org/drawingml/2006/chart">
            <c:chart xmlns:r="http://schemas.openxmlformats.org/officeDocument/2006/relationships" xmlns:c="http://schemas.openxmlformats.org/drawingml/2006/chart" r:id="Rdcd3234a214d4782"/>
          </a:graphicData>
        </a:graphic>
      </p:graphicFrame>
      <p:graphicFrame>
        <p:nvGraphicFramePr>
          <p:cNvPr id="26" name=""/>
          <p:cNvGraphicFramePr/>
          <p:nvPr/>
        </p:nvGraphicFramePr>
        <p:xfrm>
          <a:off xmlns:a="http://schemas.openxmlformats.org/drawingml/2006/main" x="9906000" y="2152650"/>
          <a:ext xmlns:a="http://schemas.openxmlformats.org/drawingml/2006/main" cx="1685925" cy="3429000"/>
        </p:xfrm>
        <a:graphic xmlns:a="http://schemas.openxmlformats.org/drawingml/2006/main">
          <a:graphicData uri="http://schemas.openxmlformats.org/drawingml/2006/table">
            <a:tbl>
              <a:tblPr/>
              <a:tblGrid>
                <a:gridCol w="742950"/>
                <a:gridCol w="942975"/>
              </a:tblGrid>
              <a:tr h="285750">
                <a:tc>
                  <a:txBody>
                    <a:bodyPr/>
                    <a:lstStyle/>
                    <a:p>
                      <a:r>
                        <a:rPr sz="1275" b="1">
                          <a:solidFill>
                            <a:srgbClr val="FFFFFF"/>
                          </a:solidFill>
                          <a:latin typeface="DejaVu Sans"/>
                          <a:ea typeface="DejaVu Sans"/>
                          <a:cs typeface="DejaVu Sans"/>
                        </a:rPr>
                        <a:t>Code</a:t>
                      </a:r>
                    </a:p>
                  </a:txBody>
                  <a:tcPr marL="91440" marR="91440" marT="45720" marB="45720">
                    <a:solidFill>
                      <a:srgbClr val="112B3C"/>
                    </a:solidFill>
                  </a:tcPr>
                </a:tc>
                <a:tc>
                  <a:txBody>
                    <a:bodyPr/>
                    <a:lstStyle/>
                    <a:p>
                      <a:r>
                        <a:rPr sz="1275" b="1">
                          <a:solidFill>
                            <a:srgbClr val="FFFFFF"/>
                          </a:solidFill>
                          <a:latin typeface="DejaVu Sans"/>
                          <a:ea typeface="DejaVu Sans"/>
                          <a:cs typeface="DejaVu Sans"/>
                        </a:rPr>
                        <a:t>Orbit</a:t>
                      </a:r>
                    </a:p>
                  </a:txBody>
                  <a:tcPr marL="91440" marR="91440" marT="45720" marB="45720">
                    <a:solidFill>
                      <a:srgbClr val="112B3C"/>
                    </a:solidFill>
                  </a:tcPr>
                </a:tc>
              </a:tr>
              <a:tr h="285750">
                <a:tc>
                  <a:txBody>
                    <a:bodyPr/>
                    <a:lstStyle/>
                    <a:p>
                      <a:r>
                        <a:rPr sz="1275" b="0">
                          <a:solidFill>
                            <a:srgbClr val="112B3C"/>
                          </a:solidFill>
                          <a:latin typeface="DejaVu Sans"/>
                          <a:ea typeface="DejaVu Sans"/>
                          <a:cs typeface="DejaVu Sans"/>
                        </a:rPr>
                        <a:t>1</a:t>
                      </a:r>
                    </a:p>
                  </a:txBody>
                  <a:tcPr marL="91440" marR="91440" marT="45720" marB="45720">
                    <a:solidFill>
                      <a:srgbClr val="FFFFFF"/>
                    </a:solidFill>
                  </a:tcPr>
                </a:tc>
                <a:tc>
                  <a:txBody>
                    <a:bodyPr/>
                    <a:lstStyle/>
                    <a:p>
                      <a:r>
                        <a:rPr sz="1275" b="0">
                          <a:solidFill>
                            <a:srgbClr val="112B3C"/>
                          </a:solidFill>
                          <a:latin typeface="DejaVu Sans"/>
                          <a:ea typeface="DejaVu Sans"/>
                          <a:cs typeface="DejaVu Sans"/>
                        </a:rPr>
                        <a:t>ES-L1</a:t>
                      </a:r>
                    </a:p>
                  </a:txBody>
                  <a:tcPr marL="91440" marR="91440" marT="45720" marB="45720">
                    <a:solidFill>
                      <a:srgbClr val="FFFFFF"/>
                    </a:solidFill>
                  </a:tcPr>
                </a:tc>
              </a:tr>
              <a:tr h="285750">
                <a:tc>
                  <a:txBody>
                    <a:bodyPr/>
                    <a:lstStyle/>
                    <a:p>
                      <a:r>
                        <a:rPr sz="1275" b="0">
                          <a:solidFill>
                            <a:srgbClr val="112B3C"/>
                          </a:solidFill>
                          <a:latin typeface="DejaVu Sans"/>
                          <a:ea typeface="DejaVu Sans"/>
                          <a:cs typeface="DejaVu Sans"/>
                        </a:rPr>
                        <a:t>2</a:t>
                      </a:r>
                    </a:p>
                  </a:txBody>
                  <a:tcPr marL="91440" marR="91440" marT="45720" marB="45720">
                    <a:solidFill>
                      <a:srgbClr val="F3F6F8"/>
                    </a:solidFill>
                  </a:tcPr>
                </a:tc>
                <a:tc>
                  <a:txBody>
                    <a:bodyPr/>
                    <a:lstStyle/>
                    <a:p>
                      <a:r>
                        <a:rPr sz="1275" b="0">
                          <a:solidFill>
                            <a:srgbClr val="112B3C"/>
                          </a:solidFill>
                          <a:latin typeface="DejaVu Sans"/>
                          <a:ea typeface="DejaVu Sans"/>
                          <a:cs typeface="DejaVu Sans"/>
                        </a:rPr>
                        <a:t>GEO</a:t>
                      </a:r>
                    </a:p>
                  </a:txBody>
                  <a:tcPr marL="91440" marR="91440" marT="45720" marB="45720">
                    <a:solidFill>
                      <a:srgbClr val="F3F6F8"/>
                    </a:solidFill>
                  </a:tcPr>
                </a:tc>
              </a:tr>
              <a:tr h="285750">
                <a:tc>
                  <a:txBody>
                    <a:bodyPr/>
                    <a:lstStyle/>
                    <a:p>
                      <a:r>
                        <a:rPr sz="1275" b="0">
                          <a:solidFill>
                            <a:srgbClr val="112B3C"/>
                          </a:solidFill>
                          <a:latin typeface="DejaVu Sans"/>
                          <a:ea typeface="DejaVu Sans"/>
                          <a:cs typeface="DejaVu Sans"/>
                        </a:rPr>
                        <a:t>3</a:t>
                      </a:r>
                    </a:p>
                  </a:txBody>
                  <a:tcPr marL="91440" marR="91440" marT="45720" marB="45720">
                    <a:solidFill>
                      <a:srgbClr val="FFFFFF"/>
                    </a:solidFill>
                  </a:tcPr>
                </a:tc>
                <a:tc>
                  <a:txBody>
                    <a:bodyPr/>
                    <a:lstStyle/>
                    <a:p>
                      <a:r>
                        <a:rPr sz="1275" b="0">
                          <a:solidFill>
                            <a:srgbClr val="112B3C"/>
                          </a:solidFill>
                          <a:latin typeface="DejaVu Sans"/>
                          <a:ea typeface="DejaVu Sans"/>
                          <a:cs typeface="DejaVu Sans"/>
                        </a:rPr>
                        <a:t>GTO</a:t>
                      </a:r>
                    </a:p>
                  </a:txBody>
                  <a:tcPr marL="91440" marR="91440" marT="45720" marB="45720">
                    <a:solidFill>
                      <a:srgbClr val="FFFFFF"/>
                    </a:solidFill>
                  </a:tcPr>
                </a:tc>
              </a:tr>
              <a:tr h="285750">
                <a:tc>
                  <a:txBody>
                    <a:bodyPr/>
                    <a:lstStyle/>
                    <a:p>
                      <a:r>
                        <a:rPr sz="1275" b="0">
                          <a:solidFill>
                            <a:srgbClr val="112B3C"/>
                          </a:solidFill>
                          <a:latin typeface="DejaVu Sans"/>
                          <a:ea typeface="DejaVu Sans"/>
                          <a:cs typeface="DejaVu Sans"/>
                        </a:rPr>
                        <a:t>4</a:t>
                      </a:r>
                    </a:p>
                  </a:txBody>
                  <a:tcPr marL="91440" marR="91440" marT="45720" marB="45720">
                    <a:solidFill>
                      <a:srgbClr val="F3F6F8"/>
                    </a:solidFill>
                  </a:tcPr>
                </a:tc>
                <a:tc>
                  <a:txBody>
                    <a:bodyPr/>
                    <a:lstStyle/>
                    <a:p>
                      <a:r>
                        <a:rPr sz="1275" b="0">
                          <a:solidFill>
                            <a:srgbClr val="112B3C"/>
                          </a:solidFill>
                          <a:latin typeface="DejaVu Sans"/>
                          <a:ea typeface="DejaVu Sans"/>
                          <a:cs typeface="DejaVu Sans"/>
                        </a:rPr>
                        <a:t>HEO</a:t>
                      </a:r>
                    </a:p>
                  </a:txBody>
                  <a:tcPr marL="91440" marR="91440" marT="45720" marB="45720">
                    <a:solidFill>
                      <a:srgbClr val="F3F6F8"/>
                    </a:solidFill>
                  </a:tcPr>
                </a:tc>
              </a:tr>
              <a:tr h="285750">
                <a:tc>
                  <a:txBody>
                    <a:bodyPr/>
                    <a:lstStyle/>
                    <a:p>
                      <a:r>
                        <a:rPr sz="1275" b="0">
                          <a:solidFill>
                            <a:srgbClr val="112B3C"/>
                          </a:solidFill>
                          <a:latin typeface="DejaVu Sans"/>
                          <a:ea typeface="DejaVu Sans"/>
                          <a:cs typeface="DejaVu Sans"/>
                        </a:rPr>
                        <a:t>5</a:t>
                      </a:r>
                    </a:p>
                  </a:txBody>
                  <a:tcPr marL="91440" marR="91440" marT="45720" marB="45720">
                    <a:solidFill>
                      <a:srgbClr val="FFFFFF"/>
                    </a:solidFill>
                  </a:tcPr>
                </a:tc>
                <a:tc>
                  <a:txBody>
                    <a:bodyPr/>
                    <a:lstStyle/>
                    <a:p>
                      <a:r>
                        <a:rPr sz="1275" b="0">
                          <a:solidFill>
                            <a:srgbClr val="112B3C"/>
                          </a:solidFill>
                          <a:latin typeface="DejaVu Sans"/>
                          <a:ea typeface="DejaVu Sans"/>
                          <a:cs typeface="DejaVu Sans"/>
                        </a:rPr>
                        <a:t>ISS</a:t>
                      </a:r>
                    </a:p>
                  </a:txBody>
                  <a:tcPr marL="91440" marR="91440" marT="45720" marB="45720">
                    <a:solidFill>
                      <a:srgbClr val="FFFFFF"/>
                    </a:solidFill>
                  </a:tcPr>
                </a:tc>
              </a:tr>
              <a:tr h="285750">
                <a:tc>
                  <a:txBody>
                    <a:bodyPr/>
                    <a:lstStyle/>
                    <a:p>
                      <a:r>
                        <a:rPr sz="1275" b="0">
                          <a:solidFill>
                            <a:srgbClr val="112B3C"/>
                          </a:solidFill>
                          <a:latin typeface="DejaVu Sans"/>
                          <a:ea typeface="DejaVu Sans"/>
                          <a:cs typeface="DejaVu Sans"/>
                        </a:rPr>
                        <a:t>6</a:t>
                      </a:r>
                    </a:p>
                  </a:txBody>
                  <a:tcPr marL="91440" marR="91440" marT="45720" marB="45720">
                    <a:solidFill>
                      <a:srgbClr val="F3F6F8"/>
                    </a:solidFill>
                  </a:tcPr>
                </a:tc>
                <a:tc>
                  <a:txBody>
                    <a:bodyPr/>
                    <a:lstStyle/>
                    <a:p>
                      <a:r>
                        <a:rPr sz="1275" b="0">
                          <a:solidFill>
                            <a:srgbClr val="112B3C"/>
                          </a:solidFill>
                          <a:latin typeface="DejaVu Sans"/>
                          <a:ea typeface="DejaVu Sans"/>
                          <a:cs typeface="DejaVu Sans"/>
                        </a:rPr>
                        <a:t>LEO</a:t>
                      </a:r>
                    </a:p>
                  </a:txBody>
                  <a:tcPr marL="91440" marR="91440" marT="45720" marB="45720">
                    <a:solidFill>
                      <a:srgbClr val="F3F6F8"/>
                    </a:solidFill>
                  </a:tcPr>
                </a:tc>
              </a:tr>
              <a:tr h="285750">
                <a:tc>
                  <a:txBody>
                    <a:bodyPr/>
                    <a:lstStyle/>
                    <a:p>
                      <a:r>
                        <a:rPr sz="1275" b="0">
                          <a:solidFill>
                            <a:srgbClr val="112B3C"/>
                          </a:solidFill>
                          <a:latin typeface="DejaVu Sans"/>
                          <a:ea typeface="DejaVu Sans"/>
                          <a:cs typeface="DejaVu Sans"/>
                        </a:rPr>
                        <a:t>7</a:t>
                      </a:r>
                    </a:p>
                  </a:txBody>
                  <a:tcPr marL="91440" marR="91440" marT="45720" marB="45720">
                    <a:solidFill>
                      <a:srgbClr val="FFFFFF"/>
                    </a:solidFill>
                  </a:tcPr>
                </a:tc>
                <a:tc>
                  <a:txBody>
                    <a:bodyPr/>
                    <a:lstStyle/>
                    <a:p>
                      <a:r>
                        <a:rPr sz="1275" b="0">
                          <a:solidFill>
                            <a:srgbClr val="112B3C"/>
                          </a:solidFill>
                          <a:latin typeface="DejaVu Sans"/>
                          <a:ea typeface="DejaVu Sans"/>
                          <a:cs typeface="DejaVu Sans"/>
                        </a:rPr>
                        <a:t>MEO</a:t>
                      </a:r>
                    </a:p>
                  </a:txBody>
                  <a:tcPr marL="91440" marR="91440" marT="45720" marB="45720">
                    <a:solidFill>
                      <a:srgbClr val="FFFFFF"/>
                    </a:solidFill>
                  </a:tcPr>
                </a:tc>
              </a:tr>
              <a:tr h="285750">
                <a:tc>
                  <a:txBody>
                    <a:bodyPr/>
                    <a:lstStyle/>
                    <a:p>
                      <a:r>
                        <a:rPr sz="1275" b="0">
                          <a:solidFill>
                            <a:srgbClr val="112B3C"/>
                          </a:solidFill>
                          <a:latin typeface="DejaVu Sans"/>
                          <a:ea typeface="DejaVu Sans"/>
                          <a:cs typeface="DejaVu Sans"/>
                        </a:rPr>
                        <a:t>8</a:t>
                      </a:r>
                    </a:p>
                  </a:txBody>
                  <a:tcPr marL="91440" marR="91440" marT="45720" marB="45720">
                    <a:solidFill>
                      <a:srgbClr val="F3F6F8"/>
                    </a:solidFill>
                  </a:tcPr>
                </a:tc>
                <a:tc>
                  <a:txBody>
                    <a:bodyPr/>
                    <a:lstStyle/>
                    <a:p>
                      <a:r>
                        <a:rPr sz="1275" b="0">
                          <a:solidFill>
                            <a:srgbClr val="112B3C"/>
                          </a:solidFill>
                          <a:latin typeface="DejaVu Sans"/>
                          <a:ea typeface="DejaVu Sans"/>
                          <a:cs typeface="DejaVu Sans"/>
                        </a:rPr>
                        <a:t>PO</a:t>
                      </a:r>
                    </a:p>
                  </a:txBody>
                  <a:tcPr marL="91440" marR="91440" marT="45720" marB="45720">
                    <a:solidFill>
                      <a:srgbClr val="F3F6F8"/>
                    </a:solidFill>
                  </a:tcPr>
                </a:tc>
              </a:tr>
              <a:tr h="285750">
                <a:tc>
                  <a:txBody>
                    <a:bodyPr/>
                    <a:lstStyle/>
                    <a:p>
                      <a:r>
                        <a:rPr sz="1275" b="0">
                          <a:solidFill>
                            <a:srgbClr val="112B3C"/>
                          </a:solidFill>
                          <a:latin typeface="DejaVu Sans"/>
                          <a:ea typeface="DejaVu Sans"/>
                          <a:cs typeface="DejaVu Sans"/>
                        </a:rPr>
                        <a:t>9</a:t>
                      </a:r>
                    </a:p>
                  </a:txBody>
                  <a:tcPr marL="91440" marR="91440" marT="45720" marB="45720">
                    <a:solidFill>
                      <a:srgbClr val="FFFFFF"/>
                    </a:solidFill>
                  </a:tcPr>
                </a:tc>
                <a:tc>
                  <a:txBody>
                    <a:bodyPr/>
                    <a:lstStyle/>
                    <a:p>
                      <a:r>
                        <a:rPr sz="1275" b="0">
                          <a:solidFill>
                            <a:srgbClr val="112B3C"/>
                          </a:solidFill>
                          <a:latin typeface="DejaVu Sans"/>
                          <a:ea typeface="DejaVu Sans"/>
                          <a:cs typeface="DejaVu Sans"/>
                        </a:rPr>
                        <a:t>SO</a:t>
                      </a:r>
                    </a:p>
                  </a:txBody>
                  <a:tcPr marL="91440" marR="91440" marT="45720" marB="45720">
                    <a:solidFill>
                      <a:srgbClr val="FFFFFF"/>
                    </a:solidFill>
                  </a:tcPr>
                </a:tc>
              </a:tr>
              <a:tr h="285750">
                <a:tc>
                  <a:txBody>
                    <a:bodyPr/>
                    <a:lstStyle/>
                    <a:p>
                      <a:r>
                        <a:rPr sz="1275" b="0">
                          <a:solidFill>
                            <a:srgbClr val="112B3C"/>
                          </a:solidFill>
                          <a:latin typeface="DejaVu Sans"/>
                          <a:ea typeface="DejaVu Sans"/>
                          <a:cs typeface="DejaVu Sans"/>
                        </a:rPr>
                        <a:t>10</a:t>
                      </a:r>
                    </a:p>
                  </a:txBody>
                  <a:tcPr marL="91440" marR="91440" marT="45720" marB="45720">
                    <a:solidFill>
                      <a:srgbClr val="F3F6F8"/>
                    </a:solidFill>
                  </a:tcPr>
                </a:tc>
                <a:tc>
                  <a:txBody>
                    <a:bodyPr/>
                    <a:lstStyle/>
                    <a:p>
                      <a:r>
                        <a:rPr sz="1275" b="0">
                          <a:solidFill>
                            <a:srgbClr val="112B3C"/>
                          </a:solidFill>
                          <a:latin typeface="DejaVu Sans"/>
                          <a:ea typeface="DejaVu Sans"/>
                          <a:cs typeface="DejaVu Sans"/>
                        </a:rPr>
                        <a:t>SSO</a:t>
                      </a:r>
                    </a:p>
                  </a:txBody>
                  <a:tcPr marL="91440" marR="91440" marT="45720" marB="45720">
                    <a:solidFill>
                      <a:srgbClr val="F3F6F8"/>
                    </a:solidFill>
                  </a:tcPr>
                </a:tc>
              </a:tr>
              <a:tr h="285750">
                <a:tc>
                  <a:txBody>
                    <a:bodyPr/>
                    <a:lstStyle/>
                    <a:p>
                      <a:r>
                        <a:rPr sz="1275" b="0">
                          <a:solidFill>
                            <a:srgbClr val="112B3C"/>
                          </a:solidFill>
                          <a:latin typeface="DejaVu Sans"/>
                          <a:ea typeface="DejaVu Sans"/>
                          <a:cs typeface="DejaVu Sans"/>
                        </a:rPr>
                        <a:t>11</a:t>
                      </a:r>
                    </a:p>
                  </a:txBody>
                  <a:tcPr marL="91440" marR="91440" marT="45720" marB="45720">
                    <a:solidFill>
                      <a:srgbClr val="FFFFFF"/>
                    </a:solidFill>
                  </a:tcPr>
                </a:tc>
                <a:tc>
                  <a:txBody>
                    <a:bodyPr/>
                    <a:lstStyle/>
                    <a:p>
                      <a:r>
                        <a:rPr sz="1275" b="0">
                          <a:solidFill>
                            <a:srgbClr val="112B3C"/>
                          </a:solidFill>
                          <a:latin typeface="DejaVu Sans"/>
                          <a:ea typeface="DejaVu Sans"/>
                          <a:cs typeface="DejaVu Sans"/>
                        </a:rPr>
                        <a:t>VLEO</a:t>
                      </a:r>
                    </a:p>
                  </a:txBody>
                  <a:tcPr marL="91440" marR="91440" marT="45720" marB="45720">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3CBC7079-CFB3-4BF9-A550-8DEFACE795CC}"/>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CD19FFA-FA09-475E-9D0A-C0991C130A10}"/>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Payload distributions depend on orbit. Marginal payload rates combine different mission types.</a:t>
            </a:r>
          </a:p>
        </p:txBody>
      </p:sp>
    </p:spTree>
    <p:extLst>
      <p:ext uri="{BB962C8B-B14F-4D97-AF65-F5344CB8AC3E}">
        <p14:creationId xmlns:p14="http://schemas.microsoft.com/office/powerpoint/2010/main" val="1109834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A56817A-634E-4720-8E6E-23687FD36D1C}"/>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EDA</a:t>
            </a:r>
          </a:p>
        </p:txBody>
      </p:sp>
      <p:sp>
        <p:nvSpPr>
          <p:cNvPr id="2" name="">
            <a:extLst xmlns:a="http://schemas.openxmlformats.org/drawingml/2006/main">
              <a:ext uri="{FF2B5EF4-FFF2-40B4-BE49-F238E27FC236}">
                <a16:creationId xmlns:a16="http://schemas.microsoft.com/office/drawing/2014/main" id="{EBEAF059-150C-411F-AC74-39334FCFA33F}"/>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The largest success count is not the highest rate</a:t>
            </a:r>
          </a:p>
        </p:txBody>
      </p:sp>
      <p:sp>
        <p:nvSpPr>
          <p:cNvPr id="3" name="">
            <a:extLst xmlns:a="http://schemas.openxmlformats.org/drawingml/2006/main">
              <a:ext uri="{FF2B5EF4-FFF2-40B4-BE49-F238E27FC236}">
                <a16:creationId xmlns:a16="http://schemas.microsoft.com/office/drawing/2014/main" id="{D218CD28-9AC7-474B-8887-86A6A7E43D54}"/>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CCAFS has more Class 1 records; KSC and VAFB have higher observed rates.</a:t>
            </a:r>
          </a:p>
        </p:txBody>
      </p:sp>
      <p:sp>
        <p:nvSpPr>
          <p:cNvPr id="4" name="">
            <a:extLst xmlns:a="http://schemas.openxmlformats.org/drawingml/2006/main">
              <a:ext uri="{FF2B5EF4-FFF2-40B4-BE49-F238E27FC236}">
                <a16:creationId xmlns:a16="http://schemas.microsoft.com/office/drawing/2014/main" id="{A1B9865D-FBD1-4BE5-B33D-0CBF9B8128E6}"/>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fab68cf5ee1f4d53"/>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DD3FD0B4-62B9-48DA-9FAC-07224415DECF}"/>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360A893-058E-4D68-AE9F-22F312DF94A4}"/>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EDA / wrangling notebooks; IBM dataset_part_2.csv (n=90).</a:t>
            </a:r>
          </a:p>
        </p:txBody>
      </p:sp>
      <p:sp>
        <p:nvSpPr>
          <p:cNvPr id="7" name="">
            <a:extLst xmlns:a="http://schemas.openxmlformats.org/drawingml/2006/main">
              <a:ext uri="{FF2B5EF4-FFF2-40B4-BE49-F238E27FC236}">
                <a16:creationId xmlns:a16="http://schemas.microsoft.com/office/drawing/2014/main" id="{531EAB90-3AC6-40C9-9D9F-07FFABD30254}"/>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14</a:t>
            </a:r>
          </a:p>
        </p:txBody>
      </p:sp>
      <p:graphicFrame>
        <p:nvGraphicFramePr>
          <p:cNvPr id="19" name="Chart"/>
          <p:cNvGraphicFramePr/>
          <p:nvPr/>
        </p:nvGraphicFramePr>
        <p:xfrm>
          <a:off xmlns:a="http://schemas.openxmlformats.org/drawingml/2006/main" x="571500" y="2257425"/>
          <a:ext xmlns:a="http://schemas.openxmlformats.org/drawingml/2006/main" cx="6858000" cy="3095625"/>
        </p:xfrm>
        <a:graphic xmlns:a="http://schemas.openxmlformats.org/drawingml/2006/main">
          <a:graphicData uri="http://schemas.openxmlformats.org/drawingml/2006/chart">
            <c:chart xmlns:r="http://schemas.openxmlformats.org/officeDocument/2006/relationships" xmlns:c="http://schemas.openxmlformats.org/drawingml/2006/chart" r:id="R7aa7b14c8efd4b70"/>
          </a:graphicData>
        </a:graphic>
      </p:graphicFrame>
      <p:graphicFrame>
        <p:nvGraphicFramePr>
          <p:cNvPr id="20" name=""/>
          <p:cNvGraphicFramePr/>
          <p:nvPr/>
        </p:nvGraphicFramePr>
        <p:xfrm>
          <a:off xmlns:a="http://schemas.openxmlformats.org/drawingml/2006/main" x="7905750" y="2400300"/>
          <a:ext xmlns:a="http://schemas.openxmlformats.org/drawingml/2006/main" cx="3667125" cy="2619375"/>
        </p:xfrm>
        <a:graphic xmlns:a="http://schemas.openxmlformats.org/drawingml/2006/main">
          <a:graphicData uri="http://schemas.openxmlformats.org/drawingml/2006/table">
            <a:tbl>
              <a:tblPr/>
              <a:tblGrid>
                <a:gridCol w="1524000"/>
                <a:gridCol w="2143125"/>
              </a:tblGrid>
              <a:tr h="654844">
                <a:tc>
                  <a:txBody>
                    <a:bodyPr/>
                    <a:lstStyle/>
                    <a:p>
                      <a:r>
                        <a:rPr sz="1725" b="1">
                          <a:solidFill>
                            <a:srgbClr val="FFFFFF"/>
                          </a:solidFill>
                          <a:latin typeface="DejaVu Sans"/>
                          <a:ea typeface="DejaVu Sans"/>
                          <a:cs typeface="DejaVu Sans"/>
                        </a:rPr>
                        <a:t>Site</a:t>
                      </a:r>
                    </a:p>
                  </a:txBody>
                  <a:tcPr marL="91440" marR="91440" marT="45720" marB="45720">
                    <a:solidFill>
                      <a:srgbClr val="112B3C"/>
                    </a:solidFill>
                  </a:tcPr>
                </a:tc>
                <a:tc>
                  <a:txBody>
                    <a:bodyPr/>
                    <a:lstStyle/>
                    <a:p>
                      <a:r>
                        <a:rPr sz="1725" b="1">
                          <a:solidFill>
                            <a:srgbClr val="FFFFFF"/>
                          </a:solidFill>
                          <a:latin typeface="DejaVu Sans"/>
                          <a:ea typeface="DejaVu Sans"/>
                          <a:cs typeface="DejaVu Sans"/>
                        </a:rPr>
                        <a:t>Class 1 / total</a:t>
                      </a:r>
                    </a:p>
                  </a:txBody>
                  <a:tcPr marL="91440" marR="91440" marT="45720" marB="45720">
                    <a:solidFill>
                      <a:srgbClr val="112B3C"/>
                    </a:solidFill>
                  </a:tcPr>
                </a:tc>
              </a:tr>
              <a:tr h="654844">
                <a:tc>
                  <a:txBody>
                    <a:bodyPr/>
                    <a:lstStyle/>
                    <a:p>
                      <a:r>
                        <a:rPr sz="1725" b="0">
                          <a:solidFill>
                            <a:srgbClr val="112B3C"/>
                          </a:solidFill>
                          <a:latin typeface="DejaVu Sans"/>
                          <a:ea typeface="DejaVu Sans"/>
                          <a:cs typeface="DejaVu Sans"/>
                        </a:rPr>
                        <a:t>CCAFS</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33 / 55</a:t>
                      </a:r>
                    </a:p>
                  </a:txBody>
                  <a:tcPr marL="91440" marR="91440" marT="45720" marB="45720">
                    <a:solidFill>
                      <a:srgbClr val="FFFFFF"/>
                    </a:solidFill>
                  </a:tcPr>
                </a:tc>
              </a:tr>
              <a:tr h="654844">
                <a:tc>
                  <a:txBody>
                    <a:bodyPr/>
                    <a:lstStyle/>
                    <a:p>
                      <a:r>
                        <a:rPr sz="1725" b="0">
                          <a:solidFill>
                            <a:srgbClr val="112B3C"/>
                          </a:solidFill>
                          <a:latin typeface="DejaVu Sans"/>
                          <a:ea typeface="DejaVu Sans"/>
                          <a:cs typeface="DejaVu Sans"/>
                        </a:rPr>
                        <a:t>KSC</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17 / 22</a:t>
                      </a:r>
                    </a:p>
                  </a:txBody>
                  <a:tcPr marL="91440" marR="91440" marT="45720" marB="45720">
                    <a:solidFill>
                      <a:srgbClr val="F3F6F8"/>
                    </a:solidFill>
                  </a:tcPr>
                </a:tc>
              </a:tr>
              <a:tr h="654844">
                <a:tc>
                  <a:txBody>
                    <a:bodyPr/>
                    <a:lstStyle/>
                    <a:p>
                      <a:r>
                        <a:rPr sz="1725" b="0">
                          <a:solidFill>
                            <a:srgbClr val="112B3C"/>
                          </a:solidFill>
                          <a:latin typeface="DejaVu Sans"/>
                          <a:ea typeface="DejaVu Sans"/>
                          <a:cs typeface="DejaVu Sans"/>
                        </a:rPr>
                        <a:t>VAFB</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10 / 13</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20B9F6C7-A818-412B-A6AC-B856BD06B20B}"/>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D20A26B-A468-4051-9A12-325BDC21A33E}"/>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KSC (77.27%) and VAFB (76.92%) differ by only 0.35 percentage points.</a:t>
            </a:r>
          </a:p>
        </p:txBody>
      </p:sp>
    </p:spTree>
    <p:extLst>
      <p:ext uri="{BB962C8B-B14F-4D97-AF65-F5344CB8AC3E}">
        <p14:creationId xmlns:p14="http://schemas.microsoft.com/office/powerpoint/2010/main" val="10744670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4B8EBB-8D0F-40BA-A17C-2DA4DFCD685B}"/>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EDA</a:t>
            </a:r>
          </a:p>
        </p:txBody>
      </p:sp>
      <p:sp>
        <p:nvSpPr>
          <p:cNvPr id="2" name="">
            <a:extLst xmlns:a="http://schemas.openxmlformats.org/drawingml/2006/main">
              <a:ext uri="{FF2B5EF4-FFF2-40B4-BE49-F238E27FC236}">
                <a16:creationId xmlns:a16="http://schemas.microsoft.com/office/drawing/2014/main" id="{E2078D29-FB03-4BAF-A2FC-FC805260162F}"/>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Orbit rates need their sample sizes</a:t>
            </a:r>
          </a:p>
        </p:txBody>
      </p:sp>
      <p:sp>
        <p:nvSpPr>
          <p:cNvPr id="3" name="">
            <a:extLst xmlns:a="http://schemas.openxmlformats.org/drawingml/2006/main">
              <a:ext uri="{FF2B5EF4-FFF2-40B4-BE49-F238E27FC236}">
                <a16:creationId xmlns:a16="http://schemas.microsoft.com/office/drawing/2014/main" id="{24331CE8-687B-420F-93BF-AA90ABEF4B3F}"/>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SSO and VLEO show high observed rates; several 100% groups contain only one launch.</a:t>
            </a:r>
          </a:p>
        </p:txBody>
      </p:sp>
      <p:sp>
        <p:nvSpPr>
          <p:cNvPr id="4" name="">
            <a:extLst xmlns:a="http://schemas.openxmlformats.org/drawingml/2006/main">
              <a:ext uri="{FF2B5EF4-FFF2-40B4-BE49-F238E27FC236}">
                <a16:creationId xmlns:a16="http://schemas.microsoft.com/office/drawing/2014/main" id="{5FF2E523-4311-4911-9034-05BC54140022}"/>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c030cebd62a04445"/>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94CBA06E-E339-4B2C-B8E6-FABEF855483F}"/>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83C2BA3-14D5-4898-BAAC-2A77A74E7237}"/>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EDA / wrangling notebooks; IBM dataset_part_2.csv (n=90).</a:t>
            </a:r>
          </a:p>
        </p:txBody>
      </p:sp>
      <p:sp>
        <p:nvSpPr>
          <p:cNvPr id="7" name="">
            <a:extLst xmlns:a="http://schemas.openxmlformats.org/drawingml/2006/main">
              <a:ext uri="{FF2B5EF4-FFF2-40B4-BE49-F238E27FC236}">
                <a16:creationId xmlns:a16="http://schemas.microsoft.com/office/drawing/2014/main" id="{BFEE467A-CBE2-4FA6-B799-4ECEA1D8E370}"/>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15</a:t>
            </a:r>
          </a:p>
        </p:txBody>
      </p:sp>
      <p:graphicFrame>
        <p:nvGraphicFramePr>
          <p:cNvPr id="18" name="Chart"/>
          <p:cNvGraphicFramePr/>
          <p:nvPr/>
        </p:nvGraphicFramePr>
        <p:xfrm>
          <a:off xmlns:a="http://schemas.openxmlformats.org/drawingml/2006/main" x="571500" y="2257425"/>
          <a:ext xmlns:a="http://schemas.openxmlformats.org/drawingml/2006/main" cx="11001375" cy="3257550"/>
        </p:xfrm>
        <a:graphic xmlns:a="http://schemas.openxmlformats.org/drawingml/2006/main">
          <a:graphicData uri="http://schemas.openxmlformats.org/drawingml/2006/chart">
            <c:chart xmlns:r="http://schemas.openxmlformats.org/officeDocument/2006/relationships" xmlns:c="http://schemas.openxmlformats.org/drawingml/2006/chart" r:id="R11206f3fec824112"/>
          </a:graphicData>
        </a:graphic>
      </p:graphicFrame>
      <p:sp>
        <p:nvSpPr>
          <p:cNvPr id="9" name="">
            <a:extLst xmlns:a="http://schemas.openxmlformats.org/drawingml/2006/main">
              <a:ext uri="{FF2B5EF4-FFF2-40B4-BE49-F238E27FC236}">
                <a16:creationId xmlns:a16="http://schemas.microsoft.com/office/drawing/2014/main" id="{089BACE2-3BED-49E1-B2B6-15B28BE6FD57}"/>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D90021A-F6D0-482A-AD02-E061621BE012}"/>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GTO: 14 / 27 = 51.85%    •    SSO: 5 / 5    •    VLEO: 12 / 14 = 85.71%</a:t>
            </a:r>
          </a:p>
        </p:txBody>
      </p:sp>
    </p:spTree>
    <p:extLst>
      <p:ext uri="{BB962C8B-B14F-4D97-AF65-F5344CB8AC3E}">
        <p14:creationId xmlns:p14="http://schemas.microsoft.com/office/powerpoint/2010/main" val="17475567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4EBF07-32DA-405C-89C2-C04712859A3E}"/>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EDA</a:t>
            </a:r>
          </a:p>
        </p:txBody>
      </p:sp>
      <p:sp>
        <p:nvSpPr>
          <p:cNvPr id="2" name="">
            <a:extLst xmlns:a="http://schemas.openxmlformats.org/drawingml/2006/main">
              <a:ext uri="{FF2B5EF4-FFF2-40B4-BE49-F238E27FC236}">
                <a16:creationId xmlns:a16="http://schemas.microsoft.com/office/drawing/2014/main" id="{8F928150-B1B5-419B-B670-7D8320A939E1}"/>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Performance improves over time, but not monotonically</a:t>
            </a:r>
          </a:p>
        </p:txBody>
      </p:sp>
      <p:sp>
        <p:nvSpPr>
          <p:cNvPr id="3" name="">
            <a:extLst xmlns:a="http://schemas.openxmlformats.org/drawingml/2006/main">
              <a:ext uri="{FF2B5EF4-FFF2-40B4-BE49-F238E27FC236}">
                <a16:creationId xmlns:a16="http://schemas.microsoft.com/office/drawing/2014/main" id="{62747F2B-731B-427C-B3E8-82F9326E37FF}"/>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The late-period gains coexist with a visible decrease in 2018.</a:t>
            </a:r>
          </a:p>
        </p:txBody>
      </p:sp>
      <p:sp>
        <p:nvSpPr>
          <p:cNvPr id="4" name="">
            <a:extLst xmlns:a="http://schemas.openxmlformats.org/drawingml/2006/main">
              <a:ext uri="{FF2B5EF4-FFF2-40B4-BE49-F238E27FC236}">
                <a16:creationId xmlns:a16="http://schemas.microsoft.com/office/drawing/2014/main" id="{37948C11-9D22-49BF-8DE9-AA6ACF966867}"/>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156c06c8f6774e0b"/>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4CFFE849-FEFD-4DC4-8492-918649134FD0}"/>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FC12122-7CA9-4002-A9B7-845ED4C35098}"/>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EDA / wrangling notebooks; IBM dataset_part_2.csv (n=90).</a:t>
            </a:r>
          </a:p>
        </p:txBody>
      </p:sp>
      <p:sp>
        <p:nvSpPr>
          <p:cNvPr id="7" name="">
            <a:extLst xmlns:a="http://schemas.openxmlformats.org/drawingml/2006/main">
              <a:ext uri="{FF2B5EF4-FFF2-40B4-BE49-F238E27FC236}">
                <a16:creationId xmlns:a16="http://schemas.microsoft.com/office/drawing/2014/main" id="{047C4F6C-1BC5-4ECD-AB21-94822A438EE6}"/>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16</a:t>
            </a:r>
          </a:p>
        </p:txBody>
      </p:sp>
      <p:graphicFrame>
        <p:nvGraphicFramePr>
          <p:cNvPr id="18" name="Chart"/>
          <p:cNvGraphicFramePr/>
          <p:nvPr/>
        </p:nvGraphicFramePr>
        <p:xfrm>
          <a:off xmlns:a="http://schemas.openxmlformats.org/drawingml/2006/main" x="552450" y="2171700"/>
          <a:ext xmlns:a="http://schemas.openxmlformats.org/drawingml/2006/main" cx="11087100" cy="3267075"/>
        </p:xfrm>
        <a:graphic xmlns:a="http://schemas.openxmlformats.org/drawingml/2006/main">
          <a:graphicData uri="http://schemas.openxmlformats.org/drawingml/2006/chart">
            <c:chart xmlns:r="http://schemas.openxmlformats.org/officeDocument/2006/relationships" xmlns:c="http://schemas.openxmlformats.org/drawingml/2006/chart" r:id="R27a6d0102fdb4cba"/>
          </a:graphicData>
        </a:graphic>
      </p:graphicFrame>
      <p:sp>
        <p:nvSpPr>
          <p:cNvPr id="9" name="">
            <a:extLst xmlns:a="http://schemas.openxmlformats.org/drawingml/2006/main">
              <a:ext uri="{FF2B5EF4-FFF2-40B4-BE49-F238E27FC236}">
                <a16:creationId xmlns:a16="http://schemas.microsoft.com/office/drawing/2014/main" id="{6DF0AE39-0072-4C61-9152-B2363DD7BAD3}"/>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FF6E051-C755-4A74-983B-A0CF8CC04F32}"/>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2019: 9 / 10 = 90%    •    2020 snapshot: 16 / 19 = 84.21%</a:t>
            </a:r>
          </a:p>
        </p:txBody>
      </p:sp>
    </p:spTree>
    <p:extLst>
      <p:ext uri="{BB962C8B-B14F-4D97-AF65-F5344CB8AC3E}">
        <p14:creationId xmlns:p14="http://schemas.microsoft.com/office/powerpoint/2010/main" val="1056049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9CB31C-D2BA-4B1F-84B9-EB9BEC91ED72}"/>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METHODOLOGY / SQL</a:t>
            </a:r>
          </a:p>
        </p:txBody>
      </p:sp>
      <p:sp>
        <p:nvSpPr>
          <p:cNvPr id="2" name="">
            <a:extLst xmlns:a="http://schemas.openxmlformats.org/drawingml/2006/main">
              <a:ext uri="{FF2B5EF4-FFF2-40B4-BE49-F238E27FC236}">
                <a16:creationId xmlns:a16="http://schemas.microsoft.com/office/drawing/2014/main" id="{584B2C9D-69BB-4841-953B-75450D04C2A0}"/>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EDA with SQL: queries and definitions</a:t>
            </a:r>
          </a:p>
        </p:txBody>
      </p:sp>
      <p:sp>
        <p:nvSpPr>
          <p:cNvPr id="3" name="">
            <a:extLst xmlns:a="http://schemas.openxmlformats.org/drawingml/2006/main">
              <a:ext uri="{FF2B5EF4-FFF2-40B4-BE49-F238E27FC236}">
                <a16:creationId xmlns:a16="http://schemas.microsoft.com/office/drawing/2014/main" id="{0A22CD1F-65F6-4549-8D3E-CF40D0A5EC99}"/>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SQLite supports auditable filters, aggregates and rankings.</a:t>
            </a:r>
          </a:p>
        </p:txBody>
      </p:sp>
      <p:sp>
        <p:nvSpPr>
          <p:cNvPr id="4" name="">
            <a:extLst xmlns:a="http://schemas.openxmlformats.org/drawingml/2006/main">
              <a:ext uri="{FF2B5EF4-FFF2-40B4-BE49-F238E27FC236}">
                <a16:creationId xmlns:a16="http://schemas.microsoft.com/office/drawing/2014/main" id="{AA0F22EC-A015-4602-AE70-A767DAAA4C56}"/>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738c397e967d4b09"/>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6EF668E1-B611-455E-8974-0F59BA541F4C}"/>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AB9A894-30A9-4259-AAF9-B11E25B4E135}"/>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SQL notebook; queries rerun on IBM Spacex.csv (n=101).</a:t>
            </a:r>
          </a:p>
        </p:txBody>
      </p:sp>
      <p:sp>
        <p:nvSpPr>
          <p:cNvPr id="7" name="">
            <a:extLst xmlns:a="http://schemas.openxmlformats.org/drawingml/2006/main">
              <a:ext uri="{FF2B5EF4-FFF2-40B4-BE49-F238E27FC236}">
                <a16:creationId xmlns:a16="http://schemas.microsoft.com/office/drawing/2014/main" id="{1107BF93-363E-4F13-B803-B3D074982765}"/>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17</a:t>
            </a:r>
          </a:p>
        </p:txBody>
      </p:sp>
      <p:graphicFrame>
        <p:nvGraphicFramePr>
          <p:cNvPr id="18" name=""/>
          <p:cNvGraphicFramePr/>
          <p:nvPr/>
        </p:nvGraphicFramePr>
        <p:xfrm>
          <a:off xmlns:a="http://schemas.openxmlformats.org/drawingml/2006/main" x="552450" y="2171700"/>
          <a:ext xmlns:a="http://schemas.openxmlformats.org/drawingml/2006/main" cx="11087100" cy="3067050"/>
        </p:xfrm>
        <a:graphic xmlns:a="http://schemas.openxmlformats.org/drawingml/2006/main">
          <a:graphicData uri="http://schemas.openxmlformats.org/drawingml/2006/table">
            <a:tbl>
              <a:tblPr/>
              <a:tblGrid>
                <a:gridCol w="2286000"/>
                <a:gridCol w="4476750"/>
                <a:gridCol w="4324350"/>
              </a:tblGrid>
              <a:tr h="613410">
                <a:tc>
                  <a:txBody>
                    <a:bodyPr/>
                    <a:lstStyle/>
                    <a:p>
                      <a:r>
                        <a:rPr sz="1650" b="1">
                          <a:solidFill>
                            <a:srgbClr val="FFFFFF"/>
                          </a:solidFill>
                          <a:latin typeface="DejaVu Sans"/>
                          <a:ea typeface="DejaVu Sans"/>
                          <a:cs typeface="DejaVu Sans"/>
                        </a:rPr>
                        <a:t>Operation</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Implementation</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Purpose</a:t>
                      </a:r>
                    </a:p>
                  </a:txBody>
                  <a:tcPr marL="91440" marR="91440" marT="45720" marB="45720">
                    <a:solidFill>
                      <a:srgbClr val="112B3C"/>
                    </a:solidFill>
                  </a:tcPr>
                </a:tc>
              </a:tr>
              <a:tr h="613410">
                <a:tc>
                  <a:txBody>
                    <a:bodyPr/>
                    <a:lstStyle/>
                    <a:p>
                      <a:r>
                        <a:rPr sz="1650" b="0">
                          <a:solidFill>
                            <a:srgbClr val="112B3C"/>
                          </a:solidFill>
                          <a:latin typeface="DejaVu Sans"/>
                          <a:ea typeface="DejaVu Sans"/>
                          <a:cs typeface="DejaVu Sans"/>
                        </a:rPr>
                        <a:t>Import and inspect</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pandas.read_csv; to_sql; PRAGMA</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101 launch records with 10 fields</a:t>
                      </a:r>
                    </a:p>
                  </a:txBody>
                  <a:tcPr marL="91440" marR="91440" marT="45720" marB="45720">
                    <a:solidFill>
                      <a:srgbClr val="FFFFFF"/>
                    </a:solidFill>
                  </a:tcPr>
                </a:tc>
              </a:tr>
              <a:tr h="613410">
                <a:tc>
                  <a:txBody>
                    <a:bodyPr/>
                    <a:lstStyle/>
                    <a:p>
                      <a:r>
                        <a:rPr sz="1650" b="0">
                          <a:solidFill>
                            <a:srgbClr val="112B3C"/>
                          </a:solidFill>
                          <a:latin typeface="DejaVu Sans"/>
                          <a:ea typeface="DejaVu Sans"/>
                          <a:cs typeface="DejaVu Sans"/>
                        </a:rPr>
                        <a:t>Clean text</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TRIM(Mission_Outcome)</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Merge the trailing-space Success label</a:t>
                      </a:r>
                    </a:p>
                  </a:txBody>
                  <a:tcPr marL="91440" marR="91440" marT="45720" marB="45720">
                    <a:solidFill>
                      <a:srgbClr val="F3F6F8"/>
                    </a:solidFill>
                  </a:tcPr>
                </a:tc>
              </a:tr>
              <a:tr h="613410">
                <a:tc>
                  <a:txBody>
                    <a:bodyPr/>
                    <a:lstStyle/>
                    <a:p>
                      <a:r>
                        <a:rPr sz="1650" b="0">
                          <a:solidFill>
                            <a:srgbClr val="112B3C"/>
                          </a:solidFill>
                          <a:latin typeface="DejaVu Sans"/>
                          <a:ea typeface="DejaVu Sans"/>
                          <a:cs typeface="DejaVu Sans"/>
                        </a:rPr>
                        <a:t>Aggregate</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SUM, AVG, MIN, MAX, GROUP BY</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Payload statistics and first landing date</a:t>
                      </a:r>
                    </a:p>
                  </a:txBody>
                  <a:tcPr marL="91440" marR="91440" marT="45720" marB="45720">
                    <a:solidFill>
                      <a:srgbClr val="FFFFFF"/>
                    </a:solidFill>
                  </a:tcPr>
                </a:tc>
              </a:tr>
              <a:tr h="613410">
                <a:tc>
                  <a:txBody>
                    <a:bodyPr/>
                    <a:lstStyle/>
                    <a:p>
                      <a:r>
                        <a:rPr sz="1650" b="0">
                          <a:solidFill>
                            <a:srgbClr val="112B3C"/>
                          </a:solidFill>
                          <a:latin typeface="DejaVu Sans"/>
                          <a:ea typeface="DejaVu Sans"/>
                          <a:cs typeface="DejaVu Sans"/>
                        </a:rPr>
                        <a:t>Rank and filter</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ORDER BY; WHERE; strftime</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Site comparisons and historical events</a:t>
                      </a:r>
                    </a:p>
                  </a:txBody>
                  <a:tcPr marL="91440" marR="91440" marT="45720" marB="45720">
                    <a:solidFill>
                      <a:srgbClr val="F3F6F8"/>
                    </a:solidFill>
                  </a:tcPr>
                </a:tc>
              </a:tr>
            </a:tbl>
          </a:graphicData>
        </a:graphic>
      </p:graphicFrame>
      <p:sp>
        <p:nvSpPr>
          <p:cNvPr id="9" name="">
            <a:extLst xmlns:a="http://schemas.openxmlformats.org/drawingml/2006/main">
              <a:ext uri="{FF2B5EF4-FFF2-40B4-BE49-F238E27FC236}">
                <a16:creationId xmlns:a16="http://schemas.microsoft.com/office/drawing/2014/main" id="{FBBD2358-AA7D-439E-BC72-FC7F99D8219F}"/>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EA59C99-64E1-4ECB-8F8A-17288FCCC3BA}"/>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SQL landing success here means TRIM(Landing_Outcome) LIKE 'Success%'.</a:t>
            </a:r>
          </a:p>
        </p:txBody>
      </p:sp>
    </p:spTree>
    <p:extLst>
      <p:ext uri="{BB962C8B-B14F-4D97-AF65-F5344CB8AC3E}">
        <p14:creationId xmlns:p14="http://schemas.microsoft.com/office/powerpoint/2010/main" val="192739996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97CD5A0-C6F9-4662-85ED-98360CF5604C}"/>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SQL</a:t>
            </a:r>
          </a:p>
        </p:txBody>
      </p:sp>
      <p:sp>
        <p:nvSpPr>
          <p:cNvPr id="2" name="">
            <a:extLst xmlns:a="http://schemas.openxmlformats.org/drawingml/2006/main">
              <a:ext uri="{FF2B5EF4-FFF2-40B4-BE49-F238E27FC236}">
                <a16:creationId xmlns:a16="http://schemas.microsoft.com/office/drawing/2014/main" id="{EA92D6F1-9CAE-4350-876C-15CA36234504}"/>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SQL turns launch records into auditable facts</a:t>
            </a:r>
          </a:p>
        </p:txBody>
      </p:sp>
      <p:sp>
        <p:nvSpPr>
          <p:cNvPr id="3" name="">
            <a:extLst xmlns:a="http://schemas.openxmlformats.org/drawingml/2006/main">
              <a:ext uri="{FF2B5EF4-FFF2-40B4-BE49-F238E27FC236}">
                <a16:creationId xmlns:a16="http://schemas.microsoft.com/office/drawing/2014/main" id="{A52A63E9-DC33-4F74-B01B-9327F52A55FC}"/>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Aggregation results from the 101-row SQL snapshot.</a:t>
            </a:r>
          </a:p>
        </p:txBody>
      </p:sp>
      <p:sp>
        <p:nvSpPr>
          <p:cNvPr id="4" name="">
            <a:extLst xmlns:a="http://schemas.openxmlformats.org/drawingml/2006/main">
              <a:ext uri="{FF2B5EF4-FFF2-40B4-BE49-F238E27FC236}">
                <a16:creationId xmlns:a16="http://schemas.microsoft.com/office/drawing/2014/main" id="{FDEBA717-5562-42CC-9E79-1ED76A502BDA}"/>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60311050bc3642e5"/>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604B89EC-6B33-498F-965A-0D2A469CE5EF}"/>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D94E341-2255-492A-A5C1-B8D0F2E5064B}"/>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SQL notebook; queries rerun on IBM Spacex.csv (n=101).</a:t>
            </a:r>
          </a:p>
        </p:txBody>
      </p:sp>
      <p:sp>
        <p:nvSpPr>
          <p:cNvPr id="7" name="">
            <a:extLst xmlns:a="http://schemas.openxmlformats.org/drawingml/2006/main">
              <a:ext uri="{FF2B5EF4-FFF2-40B4-BE49-F238E27FC236}">
                <a16:creationId xmlns:a16="http://schemas.microsoft.com/office/drawing/2014/main" id="{FC00EE7D-41EA-4AC4-8444-C2250BBB9F8E}"/>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18</a:t>
            </a:r>
          </a:p>
        </p:txBody>
      </p:sp>
      <p:graphicFrame>
        <p:nvGraphicFramePr>
          <p:cNvPr id="16" name=""/>
          <p:cNvGraphicFramePr/>
          <p:nvPr/>
        </p:nvGraphicFramePr>
        <p:xfrm>
          <a:off xmlns:a="http://schemas.openxmlformats.org/drawingml/2006/main" x="552450" y="2181225"/>
          <a:ext xmlns:a="http://schemas.openxmlformats.org/drawingml/2006/main" cx="11087100" cy="3409950"/>
        </p:xfrm>
        <a:graphic xmlns:a="http://schemas.openxmlformats.org/drawingml/2006/main">
          <a:graphicData uri="http://schemas.openxmlformats.org/drawingml/2006/table">
            <a:tbl>
              <a:tblPr/>
              <a:tblGrid>
                <a:gridCol w="7620000"/>
                <a:gridCol w="3467100"/>
              </a:tblGrid>
              <a:tr h="568325">
                <a:tc>
                  <a:txBody>
                    <a:bodyPr/>
                    <a:lstStyle/>
                    <a:p>
                      <a:r>
                        <a:rPr sz="1800" b="1">
                          <a:solidFill>
                            <a:srgbClr val="FFFFFF"/>
                          </a:solidFill>
                          <a:latin typeface="DejaVu Sans"/>
                          <a:ea typeface="DejaVu Sans"/>
                          <a:cs typeface="DejaVu Sans"/>
                        </a:rPr>
                        <a:t>Question / operation</a:t>
                      </a:r>
                    </a:p>
                  </a:txBody>
                  <a:tcPr marL="91440" marR="91440" marT="45720" marB="45720">
                    <a:solidFill>
                      <a:srgbClr val="112B3C"/>
                    </a:solidFill>
                  </a:tcPr>
                </a:tc>
                <a:tc>
                  <a:txBody>
                    <a:bodyPr/>
                    <a:lstStyle/>
                    <a:p>
                      <a:r>
                        <a:rPr sz="1800" b="1">
                          <a:solidFill>
                            <a:srgbClr val="FFFFFF"/>
                          </a:solidFill>
                          <a:latin typeface="DejaVu Sans"/>
                          <a:ea typeface="DejaVu Sans"/>
                          <a:cs typeface="DejaVu Sans"/>
                        </a:rPr>
                        <a:t>Verified result</a:t>
                      </a:r>
                    </a:p>
                  </a:txBody>
                  <a:tcPr marL="91440" marR="91440" marT="45720" marB="45720">
                    <a:solidFill>
                      <a:srgbClr val="112B3C"/>
                    </a:solidFill>
                  </a:tcPr>
                </a:tc>
              </a:tr>
              <a:tr h="568325">
                <a:tc>
                  <a:txBody>
                    <a:bodyPr/>
                    <a:lstStyle/>
                    <a:p>
                      <a:r>
                        <a:rPr sz="1800" b="0">
                          <a:solidFill>
                            <a:srgbClr val="112B3C"/>
                          </a:solidFill>
                          <a:latin typeface="DejaVu Sans"/>
                          <a:ea typeface="DejaVu Sans"/>
                          <a:cs typeface="DejaVu Sans"/>
                        </a:rPr>
                        <a:t>SUM(payload) for NASA (CRS)</a:t>
                      </a:r>
                    </a:p>
                  </a:txBody>
                  <a:tcPr marL="91440" marR="91440" marT="45720" marB="45720">
                    <a:solidFill>
                      <a:srgbClr val="FFFFFF"/>
                    </a:solidFill>
                  </a:tcPr>
                </a:tc>
                <a:tc>
                  <a:txBody>
                    <a:bodyPr/>
                    <a:lstStyle/>
                    <a:p>
                      <a:r>
                        <a:rPr sz="1800" b="0">
                          <a:solidFill>
                            <a:srgbClr val="112B3C"/>
                          </a:solidFill>
                          <a:latin typeface="DejaVu Sans"/>
                          <a:ea typeface="DejaVu Sans"/>
                          <a:cs typeface="DejaVu Sans"/>
                        </a:rPr>
                        <a:t>45,596 kg</a:t>
                      </a:r>
                    </a:p>
                  </a:txBody>
                  <a:tcPr marL="91440" marR="91440" marT="45720" marB="45720">
                    <a:solidFill>
                      <a:srgbClr val="FFFFFF"/>
                    </a:solidFill>
                  </a:tcPr>
                </a:tc>
              </a:tr>
              <a:tr h="568325">
                <a:tc>
                  <a:txBody>
                    <a:bodyPr/>
                    <a:lstStyle/>
                    <a:p>
                      <a:r>
                        <a:rPr sz="1800" b="0">
                          <a:solidFill>
                            <a:srgbClr val="112B3C"/>
                          </a:solidFill>
                          <a:latin typeface="DejaVu Sans"/>
                          <a:ea typeface="DejaVu Sans"/>
                          <a:cs typeface="DejaVu Sans"/>
                        </a:rPr>
                        <a:t>AVG(payload) for F9 v1.1 variants</a:t>
                      </a:r>
                    </a:p>
                  </a:txBody>
                  <a:tcPr marL="91440" marR="91440" marT="45720" marB="45720">
                    <a:solidFill>
                      <a:srgbClr val="F3F6F8"/>
                    </a:solidFill>
                  </a:tcPr>
                </a:tc>
                <a:tc>
                  <a:txBody>
                    <a:bodyPr/>
                    <a:lstStyle/>
                    <a:p>
                      <a:r>
                        <a:rPr sz="1800" b="0">
                          <a:solidFill>
                            <a:srgbClr val="112B3C"/>
                          </a:solidFill>
                          <a:latin typeface="DejaVu Sans"/>
                          <a:ea typeface="DejaVu Sans"/>
                          <a:cs typeface="DejaVu Sans"/>
                        </a:rPr>
                        <a:t>2,534.67 kg</a:t>
                      </a:r>
                    </a:p>
                  </a:txBody>
                  <a:tcPr marL="91440" marR="91440" marT="45720" marB="45720">
                    <a:solidFill>
                      <a:srgbClr val="F3F6F8"/>
                    </a:solidFill>
                  </a:tcPr>
                </a:tc>
              </a:tr>
              <a:tr h="568325">
                <a:tc>
                  <a:txBody>
                    <a:bodyPr/>
                    <a:lstStyle/>
                    <a:p>
                      <a:r>
                        <a:rPr sz="1800" b="0">
                          <a:solidFill>
                            <a:srgbClr val="112B3C"/>
                          </a:solidFill>
                          <a:latin typeface="DejaVu Sans"/>
                          <a:ea typeface="DejaVu Sans"/>
                          <a:cs typeface="DejaVu Sans"/>
                        </a:rPr>
                        <a:t>MIN(date) for successful ground-pad landing</a:t>
                      </a:r>
                    </a:p>
                  </a:txBody>
                  <a:tcPr marL="91440" marR="91440" marT="45720" marB="45720">
                    <a:solidFill>
                      <a:srgbClr val="FFFFFF"/>
                    </a:solidFill>
                  </a:tcPr>
                </a:tc>
                <a:tc>
                  <a:txBody>
                    <a:bodyPr/>
                    <a:lstStyle/>
                    <a:p>
                      <a:r>
                        <a:rPr sz="1800" b="0">
                          <a:solidFill>
                            <a:srgbClr val="112B3C"/>
                          </a:solidFill>
                          <a:latin typeface="DejaVu Sans"/>
                          <a:ea typeface="DejaVu Sans"/>
                          <a:cs typeface="DejaVu Sans"/>
                        </a:rPr>
                        <a:t>22 December 2015</a:t>
                      </a:r>
                    </a:p>
                  </a:txBody>
                  <a:tcPr marL="91440" marR="91440" marT="45720" marB="45720">
                    <a:solidFill>
                      <a:srgbClr val="FFFFFF"/>
                    </a:solidFill>
                  </a:tcPr>
                </a:tc>
              </a:tr>
              <a:tr h="568325">
                <a:tc>
                  <a:txBody>
                    <a:bodyPr/>
                    <a:lstStyle/>
                    <a:p>
                      <a:r>
                        <a:rPr sz="1800" b="0">
                          <a:solidFill>
                            <a:srgbClr val="112B3C"/>
                          </a:solidFill>
                          <a:latin typeface="DejaVu Sans"/>
                          <a:ea typeface="DejaVu Sans"/>
                          <a:cs typeface="DejaVu Sans"/>
                        </a:rPr>
                        <a:t>MAX(payload) across the SQL snapshot</a:t>
                      </a:r>
                    </a:p>
                  </a:txBody>
                  <a:tcPr marL="91440" marR="91440" marT="45720" marB="45720">
                    <a:solidFill>
                      <a:srgbClr val="F3F6F8"/>
                    </a:solidFill>
                  </a:tcPr>
                </a:tc>
                <a:tc>
                  <a:txBody>
                    <a:bodyPr/>
                    <a:lstStyle/>
                    <a:p>
                      <a:r>
                        <a:rPr sz="1800" b="0">
                          <a:solidFill>
                            <a:srgbClr val="112B3C"/>
                          </a:solidFill>
                          <a:latin typeface="DejaVu Sans"/>
                          <a:ea typeface="DejaVu Sans"/>
                          <a:cs typeface="DejaVu Sans"/>
                        </a:rPr>
                        <a:t>15,600 kg</a:t>
                      </a:r>
                    </a:p>
                  </a:txBody>
                  <a:tcPr marL="91440" marR="91440" marT="45720" marB="45720">
                    <a:solidFill>
                      <a:srgbClr val="F3F6F8"/>
                    </a:solidFill>
                  </a:tcPr>
                </a:tc>
              </a:tr>
              <a:tr h="568325">
                <a:tc>
                  <a:txBody>
                    <a:bodyPr/>
                    <a:lstStyle/>
                    <a:p>
                      <a:r>
                        <a:rPr sz="1800" b="0">
                          <a:solidFill>
                            <a:srgbClr val="112B3C"/>
                          </a:solidFill>
                          <a:latin typeface="DejaVu Sans"/>
                          <a:ea typeface="DejaVu Sans"/>
                          <a:cs typeface="DejaVu Sans"/>
                        </a:rPr>
                        <a:t>COUNT of distinct launch-site labels</a:t>
                      </a:r>
                    </a:p>
                  </a:txBody>
                  <a:tcPr marL="91440" marR="91440" marT="45720" marB="45720">
                    <a:solidFill>
                      <a:srgbClr val="FFFFFF"/>
                    </a:solidFill>
                  </a:tcPr>
                </a:tc>
                <a:tc>
                  <a:txBody>
                    <a:bodyPr/>
                    <a:lstStyle/>
                    <a:p>
                      <a:r>
                        <a:rPr sz="1800" b="0">
                          <a:solidFill>
                            <a:srgbClr val="112B3C"/>
                          </a:solidFill>
                          <a:latin typeface="DejaVu Sans"/>
                          <a:ea typeface="DejaVu Sans"/>
                          <a:cs typeface="DejaVu Sans"/>
                        </a:rPr>
                        <a:t>4</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4658302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5AD4A1-35A6-4045-BA32-8B9496283EE7}"/>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SQL</a:t>
            </a:r>
          </a:p>
        </p:txBody>
      </p:sp>
      <p:sp>
        <p:nvSpPr>
          <p:cNvPr id="2" name="">
            <a:extLst xmlns:a="http://schemas.openxmlformats.org/drawingml/2006/main">
              <a:ext uri="{FF2B5EF4-FFF2-40B4-BE49-F238E27FC236}">
                <a16:creationId xmlns:a16="http://schemas.microsoft.com/office/drawing/2014/main" id="{2887913C-8C7D-4064-85AC-42CA1B85D8E1}"/>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Filtering reveals specific boosters and failure events</a:t>
            </a:r>
          </a:p>
        </p:txBody>
      </p:sp>
      <p:sp>
        <p:nvSpPr>
          <p:cNvPr id="3" name="">
            <a:extLst xmlns:a="http://schemas.openxmlformats.org/drawingml/2006/main">
              <a:ext uri="{FF2B5EF4-FFF2-40B4-BE49-F238E27FC236}">
                <a16:creationId xmlns:a16="http://schemas.microsoft.com/office/drawing/2014/main" id="{B4D78444-4B64-4C7C-9414-4B0954F0D253}"/>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Successful drone-ship landings with 4,000 &lt; payload &lt; 6,000 kg.</a:t>
            </a:r>
          </a:p>
        </p:txBody>
      </p:sp>
      <p:sp>
        <p:nvSpPr>
          <p:cNvPr id="4" name="">
            <a:extLst xmlns:a="http://schemas.openxmlformats.org/drawingml/2006/main">
              <a:ext uri="{FF2B5EF4-FFF2-40B4-BE49-F238E27FC236}">
                <a16:creationId xmlns:a16="http://schemas.microsoft.com/office/drawing/2014/main" id="{566FD68B-662B-47D1-BFF1-019CFC4998AA}"/>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e418f60188504105"/>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EE9840AD-3151-4712-86AC-AB312AC18B24}"/>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38FDF82-2D6A-48E2-94FD-D4932517DD23}"/>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SQL notebook; queries rerun on IBM Spacex.csv (n=101).</a:t>
            </a:r>
          </a:p>
        </p:txBody>
      </p:sp>
      <p:sp>
        <p:nvSpPr>
          <p:cNvPr id="7" name="">
            <a:extLst xmlns:a="http://schemas.openxmlformats.org/drawingml/2006/main">
              <a:ext uri="{FF2B5EF4-FFF2-40B4-BE49-F238E27FC236}">
                <a16:creationId xmlns:a16="http://schemas.microsoft.com/office/drawing/2014/main" id="{9B8D1CBD-6A4D-4BA4-A07E-BF660132B9B7}"/>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19</a:t>
            </a:r>
          </a:p>
        </p:txBody>
      </p:sp>
      <p:graphicFrame>
        <p:nvGraphicFramePr>
          <p:cNvPr id="18" name=""/>
          <p:cNvGraphicFramePr/>
          <p:nvPr/>
        </p:nvGraphicFramePr>
        <p:xfrm>
          <a:off xmlns:a="http://schemas.openxmlformats.org/drawingml/2006/main" x="552450" y="2200275"/>
          <a:ext xmlns:a="http://schemas.openxmlformats.org/drawingml/2006/main" cx="11087100" cy="2200275"/>
        </p:xfrm>
        <a:graphic xmlns:a="http://schemas.openxmlformats.org/drawingml/2006/main">
          <a:graphicData uri="http://schemas.openxmlformats.org/drawingml/2006/table">
            <a:tbl>
              <a:tblPr/>
              <a:tblGrid>
                <a:gridCol w="6667500"/>
                <a:gridCol w="4419600"/>
              </a:tblGrid>
              <a:tr h="1100138">
                <a:tc>
                  <a:txBody>
                    <a:bodyPr/>
                    <a:lstStyle/>
                    <a:p>
                      <a:r>
                        <a:rPr sz="1800" b="1">
                          <a:solidFill>
                            <a:srgbClr val="FFFFFF"/>
                          </a:solidFill>
                          <a:latin typeface="DejaVu Sans"/>
                          <a:ea typeface="DejaVu Sans"/>
                          <a:cs typeface="DejaVu Sans"/>
                        </a:rPr>
                        <a:t>Query</a:t>
                      </a:r>
                    </a:p>
                  </a:txBody>
                  <a:tcPr marL="91440" marR="91440" marT="45720" marB="45720">
                    <a:solidFill>
                      <a:srgbClr val="112B3C"/>
                    </a:solidFill>
                  </a:tcPr>
                </a:tc>
                <a:tc>
                  <a:txBody>
                    <a:bodyPr/>
                    <a:lstStyle/>
                    <a:p>
                      <a:r>
                        <a:rPr sz="1800" b="1">
                          <a:solidFill>
                            <a:srgbClr val="FFFFFF"/>
                          </a:solidFill>
                          <a:latin typeface="DejaVu Sans"/>
                          <a:ea typeface="DejaVu Sans"/>
                          <a:cs typeface="DejaVu Sans"/>
                        </a:rPr>
                        <a:t>Returned boosters</a:t>
                      </a:r>
                    </a:p>
                  </a:txBody>
                  <a:tcPr marL="91440" marR="91440" marT="45720" marB="45720">
                    <a:solidFill>
                      <a:srgbClr val="112B3C"/>
                    </a:solidFill>
                  </a:tcPr>
                </a:tc>
              </a:tr>
              <a:tr h="1100138">
                <a:tc>
                  <a:txBody>
                    <a:bodyPr/>
                    <a:lstStyle/>
                    <a:p>
                      <a:r>
                        <a:rPr sz="1800" b="0">
                          <a:solidFill>
                            <a:srgbClr val="112B3C"/>
                          </a:solidFill>
                          <a:latin typeface="DejaVu Sans"/>
                          <a:ea typeface="DejaVu Sans"/>
                          <a:cs typeface="DejaVu Sans"/>
                        </a:rPr>
                        <a:t>Landing_Outcome = Success (drone ship)</a:t>
                      </a:r>
                    </a:p>
                    <a:p>
                      <a:r>
                        <a:rPr sz="1800" b="0">
                          <a:solidFill>
                            <a:srgbClr val="112B3C"/>
                          </a:solidFill>
                          <a:latin typeface="DejaVu Sans"/>
                          <a:ea typeface="DejaVu Sans"/>
                          <a:cs typeface="DejaVu Sans"/>
                        </a:rPr>
                        <a:t>AND payload &gt; 4000 AND payload &lt; 6000</a:t>
                      </a:r>
                    </a:p>
                  </a:txBody>
                  <a:tcPr marL="91440" marR="91440" marT="45720" marB="45720">
                    <a:solidFill>
                      <a:srgbClr val="FFFFFF"/>
                    </a:solidFill>
                  </a:tcPr>
                </a:tc>
                <a:tc>
                  <a:txBody>
                    <a:bodyPr/>
                    <a:lstStyle/>
                    <a:p>
                      <a:r>
                        <a:rPr sz="1800" b="0">
                          <a:solidFill>
                            <a:srgbClr val="112B3C"/>
                          </a:solidFill>
                          <a:latin typeface="DejaVu Sans"/>
                          <a:ea typeface="DejaVu Sans"/>
                          <a:cs typeface="DejaVu Sans"/>
                        </a:rPr>
                        <a:t>F9 FT B1022</a:t>
                      </a:r>
                    </a:p>
                    <a:p>
                      <a:r>
                        <a:rPr sz="1800" b="0">
                          <a:solidFill>
                            <a:srgbClr val="112B3C"/>
                          </a:solidFill>
                          <a:latin typeface="DejaVu Sans"/>
                          <a:ea typeface="DejaVu Sans"/>
                          <a:cs typeface="DejaVu Sans"/>
                        </a:rPr>
                        <a:t>F9 FT B1026</a:t>
                      </a:r>
                    </a:p>
                    <a:p>
                      <a:r>
                        <a:rPr sz="1800" b="0">
                          <a:solidFill>
                            <a:srgbClr val="112B3C"/>
                          </a:solidFill>
                          <a:latin typeface="DejaVu Sans"/>
                          <a:ea typeface="DejaVu Sans"/>
                          <a:cs typeface="DejaVu Sans"/>
                        </a:rPr>
                        <a:t>F9 FT B1021.2</a:t>
                      </a:r>
                    </a:p>
                    <a:p>
                      <a:r>
                        <a:rPr sz="1800" b="0">
                          <a:solidFill>
                            <a:srgbClr val="112B3C"/>
                          </a:solidFill>
                          <a:latin typeface="DejaVu Sans"/>
                          <a:ea typeface="DejaVu Sans"/>
                          <a:cs typeface="DejaVu Sans"/>
                        </a:rPr>
                        <a:t>F9 FT B1031.2</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810A3507-63FB-41F3-AF24-5F3E526C8AF1}"/>
              </a:ext>
            </a:extLst>
          </p:cNvPr>
          <p:cNvSpPr>
            <a:spLocks xmlns:a="http://schemas.openxmlformats.org/drawingml/2006/main" noGrp="1"/>
          </p:cNvSpPr>
          <p:nvPr/>
        </p:nvSpPr>
        <p:spPr>
          <a:xfrm xmlns:a="http://schemas.openxmlformats.org/drawingml/2006/main">
            <a:off x="552450" y="470535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12B3C"/>
                </a:solidFill>
                <a:latin typeface="DejaVu Sans"/>
                <a:ea typeface="DejaVu Sans"/>
                <a:cs typeface="DejaVu Sans"/>
              </a:defRPr>
            </a:pPr>
            <a:r>
              <a:rPr sz="2025" b="1">
                <a:solidFill>
                  <a:srgbClr val="112B3C"/>
                </a:solidFill>
                <a:latin typeface="DejaVu Sans"/>
                <a:ea typeface="DejaVu Sans"/>
                <a:cs typeface="DejaVu Sans"/>
              </a:rPr>
              <a:t>2015 drone-ship failures</a:t>
            </a:r>
          </a:p>
        </p:txBody>
      </p:sp>
      <p:sp>
        <p:nvSpPr>
          <p:cNvPr id="10" name="">
            <a:extLst xmlns:a="http://schemas.openxmlformats.org/drawingml/2006/main">
              <a:ext uri="{FF2B5EF4-FFF2-40B4-BE49-F238E27FC236}">
                <a16:creationId xmlns:a16="http://schemas.microsoft.com/office/drawing/2014/main" id="{5043693D-BF41-4751-84DF-7FDBC31BB8A2}"/>
              </a:ext>
            </a:extLst>
          </p:cNvPr>
          <p:cNvSpPr>
            <a:spLocks xmlns:a="http://schemas.openxmlformats.org/drawingml/2006/main" noGrp="1"/>
          </p:cNvSpPr>
          <p:nvPr/>
        </p:nvSpPr>
        <p:spPr>
          <a:xfrm xmlns:a="http://schemas.openxmlformats.org/drawingml/2006/main">
            <a:off x="552450" y="51816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12B3C"/>
                </a:solidFill>
                <a:latin typeface="DejaVu Sans"/>
                <a:ea typeface="DejaVu Sans"/>
                <a:cs typeface="DejaVu Sans"/>
              </a:defRPr>
            </a:pPr>
            <a:r>
              <a:rPr sz="1950" b="0">
                <a:solidFill>
                  <a:srgbClr val="112B3C"/>
                </a:solidFill>
                <a:latin typeface="DejaVu Sans"/>
                <a:ea typeface="DejaVu Sans"/>
                <a:cs typeface="DejaVu Sans"/>
              </a:rPr>
              <a:t>January: B1012    •    April: B1015    •    Both at CCAFS LC-40</a:t>
            </a:r>
          </a:p>
        </p:txBody>
      </p:sp>
    </p:spTree>
    <p:extLst>
      <p:ext uri="{BB962C8B-B14F-4D97-AF65-F5344CB8AC3E}">
        <p14:creationId xmlns:p14="http://schemas.microsoft.com/office/powerpoint/2010/main" val="206563815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BB52AB5-FB9B-46E4-95EE-5FCE3D2EDF46}"/>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SQL</a:t>
            </a:r>
          </a:p>
        </p:txBody>
      </p:sp>
      <p:sp>
        <p:nvSpPr>
          <p:cNvPr id="2" name="">
            <a:extLst xmlns:a="http://schemas.openxmlformats.org/drawingml/2006/main">
              <a:ext uri="{FF2B5EF4-FFF2-40B4-BE49-F238E27FC236}">
                <a16:creationId xmlns:a16="http://schemas.microsoft.com/office/drawing/2014/main" id="{F1545010-8F8A-4247-AC08-7A24FC5216AC}"/>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Mission success and landing success are different</a:t>
            </a:r>
          </a:p>
        </p:txBody>
      </p:sp>
      <p:sp>
        <p:nvSpPr>
          <p:cNvPr id="3" name="">
            <a:extLst xmlns:a="http://schemas.openxmlformats.org/drawingml/2006/main">
              <a:ext uri="{FF2B5EF4-FFF2-40B4-BE49-F238E27FC236}">
                <a16:creationId xmlns:a16="http://schemas.microsoft.com/office/drawing/2014/main" id="{99B83F55-D647-449B-927E-EB7D2251BFCB}"/>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A payload can reach its mission objective even when first-stage landing fails.</a:t>
            </a:r>
          </a:p>
        </p:txBody>
      </p:sp>
      <p:sp>
        <p:nvSpPr>
          <p:cNvPr id="4" name="">
            <a:extLst xmlns:a="http://schemas.openxmlformats.org/drawingml/2006/main">
              <a:ext uri="{FF2B5EF4-FFF2-40B4-BE49-F238E27FC236}">
                <a16:creationId xmlns:a16="http://schemas.microsoft.com/office/drawing/2014/main" id="{0F95CE9D-B910-48A8-AE92-5D596EC3B15F}"/>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ee85ef014df74901"/>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350A0057-2CFF-4E3C-A9F3-1D458BA01BB5}"/>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948FA00-32CF-49B2-9B66-B4DBAD318B15}"/>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SQL notebook; queries rerun on IBM Spacex.csv (n=101).</a:t>
            </a:r>
          </a:p>
        </p:txBody>
      </p:sp>
      <p:sp>
        <p:nvSpPr>
          <p:cNvPr id="7" name="">
            <a:extLst xmlns:a="http://schemas.openxmlformats.org/drawingml/2006/main">
              <a:ext uri="{FF2B5EF4-FFF2-40B4-BE49-F238E27FC236}">
                <a16:creationId xmlns:a16="http://schemas.microsoft.com/office/drawing/2014/main" id="{0594BC91-2320-4738-8C13-EDCCAAFC1BF2}"/>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20</a:t>
            </a:r>
          </a:p>
        </p:txBody>
      </p:sp>
      <p:graphicFrame>
        <p:nvGraphicFramePr>
          <p:cNvPr id="20" name=""/>
          <p:cNvGraphicFramePr/>
          <p:nvPr/>
        </p:nvGraphicFramePr>
        <p:xfrm>
          <a:off xmlns:a="http://schemas.openxmlformats.org/drawingml/2006/main" x="552450" y="2200275"/>
          <a:ext xmlns:a="http://schemas.openxmlformats.org/drawingml/2006/main" cx="6524625" cy="2781300"/>
        </p:xfrm>
        <a:graphic xmlns:a="http://schemas.openxmlformats.org/drawingml/2006/main">
          <a:graphicData uri="http://schemas.openxmlformats.org/drawingml/2006/table">
            <a:tbl>
              <a:tblPr/>
              <a:tblGrid>
                <a:gridCol w="4524375"/>
                <a:gridCol w="2000250"/>
              </a:tblGrid>
              <a:tr h="695325">
                <a:tc>
                  <a:txBody>
                    <a:bodyPr/>
                    <a:lstStyle/>
                    <a:p>
                      <a:r>
                        <a:rPr sz="1875" b="1">
                          <a:solidFill>
                            <a:srgbClr val="FFFFFF"/>
                          </a:solidFill>
                          <a:latin typeface="DejaVu Sans"/>
                          <a:ea typeface="DejaVu Sans"/>
                          <a:cs typeface="DejaVu Sans"/>
                        </a:rPr>
                        <a:t>Mission outcome after TRIM</a:t>
                      </a:r>
                    </a:p>
                  </a:txBody>
                  <a:tcPr marL="91440" marR="91440" marT="45720" marB="45720">
                    <a:solidFill>
                      <a:srgbClr val="112B3C"/>
                    </a:solidFill>
                  </a:tcPr>
                </a:tc>
                <a:tc>
                  <a:txBody>
                    <a:bodyPr/>
                    <a:lstStyle/>
                    <a:p>
                      <a:r>
                        <a:rPr sz="1875" b="1">
                          <a:solidFill>
                            <a:srgbClr val="FFFFFF"/>
                          </a:solidFill>
                          <a:latin typeface="DejaVu Sans"/>
                          <a:ea typeface="DejaVu Sans"/>
                          <a:cs typeface="DejaVu Sans"/>
                        </a:rPr>
                        <a:t>Records</a:t>
                      </a:r>
                    </a:p>
                  </a:txBody>
                  <a:tcPr marL="91440" marR="91440" marT="45720" marB="45720">
                    <a:solidFill>
                      <a:srgbClr val="112B3C"/>
                    </a:solidFill>
                  </a:tcPr>
                </a:tc>
              </a:tr>
              <a:tr h="695325">
                <a:tc>
                  <a:txBody>
                    <a:bodyPr/>
                    <a:lstStyle/>
                    <a:p>
                      <a:r>
                        <a:rPr sz="1875" b="0">
                          <a:solidFill>
                            <a:srgbClr val="112B3C"/>
                          </a:solidFill>
                          <a:latin typeface="DejaVu Sans"/>
                          <a:ea typeface="DejaVu Sans"/>
                          <a:cs typeface="DejaVu Sans"/>
                        </a:rPr>
                        <a:t>Success</a:t>
                      </a:r>
                    </a:p>
                  </a:txBody>
                  <a:tcPr marL="91440" marR="91440" marT="45720" marB="45720">
                    <a:solidFill>
                      <a:srgbClr val="FFFFFF"/>
                    </a:solidFill>
                  </a:tcPr>
                </a:tc>
                <a:tc>
                  <a:txBody>
                    <a:bodyPr/>
                    <a:lstStyle/>
                    <a:p>
                      <a:r>
                        <a:rPr sz="1875" b="0">
                          <a:solidFill>
                            <a:srgbClr val="112B3C"/>
                          </a:solidFill>
                          <a:latin typeface="DejaVu Sans"/>
                          <a:ea typeface="DejaVu Sans"/>
                          <a:cs typeface="DejaVu Sans"/>
                        </a:rPr>
                        <a:t>99</a:t>
                      </a:r>
                    </a:p>
                  </a:txBody>
                  <a:tcPr marL="91440" marR="91440" marT="45720" marB="45720">
                    <a:solidFill>
                      <a:srgbClr val="FFFFFF"/>
                    </a:solidFill>
                  </a:tcPr>
                </a:tc>
              </a:tr>
              <a:tr h="695325">
                <a:tc>
                  <a:txBody>
                    <a:bodyPr/>
                    <a:lstStyle/>
                    <a:p>
                      <a:r>
                        <a:rPr sz="1875" b="0">
                          <a:solidFill>
                            <a:srgbClr val="112B3C"/>
                          </a:solidFill>
                          <a:latin typeface="DejaVu Sans"/>
                          <a:ea typeface="DejaVu Sans"/>
                          <a:cs typeface="DejaVu Sans"/>
                        </a:rPr>
                        <a:t>Success (payload status unclear)</a:t>
                      </a:r>
                    </a:p>
                  </a:txBody>
                  <a:tcPr marL="91440" marR="91440" marT="45720" marB="45720">
                    <a:solidFill>
                      <a:srgbClr val="F3F6F8"/>
                    </a:solidFill>
                  </a:tcPr>
                </a:tc>
                <a:tc>
                  <a:txBody>
                    <a:bodyPr/>
                    <a:lstStyle/>
                    <a:p>
                      <a:r>
                        <a:rPr sz="1875" b="0">
                          <a:solidFill>
                            <a:srgbClr val="112B3C"/>
                          </a:solidFill>
                          <a:latin typeface="DejaVu Sans"/>
                          <a:ea typeface="DejaVu Sans"/>
                          <a:cs typeface="DejaVu Sans"/>
                        </a:rPr>
                        <a:t>1</a:t>
                      </a:r>
                    </a:p>
                  </a:txBody>
                  <a:tcPr marL="91440" marR="91440" marT="45720" marB="45720">
                    <a:solidFill>
                      <a:srgbClr val="F3F6F8"/>
                    </a:solidFill>
                  </a:tcPr>
                </a:tc>
              </a:tr>
              <a:tr h="695325">
                <a:tc>
                  <a:txBody>
                    <a:bodyPr/>
                    <a:lstStyle/>
                    <a:p>
                      <a:r>
                        <a:rPr sz="1875" b="0">
                          <a:solidFill>
                            <a:srgbClr val="112B3C"/>
                          </a:solidFill>
                          <a:latin typeface="DejaVu Sans"/>
                          <a:ea typeface="DejaVu Sans"/>
                          <a:cs typeface="DejaVu Sans"/>
                        </a:rPr>
                        <a:t>Failure (in flight)</a:t>
                      </a:r>
                    </a:p>
                  </a:txBody>
                  <a:tcPr marL="91440" marR="91440" marT="45720" marB="45720">
                    <a:solidFill>
                      <a:srgbClr val="FFFFFF"/>
                    </a:solidFill>
                  </a:tcPr>
                </a:tc>
                <a:tc>
                  <a:txBody>
                    <a:bodyPr/>
                    <a:lstStyle/>
                    <a:p>
                      <a:r>
                        <a:rPr sz="1875" b="0">
                          <a:solidFill>
                            <a:srgbClr val="112B3C"/>
                          </a:solidFill>
                          <a:latin typeface="DejaVu Sans"/>
                          <a:ea typeface="DejaVu Sans"/>
                          <a:cs typeface="DejaVu Sans"/>
                        </a:rPr>
                        <a:t>1</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08780504-D76C-4280-B28A-DEF879F89E41}"/>
              </a:ext>
            </a:extLst>
          </p:cNvPr>
          <p:cNvSpPr>
            <a:spLocks xmlns:a="http://schemas.openxmlformats.org/drawingml/2006/main" noGrp="1"/>
          </p:cNvSpPr>
          <p:nvPr/>
        </p:nvSpPr>
        <p:spPr>
          <a:xfrm xmlns:a="http://schemas.openxmlformats.org/drawingml/2006/main">
            <a:off x="7572375" y="2266950"/>
            <a:ext cx="3943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12B3C"/>
                </a:solidFill>
                <a:latin typeface="DejaVu Sans"/>
                <a:ea typeface="DejaVu Sans"/>
                <a:cs typeface="DejaVu Sans"/>
              </a:defRPr>
            </a:pPr>
            <a:r>
              <a:rPr sz="2175" b="1">
                <a:solidFill>
                  <a:srgbClr val="112B3C"/>
                </a:solidFill>
                <a:latin typeface="DejaVu Sans"/>
                <a:ea typeface="DejaVu Sans"/>
                <a:cs typeface="DejaVu Sans"/>
              </a:rPr>
              <a:t>A small cleaning issue matters</a:t>
            </a:r>
          </a:p>
        </p:txBody>
      </p:sp>
      <p:sp>
        <p:nvSpPr>
          <p:cNvPr id="10" name="">
            <a:extLst xmlns:a="http://schemas.openxmlformats.org/drawingml/2006/main">
              <a:ext uri="{FF2B5EF4-FFF2-40B4-BE49-F238E27FC236}">
                <a16:creationId xmlns:a16="http://schemas.microsoft.com/office/drawing/2014/main" id="{464020CF-A294-4A6A-B86D-6D921BBAE3C1}"/>
              </a:ext>
            </a:extLst>
          </p:cNvPr>
          <p:cNvSpPr>
            <a:spLocks xmlns:a="http://schemas.openxmlformats.org/drawingml/2006/main" noGrp="1"/>
          </p:cNvSpPr>
          <p:nvPr/>
        </p:nvSpPr>
        <p:spPr>
          <a:xfrm xmlns:a="http://schemas.openxmlformats.org/drawingml/2006/main">
            <a:off x="7572375" y="3114675"/>
            <a:ext cx="397192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2B3C"/>
                </a:solidFill>
                <a:latin typeface="DejaVu Sans"/>
                <a:ea typeface="DejaVu Sans"/>
                <a:cs typeface="DejaVu Sans"/>
              </a:defRPr>
            </a:pPr>
            <a:r>
              <a:rPr sz="1800" b="0">
                <a:solidFill>
                  <a:srgbClr val="112B3C"/>
                </a:solidFill>
                <a:latin typeface="DejaVu Sans"/>
                <a:ea typeface="DejaVu Sans"/>
                <a:cs typeface="DejaVu Sans"/>
              </a:rPr>
              <a:t>The raw SQL output separates “Success” and “Success ”.</a:t>
            </a:r>
          </a:p>
          <a:p xmlns:a="http://schemas.openxmlformats.org/drawingml/2006/main">
            <a:r>
              <a:t/>
            </a:r>
          </a:p>
          <a:p xmlns:a="http://schemas.openxmlformats.org/drawingml/2006/main">
            <a:pPr>
              <a:defRPr sz="1800" b="0">
                <a:solidFill>
                  <a:srgbClr val="112B3C"/>
                </a:solidFill>
                <a:latin typeface="DejaVu Sans"/>
                <a:ea typeface="DejaVu Sans"/>
                <a:cs typeface="DejaVu Sans"/>
              </a:defRPr>
            </a:pPr>
            <a:r>
              <a:rPr sz="1800" b="0">
                <a:solidFill>
                  <a:srgbClr val="112B3C"/>
                </a:solidFill>
                <a:latin typeface="DejaVu Sans"/>
                <a:ea typeface="DejaVu Sans"/>
                <a:cs typeface="DejaVu Sans"/>
              </a:rPr>
              <a:t>Trimming merges 98 + 1 rows without changing the other outcome labels.</a:t>
            </a:r>
          </a:p>
        </p:txBody>
      </p:sp>
      <p:sp>
        <p:nvSpPr>
          <p:cNvPr id="11" name="">
            <a:extLst xmlns:a="http://schemas.openxmlformats.org/drawingml/2006/main">
              <a:ext uri="{FF2B5EF4-FFF2-40B4-BE49-F238E27FC236}">
                <a16:creationId xmlns:a16="http://schemas.microsoft.com/office/drawing/2014/main" id="{CF536060-965C-4542-87CB-CE9B3ACA80E0}"/>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EB4FB6-0CEB-4CCC-B0A3-2882A459847D}"/>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Do not substitute Mission_Outcome for the first-stage classification target.</a:t>
            </a:r>
          </a:p>
        </p:txBody>
      </p:sp>
    </p:spTree>
    <p:extLst>
      <p:ext uri="{BB962C8B-B14F-4D97-AF65-F5344CB8AC3E}">
        <p14:creationId xmlns:p14="http://schemas.microsoft.com/office/powerpoint/2010/main" val="211752527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87B3E4-D61D-46A7-AF8A-7518F4AA6599}"/>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SQL</a:t>
            </a:r>
          </a:p>
        </p:txBody>
      </p:sp>
      <p:sp>
        <p:nvSpPr>
          <p:cNvPr id="2" name="">
            <a:extLst xmlns:a="http://schemas.openxmlformats.org/drawingml/2006/main">
              <a:ext uri="{FF2B5EF4-FFF2-40B4-BE49-F238E27FC236}">
                <a16:creationId xmlns:a16="http://schemas.microsoft.com/office/drawing/2014/main" id="{A403B005-B74D-4D00-9C42-F992741AC1F3}"/>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KSC leads the SQL landing-success rate</a:t>
            </a:r>
          </a:p>
        </p:txBody>
      </p:sp>
      <p:sp>
        <p:nvSpPr>
          <p:cNvPr id="3" name="">
            <a:extLst xmlns:a="http://schemas.openxmlformats.org/drawingml/2006/main">
              <a:ext uri="{FF2B5EF4-FFF2-40B4-BE49-F238E27FC236}">
                <a16:creationId xmlns:a16="http://schemas.microsoft.com/office/drawing/2014/main" id="{0F5FDF72-75FE-4CAF-97B5-9603F846AC37}"/>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All 101 SQL records. Numerator: landing outcomes beginning with Success.</a:t>
            </a:r>
          </a:p>
        </p:txBody>
      </p:sp>
      <p:sp>
        <p:nvSpPr>
          <p:cNvPr id="4" name="">
            <a:extLst xmlns:a="http://schemas.openxmlformats.org/drawingml/2006/main">
              <a:ext uri="{FF2B5EF4-FFF2-40B4-BE49-F238E27FC236}">
                <a16:creationId xmlns:a16="http://schemas.microsoft.com/office/drawing/2014/main" id="{80CD9641-E683-46A9-801B-C733CB4096C6}"/>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c9a25f6165f54280"/>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A57A1906-F03B-485C-9060-288E8630D65B}"/>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7135D7A-ADA1-4532-A79C-DB4C8794EFD2}"/>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SQL notebook; queries rerun on IBM Spacex.csv (n=101).</a:t>
            </a:r>
          </a:p>
        </p:txBody>
      </p:sp>
      <p:sp>
        <p:nvSpPr>
          <p:cNvPr id="7" name="">
            <a:extLst xmlns:a="http://schemas.openxmlformats.org/drawingml/2006/main">
              <a:ext uri="{FF2B5EF4-FFF2-40B4-BE49-F238E27FC236}">
                <a16:creationId xmlns:a16="http://schemas.microsoft.com/office/drawing/2014/main" id="{296A074A-C1CF-4B71-BF73-6607F9A051E1}"/>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21</a:t>
            </a:r>
          </a:p>
        </p:txBody>
      </p:sp>
      <p:graphicFrame>
        <p:nvGraphicFramePr>
          <p:cNvPr id="18" name=""/>
          <p:cNvGraphicFramePr/>
          <p:nvPr/>
        </p:nvGraphicFramePr>
        <p:xfrm>
          <a:off xmlns:a="http://schemas.openxmlformats.org/drawingml/2006/main" x="552450" y="2257425"/>
          <a:ext xmlns:a="http://schemas.openxmlformats.org/drawingml/2006/main" cx="11087100" cy="2905125"/>
        </p:xfrm>
        <a:graphic xmlns:a="http://schemas.openxmlformats.org/drawingml/2006/main">
          <a:graphicData uri="http://schemas.openxmlformats.org/drawingml/2006/table">
            <a:tbl>
              <a:tblPr/>
              <a:tblGrid>
                <a:gridCol w="4381500"/>
                <a:gridCol w="3333750"/>
                <a:gridCol w="3371850"/>
              </a:tblGrid>
              <a:tr h="581025">
                <a:tc>
                  <a:txBody>
                    <a:bodyPr/>
                    <a:lstStyle/>
                    <a:p>
                      <a:r>
                        <a:rPr sz="1800" b="1">
                          <a:solidFill>
                            <a:srgbClr val="FFFFFF"/>
                          </a:solidFill>
                          <a:latin typeface="DejaVu Sans"/>
                          <a:ea typeface="DejaVu Sans"/>
                          <a:cs typeface="DejaVu Sans"/>
                        </a:rPr>
                        <a:t>Launch site</a:t>
                      </a:r>
                    </a:p>
                  </a:txBody>
                  <a:tcPr marL="91440" marR="91440" marT="45720" marB="45720">
                    <a:solidFill>
                      <a:srgbClr val="112B3C"/>
                    </a:solidFill>
                  </a:tcPr>
                </a:tc>
                <a:tc>
                  <a:txBody>
                    <a:bodyPr/>
                    <a:lstStyle/>
                    <a:p>
                      <a:r>
                        <a:rPr sz="1800" b="1">
                          <a:solidFill>
                            <a:srgbClr val="FFFFFF"/>
                          </a:solidFill>
                          <a:latin typeface="DejaVu Sans"/>
                          <a:ea typeface="DejaVu Sans"/>
                          <a:cs typeface="DejaVu Sans"/>
                        </a:rPr>
                        <a:t>Success / launches</a:t>
                      </a:r>
                    </a:p>
                  </a:txBody>
                  <a:tcPr marL="91440" marR="91440" marT="45720" marB="45720">
                    <a:solidFill>
                      <a:srgbClr val="112B3C"/>
                    </a:solidFill>
                  </a:tcPr>
                </a:tc>
                <a:tc>
                  <a:txBody>
                    <a:bodyPr/>
                    <a:lstStyle/>
                    <a:p>
                      <a:r>
                        <a:rPr sz="1800" b="1">
                          <a:solidFill>
                            <a:srgbClr val="FFFFFF"/>
                          </a:solidFill>
                          <a:latin typeface="DejaVu Sans"/>
                          <a:ea typeface="DejaVu Sans"/>
                          <a:cs typeface="DejaVu Sans"/>
                        </a:rPr>
                        <a:t>Landing success rate</a:t>
                      </a:r>
                    </a:p>
                  </a:txBody>
                  <a:tcPr marL="91440" marR="91440" marT="45720" marB="45720">
                    <a:solidFill>
                      <a:srgbClr val="112B3C"/>
                    </a:solidFill>
                  </a:tcPr>
                </a:tc>
              </a:tr>
              <a:tr h="581025">
                <a:tc>
                  <a:txBody>
                    <a:bodyPr/>
                    <a:lstStyle/>
                    <a:p>
                      <a:r>
                        <a:rPr sz="1800" b="0">
                          <a:solidFill>
                            <a:srgbClr val="112B3C"/>
                          </a:solidFill>
                          <a:latin typeface="DejaVu Sans"/>
                          <a:ea typeface="DejaVu Sans"/>
                          <a:cs typeface="DejaVu Sans"/>
                        </a:rPr>
                        <a:t>KSC LC-39A</a:t>
                      </a:r>
                    </a:p>
                  </a:txBody>
                  <a:tcPr marL="91440" marR="91440" marT="45720" marB="45720">
                    <a:solidFill>
                      <a:srgbClr val="FFFFFF"/>
                    </a:solidFill>
                  </a:tcPr>
                </a:tc>
                <a:tc>
                  <a:txBody>
                    <a:bodyPr/>
                    <a:lstStyle/>
                    <a:p>
                      <a:r>
                        <a:rPr sz="1800" b="0">
                          <a:solidFill>
                            <a:srgbClr val="112B3C"/>
                          </a:solidFill>
                          <a:latin typeface="DejaVu Sans"/>
                          <a:ea typeface="DejaVu Sans"/>
                          <a:cs typeface="DejaVu Sans"/>
                        </a:rPr>
                        <a:t>20 / 25</a:t>
                      </a:r>
                    </a:p>
                  </a:txBody>
                  <a:tcPr marL="91440" marR="91440" marT="45720" marB="45720">
                    <a:solidFill>
                      <a:srgbClr val="FFFFFF"/>
                    </a:solidFill>
                  </a:tcPr>
                </a:tc>
                <a:tc>
                  <a:txBody>
                    <a:bodyPr/>
                    <a:lstStyle/>
                    <a:p>
                      <a:r>
                        <a:rPr sz="1800" b="0">
                          <a:solidFill>
                            <a:srgbClr val="112B3C"/>
                          </a:solidFill>
                          <a:latin typeface="DejaVu Sans"/>
                          <a:ea typeface="DejaVu Sans"/>
                          <a:cs typeface="DejaVu Sans"/>
                        </a:rPr>
                        <a:t>80.00%</a:t>
                      </a:r>
                    </a:p>
                  </a:txBody>
                  <a:tcPr marL="91440" marR="91440" marT="45720" marB="45720">
                    <a:solidFill>
                      <a:srgbClr val="FFFFFF"/>
                    </a:solidFill>
                  </a:tcPr>
                </a:tc>
              </a:tr>
              <a:tr h="581025">
                <a:tc>
                  <a:txBody>
                    <a:bodyPr/>
                    <a:lstStyle/>
                    <a:p>
                      <a:r>
                        <a:rPr sz="1800" b="0">
                          <a:solidFill>
                            <a:srgbClr val="112B3C"/>
                          </a:solidFill>
                          <a:latin typeface="DejaVu Sans"/>
                          <a:ea typeface="DejaVu Sans"/>
                          <a:cs typeface="DejaVu Sans"/>
                        </a:rPr>
                        <a:t>CCAFS SLC-40</a:t>
                      </a:r>
                    </a:p>
                  </a:txBody>
                  <a:tcPr marL="91440" marR="91440" marT="45720" marB="45720">
                    <a:solidFill>
                      <a:srgbClr val="F3F6F8"/>
                    </a:solidFill>
                  </a:tcPr>
                </a:tc>
                <a:tc>
                  <a:txBody>
                    <a:bodyPr/>
                    <a:lstStyle/>
                    <a:p>
                      <a:r>
                        <a:rPr sz="1800" b="0">
                          <a:solidFill>
                            <a:srgbClr val="112B3C"/>
                          </a:solidFill>
                          <a:latin typeface="DejaVu Sans"/>
                          <a:ea typeface="DejaVu Sans"/>
                          <a:cs typeface="DejaVu Sans"/>
                        </a:rPr>
                        <a:t>25 / 34</a:t>
                      </a:r>
                    </a:p>
                  </a:txBody>
                  <a:tcPr marL="91440" marR="91440" marT="45720" marB="45720">
                    <a:solidFill>
                      <a:srgbClr val="F3F6F8"/>
                    </a:solidFill>
                  </a:tcPr>
                </a:tc>
                <a:tc>
                  <a:txBody>
                    <a:bodyPr/>
                    <a:lstStyle/>
                    <a:p>
                      <a:r>
                        <a:rPr sz="1800" b="0">
                          <a:solidFill>
                            <a:srgbClr val="112B3C"/>
                          </a:solidFill>
                          <a:latin typeface="DejaVu Sans"/>
                          <a:ea typeface="DejaVu Sans"/>
                          <a:cs typeface="DejaVu Sans"/>
                        </a:rPr>
                        <a:t>73.53%</a:t>
                      </a:r>
                    </a:p>
                  </a:txBody>
                  <a:tcPr marL="91440" marR="91440" marT="45720" marB="45720">
                    <a:solidFill>
                      <a:srgbClr val="F3F6F8"/>
                    </a:solidFill>
                  </a:tcPr>
                </a:tc>
              </a:tr>
              <a:tr h="581025">
                <a:tc>
                  <a:txBody>
                    <a:bodyPr/>
                    <a:lstStyle/>
                    <a:p>
                      <a:r>
                        <a:rPr sz="1800" b="0">
                          <a:solidFill>
                            <a:srgbClr val="112B3C"/>
                          </a:solidFill>
                          <a:latin typeface="DejaVu Sans"/>
                          <a:ea typeface="DejaVu Sans"/>
                          <a:cs typeface="DejaVu Sans"/>
                        </a:rPr>
                        <a:t>VAFB SLC-4E</a:t>
                      </a:r>
                    </a:p>
                  </a:txBody>
                  <a:tcPr marL="91440" marR="91440" marT="45720" marB="45720">
                    <a:solidFill>
                      <a:srgbClr val="FFFFFF"/>
                    </a:solidFill>
                  </a:tcPr>
                </a:tc>
                <a:tc>
                  <a:txBody>
                    <a:bodyPr/>
                    <a:lstStyle/>
                    <a:p>
                      <a:r>
                        <a:rPr sz="1800" b="0">
                          <a:solidFill>
                            <a:srgbClr val="112B3C"/>
                          </a:solidFill>
                          <a:latin typeface="DejaVu Sans"/>
                          <a:ea typeface="DejaVu Sans"/>
                          <a:cs typeface="DejaVu Sans"/>
                        </a:rPr>
                        <a:t>10 / 16</a:t>
                      </a:r>
                    </a:p>
                  </a:txBody>
                  <a:tcPr marL="91440" marR="91440" marT="45720" marB="45720">
                    <a:solidFill>
                      <a:srgbClr val="FFFFFF"/>
                    </a:solidFill>
                  </a:tcPr>
                </a:tc>
                <a:tc>
                  <a:txBody>
                    <a:bodyPr/>
                    <a:lstStyle/>
                    <a:p>
                      <a:r>
                        <a:rPr sz="1800" b="0">
                          <a:solidFill>
                            <a:srgbClr val="112B3C"/>
                          </a:solidFill>
                          <a:latin typeface="DejaVu Sans"/>
                          <a:ea typeface="DejaVu Sans"/>
                          <a:cs typeface="DejaVu Sans"/>
                        </a:rPr>
                        <a:t>62.50%</a:t>
                      </a:r>
                    </a:p>
                  </a:txBody>
                  <a:tcPr marL="91440" marR="91440" marT="45720" marB="45720">
                    <a:solidFill>
                      <a:srgbClr val="FFFFFF"/>
                    </a:solidFill>
                  </a:tcPr>
                </a:tc>
              </a:tr>
              <a:tr h="581025">
                <a:tc>
                  <a:txBody>
                    <a:bodyPr/>
                    <a:lstStyle/>
                    <a:p>
                      <a:r>
                        <a:rPr sz="1800" b="0">
                          <a:solidFill>
                            <a:srgbClr val="112B3C"/>
                          </a:solidFill>
                          <a:latin typeface="DejaVu Sans"/>
                          <a:ea typeface="DejaVu Sans"/>
                          <a:cs typeface="DejaVu Sans"/>
                        </a:rPr>
                        <a:t>CCAFS LC-40</a:t>
                      </a:r>
                    </a:p>
                  </a:txBody>
                  <a:tcPr marL="91440" marR="91440" marT="45720" marB="45720">
                    <a:solidFill>
                      <a:srgbClr val="F3F6F8"/>
                    </a:solidFill>
                  </a:tcPr>
                </a:tc>
                <a:tc>
                  <a:txBody>
                    <a:bodyPr/>
                    <a:lstStyle/>
                    <a:p>
                      <a:r>
                        <a:rPr sz="1800" b="0">
                          <a:solidFill>
                            <a:srgbClr val="112B3C"/>
                          </a:solidFill>
                          <a:latin typeface="DejaVu Sans"/>
                          <a:ea typeface="DejaVu Sans"/>
                          <a:cs typeface="DejaVu Sans"/>
                        </a:rPr>
                        <a:t>6 / 26</a:t>
                      </a:r>
                    </a:p>
                  </a:txBody>
                  <a:tcPr marL="91440" marR="91440" marT="45720" marB="45720">
                    <a:solidFill>
                      <a:srgbClr val="F3F6F8"/>
                    </a:solidFill>
                  </a:tcPr>
                </a:tc>
                <a:tc>
                  <a:txBody>
                    <a:bodyPr/>
                    <a:lstStyle/>
                    <a:p>
                      <a:r>
                        <a:rPr sz="1800" b="0">
                          <a:solidFill>
                            <a:srgbClr val="112B3C"/>
                          </a:solidFill>
                          <a:latin typeface="DejaVu Sans"/>
                          <a:ea typeface="DejaVu Sans"/>
                          <a:cs typeface="DejaVu Sans"/>
                        </a:rPr>
                        <a:t>23.08%</a:t>
                      </a:r>
                    </a:p>
                  </a:txBody>
                  <a:tcPr marL="91440" marR="91440" marT="45720" marB="45720">
                    <a:solidFill>
                      <a:srgbClr val="F3F6F8"/>
                    </a:solidFill>
                  </a:tcPr>
                </a:tc>
              </a:tr>
            </a:tbl>
          </a:graphicData>
        </a:graphic>
      </p:graphicFrame>
      <p:sp>
        <p:nvSpPr>
          <p:cNvPr id="9" name="">
            <a:extLst xmlns:a="http://schemas.openxmlformats.org/drawingml/2006/main">
              <a:ext uri="{FF2B5EF4-FFF2-40B4-BE49-F238E27FC236}">
                <a16:creationId xmlns:a16="http://schemas.microsoft.com/office/drawing/2014/main" id="{1F8D69E4-0BF7-4D9F-AF9D-EFE81A29B5FE}"/>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EF253F3-0F0D-4F1F-B789-2D55E9DC9129}"/>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CCAFS SLC-40 has the largest success count (25). KSC has the highest rate (80%).</a:t>
            </a:r>
          </a:p>
        </p:txBody>
      </p:sp>
    </p:spTree>
    <p:extLst>
      <p:ext uri="{BB962C8B-B14F-4D97-AF65-F5344CB8AC3E}">
        <p14:creationId xmlns:p14="http://schemas.microsoft.com/office/powerpoint/2010/main" val="20600014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2F464B-9A49-4DEB-929F-4D412CE3FBF5}"/>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SQL</a:t>
            </a:r>
          </a:p>
        </p:txBody>
      </p:sp>
      <p:sp>
        <p:nvSpPr>
          <p:cNvPr id="2" name="">
            <a:extLst xmlns:a="http://schemas.openxmlformats.org/drawingml/2006/main">
              <a:ext uri="{FF2B5EF4-FFF2-40B4-BE49-F238E27FC236}">
                <a16:creationId xmlns:a16="http://schemas.microsoft.com/office/drawing/2014/main" id="{A224CA84-2E7E-4F1E-BC7E-ECB08A86B0B5}"/>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Historical outcome ranking and launch growth</a:t>
            </a:r>
          </a:p>
        </p:txBody>
      </p:sp>
      <p:sp>
        <p:nvSpPr>
          <p:cNvPr id="3" name="">
            <a:extLst xmlns:a="http://schemas.openxmlformats.org/drawingml/2006/main">
              <a:ext uri="{FF2B5EF4-FFF2-40B4-BE49-F238E27FC236}">
                <a16:creationId xmlns:a16="http://schemas.microsoft.com/office/drawing/2014/main" id="{468DC105-53ED-4FF2-98B7-EACE48EA118F}"/>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The ranking uses the lab date window. Annual counts use the full SQL snapshot.</a:t>
            </a:r>
          </a:p>
        </p:txBody>
      </p:sp>
      <p:sp>
        <p:nvSpPr>
          <p:cNvPr id="4" name="">
            <a:extLst xmlns:a="http://schemas.openxmlformats.org/drawingml/2006/main">
              <a:ext uri="{FF2B5EF4-FFF2-40B4-BE49-F238E27FC236}">
                <a16:creationId xmlns:a16="http://schemas.microsoft.com/office/drawing/2014/main" id="{70BBD128-173D-4227-888E-5BCBF3B88CAB}"/>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42bb1476b1d44482"/>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20742313-6B3B-4B1D-BD0B-C162CFF8B222}"/>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B00C664-E404-48C8-B8D5-6A50A4077D7A}"/>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SQL notebook; queries rerun on IBM Spacex.csv (n=101).</a:t>
            </a:r>
          </a:p>
        </p:txBody>
      </p:sp>
      <p:sp>
        <p:nvSpPr>
          <p:cNvPr id="7" name="">
            <a:extLst xmlns:a="http://schemas.openxmlformats.org/drawingml/2006/main">
              <a:ext uri="{FF2B5EF4-FFF2-40B4-BE49-F238E27FC236}">
                <a16:creationId xmlns:a16="http://schemas.microsoft.com/office/drawing/2014/main" id="{FB67BB4A-2E0D-4A97-9CFA-418E85591480}"/>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22</a:t>
            </a:r>
          </a:p>
        </p:txBody>
      </p:sp>
      <p:graphicFrame>
        <p:nvGraphicFramePr>
          <p:cNvPr id="18" name=""/>
          <p:cNvGraphicFramePr/>
          <p:nvPr/>
        </p:nvGraphicFramePr>
        <p:xfrm>
          <a:off xmlns:a="http://schemas.openxmlformats.org/drawingml/2006/main" x="552450" y="2152650"/>
          <a:ext xmlns:a="http://schemas.openxmlformats.org/drawingml/2006/main" cx="5886450" cy="3619500"/>
        </p:xfrm>
        <a:graphic xmlns:a="http://schemas.openxmlformats.org/drawingml/2006/main">
          <a:graphicData uri="http://schemas.openxmlformats.org/drawingml/2006/table">
            <a:tbl>
              <a:tblPr/>
              <a:tblGrid>
                <a:gridCol w="4191000"/>
                <a:gridCol w="1695450"/>
              </a:tblGrid>
              <a:tr h="402167">
                <a:tc>
                  <a:txBody>
                    <a:bodyPr/>
                    <a:lstStyle/>
                    <a:p>
                      <a:r>
                        <a:rPr sz="1500" b="1">
                          <a:solidFill>
                            <a:srgbClr val="FFFFFF"/>
                          </a:solidFill>
                          <a:latin typeface="DejaVu Sans"/>
                          <a:ea typeface="DejaVu Sans"/>
                          <a:cs typeface="DejaVu Sans"/>
                        </a:rPr>
                        <a:t>Landing outcome</a:t>
                      </a:r>
                    </a:p>
                  </a:txBody>
                  <a:tcPr marL="91440" marR="91440" marT="45720" marB="45720">
                    <a:solidFill>
                      <a:srgbClr val="112B3C"/>
                    </a:solidFill>
                  </a:tcPr>
                </a:tc>
                <a:tc>
                  <a:txBody>
                    <a:bodyPr/>
                    <a:lstStyle/>
                    <a:p>
                      <a:r>
                        <a:rPr sz="1500" b="1">
                          <a:solidFill>
                            <a:srgbClr val="FFFFFF"/>
                          </a:solidFill>
                          <a:latin typeface="DejaVu Sans"/>
                          <a:ea typeface="DejaVu Sans"/>
                          <a:cs typeface="DejaVu Sans"/>
                        </a:rPr>
                        <a:t>Count</a:t>
                      </a:r>
                    </a:p>
                  </a:txBody>
                  <a:tcPr marL="91440" marR="91440" marT="45720" marB="45720">
                    <a:solidFill>
                      <a:srgbClr val="112B3C"/>
                    </a:solidFill>
                  </a:tcPr>
                </a:tc>
              </a:tr>
              <a:tr h="402167">
                <a:tc>
                  <a:txBody>
                    <a:bodyPr/>
                    <a:lstStyle/>
                    <a:p>
                      <a:r>
                        <a:rPr sz="1500" b="0">
                          <a:solidFill>
                            <a:srgbClr val="112B3C"/>
                          </a:solidFill>
                          <a:latin typeface="DejaVu Sans"/>
                          <a:ea typeface="DejaVu Sans"/>
                          <a:cs typeface="DejaVu Sans"/>
                        </a:rPr>
                        <a:t>No attempt</a:t>
                      </a:r>
                    </a:p>
                  </a:txBody>
                  <a:tcPr marL="91440" marR="91440" marT="45720" marB="45720">
                    <a:solidFill>
                      <a:srgbClr val="FFFFFF"/>
                    </a:solidFill>
                  </a:tcPr>
                </a:tc>
                <a:tc>
                  <a:txBody>
                    <a:bodyPr/>
                    <a:lstStyle/>
                    <a:p>
                      <a:r>
                        <a:rPr sz="1500" b="0">
                          <a:solidFill>
                            <a:srgbClr val="112B3C"/>
                          </a:solidFill>
                          <a:latin typeface="DejaVu Sans"/>
                          <a:ea typeface="DejaVu Sans"/>
                          <a:cs typeface="DejaVu Sans"/>
                        </a:rPr>
                        <a:t>10</a:t>
                      </a:r>
                    </a:p>
                  </a:txBody>
                  <a:tcPr marL="91440" marR="91440" marT="45720" marB="45720">
                    <a:solidFill>
                      <a:srgbClr val="FFFFFF"/>
                    </a:solidFill>
                  </a:tcPr>
                </a:tc>
              </a:tr>
              <a:tr h="402167">
                <a:tc>
                  <a:txBody>
                    <a:bodyPr/>
                    <a:lstStyle/>
                    <a:p>
                      <a:r>
                        <a:rPr sz="1500" b="0">
                          <a:solidFill>
                            <a:srgbClr val="112B3C"/>
                          </a:solidFill>
                          <a:latin typeface="DejaVu Sans"/>
                          <a:ea typeface="DejaVu Sans"/>
                          <a:cs typeface="DejaVu Sans"/>
                        </a:rPr>
                        <a:t>Failure (drone ship)</a:t>
                      </a:r>
                    </a:p>
                  </a:txBody>
                  <a:tcPr marL="91440" marR="91440" marT="45720" marB="45720">
                    <a:solidFill>
                      <a:srgbClr val="F3F6F8"/>
                    </a:solidFill>
                  </a:tcPr>
                </a:tc>
                <a:tc>
                  <a:txBody>
                    <a:bodyPr/>
                    <a:lstStyle/>
                    <a:p>
                      <a:r>
                        <a:rPr sz="1500" b="0">
                          <a:solidFill>
                            <a:srgbClr val="112B3C"/>
                          </a:solidFill>
                          <a:latin typeface="DejaVu Sans"/>
                          <a:ea typeface="DejaVu Sans"/>
                          <a:cs typeface="DejaVu Sans"/>
                        </a:rPr>
                        <a:t>5</a:t>
                      </a:r>
                    </a:p>
                  </a:txBody>
                  <a:tcPr marL="91440" marR="91440" marT="45720" marB="45720">
                    <a:solidFill>
                      <a:srgbClr val="F3F6F8"/>
                    </a:solidFill>
                  </a:tcPr>
                </a:tc>
              </a:tr>
              <a:tr h="402167">
                <a:tc>
                  <a:txBody>
                    <a:bodyPr/>
                    <a:lstStyle/>
                    <a:p>
                      <a:r>
                        <a:rPr sz="1500" b="0">
                          <a:solidFill>
                            <a:srgbClr val="112B3C"/>
                          </a:solidFill>
                          <a:latin typeface="DejaVu Sans"/>
                          <a:ea typeface="DejaVu Sans"/>
                          <a:cs typeface="DejaVu Sans"/>
                        </a:rPr>
                        <a:t>Success (drone ship)</a:t>
                      </a:r>
                    </a:p>
                  </a:txBody>
                  <a:tcPr marL="91440" marR="91440" marT="45720" marB="45720">
                    <a:solidFill>
                      <a:srgbClr val="FFFFFF"/>
                    </a:solidFill>
                  </a:tcPr>
                </a:tc>
                <a:tc>
                  <a:txBody>
                    <a:bodyPr/>
                    <a:lstStyle/>
                    <a:p>
                      <a:r>
                        <a:rPr sz="1500" b="0">
                          <a:solidFill>
                            <a:srgbClr val="112B3C"/>
                          </a:solidFill>
                          <a:latin typeface="DejaVu Sans"/>
                          <a:ea typeface="DejaVu Sans"/>
                          <a:cs typeface="DejaVu Sans"/>
                        </a:rPr>
                        <a:t>5</a:t>
                      </a:r>
                    </a:p>
                  </a:txBody>
                  <a:tcPr marL="91440" marR="91440" marT="45720" marB="45720">
                    <a:solidFill>
                      <a:srgbClr val="FFFFFF"/>
                    </a:solidFill>
                  </a:tcPr>
                </a:tc>
              </a:tr>
              <a:tr h="402167">
                <a:tc>
                  <a:txBody>
                    <a:bodyPr/>
                    <a:lstStyle/>
                    <a:p>
                      <a:r>
                        <a:rPr sz="1500" b="0">
                          <a:solidFill>
                            <a:srgbClr val="112B3C"/>
                          </a:solidFill>
                          <a:latin typeface="DejaVu Sans"/>
                          <a:ea typeface="DejaVu Sans"/>
                          <a:cs typeface="DejaVu Sans"/>
                        </a:rPr>
                        <a:t>Controlled (ocean)</a:t>
                      </a:r>
                    </a:p>
                  </a:txBody>
                  <a:tcPr marL="91440" marR="91440" marT="45720" marB="45720">
                    <a:solidFill>
                      <a:srgbClr val="F3F6F8"/>
                    </a:solidFill>
                  </a:tcPr>
                </a:tc>
                <a:tc>
                  <a:txBody>
                    <a:bodyPr/>
                    <a:lstStyle/>
                    <a:p>
                      <a:r>
                        <a:rPr sz="1500" b="0">
                          <a:solidFill>
                            <a:srgbClr val="112B3C"/>
                          </a:solidFill>
                          <a:latin typeface="DejaVu Sans"/>
                          <a:ea typeface="DejaVu Sans"/>
                          <a:cs typeface="DejaVu Sans"/>
                        </a:rPr>
                        <a:t>3</a:t>
                      </a:r>
                    </a:p>
                  </a:txBody>
                  <a:tcPr marL="91440" marR="91440" marT="45720" marB="45720">
                    <a:solidFill>
                      <a:srgbClr val="F3F6F8"/>
                    </a:solidFill>
                  </a:tcPr>
                </a:tc>
              </a:tr>
              <a:tr h="402167">
                <a:tc>
                  <a:txBody>
                    <a:bodyPr/>
                    <a:lstStyle/>
                    <a:p>
                      <a:r>
                        <a:rPr sz="1500" b="0">
                          <a:solidFill>
                            <a:srgbClr val="112B3C"/>
                          </a:solidFill>
                          <a:latin typeface="DejaVu Sans"/>
                          <a:ea typeface="DejaVu Sans"/>
                          <a:cs typeface="DejaVu Sans"/>
                        </a:rPr>
                        <a:t>Success (ground pad)</a:t>
                      </a:r>
                    </a:p>
                  </a:txBody>
                  <a:tcPr marL="91440" marR="91440" marT="45720" marB="45720">
                    <a:solidFill>
                      <a:srgbClr val="FFFFFF"/>
                    </a:solidFill>
                  </a:tcPr>
                </a:tc>
                <a:tc>
                  <a:txBody>
                    <a:bodyPr/>
                    <a:lstStyle/>
                    <a:p>
                      <a:r>
                        <a:rPr sz="1500" b="0">
                          <a:solidFill>
                            <a:srgbClr val="112B3C"/>
                          </a:solidFill>
                          <a:latin typeface="DejaVu Sans"/>
                          <a:ea typeface="DejaVu Sans"/>
                          <a:cs typeface="DejaVu Sans"/>
                        </a:rPr>
                        <a:t>3</a:t>
                      </a:r>
                    </a:p>
                  </a:txBody>
                  <a:tcPr marL="91440" marR="91440" marT="45720" marB="45720">
                    <a:solidFill>
                      <a:srgbClr val="FFFFFF"/>
                    </a:solidFill>
                  </a:tcPr>
                </a:tc>
              </a:tr>
              <a:tr h="402167">
                <a:tc>
                  <a:txBody>
                    <a:bodyPr/>
                    <a:lstStyle/>
                    <a:p>
                      <a:r>
                        <a:rPr sz="1500" b="0">
                          <a:solidFill>
                            <a:srgbClr val="112B3C"/>
                          </a:solidFill>
                          <a:latin typeface="DejaVu Sans"/>
                          <a:ea typeface="DejaVu Sans"/>
                          <a:cs typeface="DejaVu Sans"/>
                        </a:rPr>
                        <a:t>Failure (parachute)</a:t>
                      </a:r>
                    </a:p>
                  </a:txBody>
                  <a:tcPr marL="91440" marR="91440" marT="45720" marB="45720">
                    <a:solidFill>
                      <a:srgbClr val="F3F6F8"/>
                    </a:solidFill>
                  </a:tcPr>
                </a:tc>
                <a:tc>
                  <a:txBody>
                    <a:bodyPr/>
                    <a:lstStyle/>
                    <a:p>
                      <a:r>
                        <a:rPr sz="1500" b="0">
                          <a:solidFill>
                            <a:srgbClr val="112B3C"/>
                          </a:solidFill>
                          <a:latin typeface="DejaVu Sans"/>
                          <a:ea typeface="DejaVu Sans"/>
                          <a:cs typeface="DejaVu Sans"/>
                        </a:rPr>
                        <a:t>2</a:t>
                      </a:r>
                    </a:p>
                  </a:txBody>
                  <a:tcPr marL="91440" marR="91440" marT="45720" marB="45720">
                    <a:solidFill>
                      <a:srgbClr val="F3F6F8"/>
                    </a:solidFill>
                  </a:tcPr>
                </a:tc>
              </a:tr>
              <a:tr h="402167">
                <a:tc>
                  <a:txBody>
                    <a:bodyPr/>
                    <a:lstStyle/>
                    <a:p>
                      <a:r>
                        <a:rPr sz="1500" b="0">
                          <a:solidFill>
                            <a:srgbClr val="112B3C"/>
                          </a:solidFill>
                          <a:latin typeface="DejaVu Sans"/>
                          <a:ea typeface="DejaVu Sans"/>
                          <a:cs typeface="DejaVu Sans"/>
                        </a:rPr>
                        <a:t>Uncontrolled (ocean)</a:t>
                      </a:r>
                    </a:p>
                  </a:txBody>
                  <a:tcPr marL="91440" marR="91440" marT="45720" marB="45720">
                    <a:solidFill>
                      <a:srgbClr val="FFFFFF"/>
                    </a:solidFill>
                  </a:tcPr>
                </a:tc>
                <a:tc>
                  <a:txBody>
                    <a:bodyPr/>
                    <a:lstStyle/>
                    <a:p>
                      <a:r>
                        <a:rPr sz="1500" b="0">
                          <a:solidFill>
                            <a:srgbClr val="112B3C"/>
                          </a:solidFill>
                          <a:latin typeface="DejaVu Sans"/>
                          <a:ea typeface="DejaVu Sans"/>
                          <a:cs typeface="DejaVu Sans"/>
                        </a:rPr>
                        <a:t>2</a:t>
                      </a:r>
                    </a:p>
                  </a:txBody>
                  <a:tcPr marL="91440" marR="91440" marT="45720" marB="45720">
                    <a:solidFill>
                      <a:srgbClr val="FFFFFF"/>
                    </a:solidFill>
                  </a:tcPr>
                </a:tc>
              </a:tr>
              <a:tr h="402167">
                <a:tc>
                  <a:txBody>
                    <a:bodyPr/>
                    <a:lstStyle/>
                    <a:p>
                      <a:r>
                        <a:rPr sz="1500" b="0">
                          <a:solidFill>
                            <a:srgbClr val="112B3C"/>
                          </a:solidFill>
                          <a:latin typeface="DejaVu Sans"/>
                          <a:ea typeface="DejaVu Sans"/>
                          <a:cs typeface="DejaVu Sans"/>
                        </a:rPr>
                        <a:t>Precluded (drone ship)</a:t>
                      </a:r>
                    </a:p>
                  </a:txBody>
                  <a:tcPr marL="91440" marR="91440" marT="45720" marB="45720">
                    <a:solidFill>
                      <a:srgbClr val="F3F6F8"/>
                    </a:solidFill>
                  </a:tcPr>
                </a:tc>
                <a:tc>
                  <a:txBody>
                    <a:bodyPr/>
                    <a:lstStyle/>
                    <a:p>
                      <a:r>
                        <a:rPr sz="1500" b="0">
                          <a:solidFill>
                            <a:srgbClr val="112B3C"/>
                          </a:solidFill>
                          <a:latin typeface="DejaVu Sans"/>
                          <a:ea typeface="DejaVu Sans"/>
                          <a:cs typeface="DejaVu Sans"/>
                        </a:rPr>
                        <a:t>1</a:t>
                      </a:r>
                    </a:p>
                  </a:txBody>
                  <a:tcPr marL="91440" marR="91440" marT="45720" marB="45720">
                    <a:solidFill>
                      <a:srgbClr val="F3F6F8"/>
                    </a:solidFill>
                  </a:tcPr>
                </a:tc>
              </a:tr>
            </a:tbl>
          </a:graphicData>
        </a:graphic>
      </p:graphicFrame>
      <p:sp>
        <p:nvSpPr>
          <p:cNvPr id="9" name="">
            <a:extLst xmlns:a="http://schemas.openxmlformats.org/drawingml/2006/main">
              <a:ext uri="{FF2B5EF4-FFF2-40B4-BE49-F238E27FC236}">
                <a16:creationId xmlns:a16="http://schemas.microsoft.com/office/drawing/2014/main" id="{B73EDD5E-13E0-4700-A7F1-E18AF2A74972}"/>
              </a:ext>
            </a:extLst>
          </p:cNvPr>
          <p:cNvSpPr>
            <a:spLocks xmlns:a="http://schemas.openxmlformats.org/drawingml/2006/main" noGrp="1"/>
          </p:cNvSpPr>
          <p:nvPr/>
        </p:nvSpPr>
        <p:spPr>
          <a:xfrm xmlns:a="http://schemas.openxmlformats.org/drawingml/2006/main">
            <a:off x="561975" y="5829300"/>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56774"/>
                </a:solidFill>
                <a:latin typeface="DejaVu Sans"/>
                <a:ea typeface="DejaVu Sans"/>
                <a:cs typeface="DejaVu Sans"/>
              </a:defRPr>
            </a:pPr>
            <a:r>
              <a:rPr sz="1200" b="0">
                <a:solidFill>
                  <a:srgbClr val="556774"/>
                </a:solidFill>
                <a:latin typeface="DejaVu Sans"/>
                <a:ea typeface="DejaVu Sans"/>
                <a:cs typeface="DejaVu Sans"/>
              </a:rPr>
              <a:t>4 Jun 2010 to 20 Mar 2017</a:t>
            </a:r>
          </a:p>
        </p:txBody>
      </p:sp>
      <p:graphicFrame>
        <p:nvGraphicFramePr>
          <p:cNvPr id="20" name=""/>
          <p:cNvGraphicFramePr/>
          <p:nvPr/>
        </p:nvGraphicFramePr>
        <p:xfrm>
          <a:off xmlns:a="http://schemas.openxmlformats.org/drawingml/2006/main" x="6810375" y="2152650"/>
          <a:ext xmlns:a="http://schemas.openxmlformats.org/drawingml/2006/main" cx="4762500" cy="3781425"/>
        </p:xfrm>
        <a:graphic xmlns:a="http://schemas.openxmlformats.org/drawingml/2006/main">
          <a:graphicData uri="http://schemas.openxmlformats.org/drawingml/2006/table">
            <a:tbl>
              <a:tblPr/>
              <a:tblGrid>
                <a:gridCol w="1428750"/>
                <a:gridCol w="1524000"/>
                <a:gridCol w="1809750"/>
              </a:tblGrid>
              <a:tr h="343766">
                <a:tc>
                  <a:txBody>
                    <a:bodyPr/>
                    <a:lstStyle/>
                    <a:p>
                      <a:r>
                        <a:rPr sz="1350" b="1">
                          <a:solidFill>
                            <a:srgbClr val="FFFFFF"/>
                          </a:solidFill>
                          <a:latin typeface="DejaVu Sans"/>
                          <a:ea typeface="DejaVu Sans"/>
                          <a:cs typeface="DejaVu Sans"/>
                        </a:rPr>
                        <a:t>Year</a:t>
                      </a:r>
                    </a:p>
                  </a:txBody>
                  <a:tcPr marL="91440" marR="91440" marT="45720" marB="45720">
                    <a:solidFill>
                      <a:srgbClr val="112B3C"/>
                    </a:solidFill>
                  </a:tcPr>
                </a:tc>
                <a:tc>
                  <a:txBody>
                    <a:bodyPr/>
                    <a:lstStyle/>
                    <a:p>
                      <a:r>
                        <a:rPr sz="1350" b="1">
                          <a:solidFill>
                            <a:srgbClr val="FFFFFF"/>
                          </a:solidFill>
                          <a:latin typeface="DejaVu Sans"/>
                          <a:ea typeface="DejaVu Sans"/>
                          <a:cs typeface="DejaVu Sans"/>
                        </a:rPr>
                        <a:t>Launches</a:t>
                      </a:r>
                    </a:p>
                  </a:txBody>
                  <a:tcPr marL="91440" marR="91440" marT="45720" marB="45720">
                    <a:solidFill>
                      <a:srgbClr val="112B3C"/>
                    </a:solidFill>
                  </a:tcPr>
                </a:tc>
                <a:tc>
                  <a:txBody>
                    <a:bodyPr/>
                    <a:lstStyle/>
                    <a:p>
                      <a:r>
                        <a:rPr sz="1350" b="1">
                          <a:solidFill>
                            <a:srgbClr val="FFFFFF"/>
                          </a:solidFill>
                          <a:latin typeface="DejaVu Sans"/>
                          <a:ea typeface="DejaVu Sans"/>
                          <a:cs typeface="DejaVu Sans"/>
                        </a:rPr>
                        <a:t>Success landings</a:t>
                      </a:r>
                    </a:p>
                  </a:txBody>
                  <a:tcPr marL="91440" marR="91440" marT="45720" marB="45720">
                    <a:solidFill>
                      <a:srgbClr val="112B3C"/>
                    </a:solidFill>
                  </a:tcPr>
                </a:tc>
              </a:tr>
              <a:tr h="343766">
                <a:tc>
                  <a:txBody>
                    <a:bodyPr/>
                    <a:lstStyle/>
                    <a:p>
                      <a:r>
                        <a:rPr sz="1350" b="0">
                          <a:solidFill>
                            <a:srgbClr val="112B3C"/>
                          </a:solidFill>
                          <a:latin typeface="DejaVu Sans"/>
                          <a:ea typeface="DejaVu Sans"/>
                          <a:cs typeface="DejaVu Sans"/>
                        </a:rPr>
                        <a:t>2010</a:t>
                      </a:r>
                    </a:p>
                  </a:txBody>
                  <a:tcPr marL="91440" marR="91440" marT="45720" marB="45720">
                    <a:solidFill>
                      <a:srgbClr val="FFFFFF"/>
                    </a:solidFill>
                  </a:tcPr>
                </a:tc>
                <a:tc>
                  <a:txBody>
                    <a:bodyPr/>
                    <a:lstStyle/>
                    <a:p>
                      <a:r>
                        <a:rPr sz="1350" b="0">
                          <a:solidFill>
                            <a:srgbClr val="112B3C"/>
                          </a:solidFill>
                          <a:latin typeface="DejaVu Sans"/>
                          <a:ea typeface="DejaVu Sans"/>
                          <a:cs typeface="DejaVu Sans"/>
                        </a:rPr>
                        <a:t>2</a:t>
                      </a:r>
                    </a:p>
                  </a:txBody>
                  <a:tcPr marL="91440" marR="91440" marT="45720" marB="45720">
                    <a:solidFill>
                      <a:srgbClr val="FFFFFF"/>
                    </a:solidFill>
                  </a:tcPr>
                </a:tc>
                <a:tc>
                  <a:txBody>
                    <a:bodyPr/>
                    <a:lstStyle/>
                    <a:p>
                      <a:r>
                        <a:rPr sz="1350" b="0">
                          <a:solidFill>
                            <a:srgbClr val="112B3C"/>
                          </a:solidFill>
                          <a:latin typeface="DejaVu Sans"/>
                          <a:ea typeface="DejaVu Sans"/>
                          <a:cs typeface="DejaVu Sans"/>
                        </a:rPr>
                        <a:t>0</a:t>
                      </a:r>
                    </a:p>
                  </a:txBody>
                  <a:tcPr marL="91440" marR="91440" marT="45720" marB="45720">
                    <a:solidFill>
                      <a:srgbClr val="FFFFFF"/>
                    </a:solidFill>
                  </a:tcPr>
                </a:tc>
              </a:tr>
              <a:tr h="343766">
                <a:tc>
                  <a:txBody>
                    <a:bodyPr/>
                    <a:lstStyle/>
                    <a:p>
                      <a:r>
                        <a:rPr sz="1350" b="0">
                          <a:solidFill>
                            <a:srgbClr val="112B3C"/>
                          </a:solidFill>
                          <a:latin typeface="DejaVu Sans"/>
                          <a:ea typeface="DejaVu Sans"/>
                          <a:cs typeface="DejaVu Sans"/>
                        </a:rPr>
                        <a:t>2012</a:t>
                      </a:r>
                    </a:p>
                  </a:txBody>
                  <a:tcPr marL="91440" marR="91440" marT="45720" marB="45720">
                    <a:solidFill>
                      <a:srgbClr val="F3F6F8"/>
                    </a:solidFill>
                  </a:tcPr>
                </a:tc>
                <a:tc>
                  <a:txBody>
                    <a:bodyPr/>
                    <a:lstStyle/>
                    <a:p>
                      <a:r>
                        <a:rPr sz="1350" b="0">
                          <a:solidFill>
                            <a:srgbClr val="112B3C"/>
                          </a:solidFill>
                          <a:latin typeface="DejaVu Sans"/>
                          <a:ea typeface="DejaVu Sans"/>
                          <a:cs typeface="DejaVu Sans"/>
                        </a:rPr>
                        <a:t>2</a:t>
                      </a:r>
                    </a:p>
                  </a:txBody>
                  <a:tcPr marL="91440" marR="91440" marT="45720" marB="45720">
                    <a:solidFill>
                      <a:srgbClr val="F3F6F8"/>
                    </a:solidFill>
                  </a:tcPr>
                </a:tc>
                <a:tc>
                  <a:txBody>
                    <a:bodyPr/>
                    <a:lstStyle/>
                    <a:p>
                      <a:r>
                        <a:rPr sz="1350" b="0">
                          <a:solidFill>
                            <a:srgbClr val="112B3C"/>
                          </a:solidFill>
                          <a:latin typeface="DejaVu Sans"/>
                          <a:ea typeface="DejaVu Sans"/>
                          <a:cs typeface="DejaVu Sans"/>
                        </a:rPr>
                        <a:t>0</a:t>
                      </a:r>
                    </a:p>
                  </a:txBody>
                  <a:tcPr marL="91440" marR="91440" marT="45720" marB="45720">
                    <a:solidFill>
                      <a:srgbClr val="F3F6F8"/>
                    </a:solidFill>
                  </a:tcPr>
                </a:tc>
              </a:tr>
              <a:tr h="343766">
                <a:tc>
                  <a:txBody>
                    <a:bodyPr/>
                    <a:lstStyle/>
                    <a:p>
                      <a:r>
                        <a:rPr sz="1350" b="0">
                          <a:solidFill>
                            <a:srgbClr val="112B3C"/>
                          </a:solidFill>
                          <a:latin typeface="DejaVu Sans"/>
                          <a:ea typeface="DejaVu Sans"/>
                          <a:cs typeface="DejaVu Sans"/>
                        </a:rPr>
                        <a:t>2013</a:t>
                      </a:r>
                    </a:p>
                  </a:txBody>
                  <a:tcPr marL="91440" marR="91440" marT="45720" marB="45720">
                    <a:solidFill>
                      <a:srgbClr val="FFFFFF"/>
                    </a:solidFill>
                  </a:tcPr>
                </a:tc>
                <a:tc>
                  <a:txBody>
                    <a:bodyPr/>
                    <a:lstStyle/>
                    <a:p>
                      <a:r>
                        <a:rPr sz="1350" b="0">
                          <a:solidFill>
                            <a:srgbClr val="112B3C"/>
                          </a:solidFill>
                          <a:latin typeface="DejaVu Sans"/>
                          <a:ea typeface="DejaVu Sans"/>
                          <a:cs typeface="DejaVu Sans"/>
                        </a:rPr>
                        <a:t>3</a:t>
                      </a:r>
                    </a:p>
                  </a:txBody>
                  <a:tcPr marL="91440" marR="91440" marT="45720" marB="45720">
                    <a:solidFill>
                      <a:srgbClr val="FFFFFF"/>
                    </a:solidFill>
                  </a:tcPr>
                </a:tc>
                <a:tc>
                  <a:txBody>
                    <a:bodyPr/>
                    <a:lstStyle/>
                    <a:p>
                      <a:r>
                        <a:rPr sz="1350" b="0">
                          <a:solidFill>
                            <a:srgbClr val="112B3C"/>
                          </a:solidFill>
                          <a:latin typeface="DejaVu Sans"/>
                          <a:ea typeface="DejaVu Sans"/>
                          <a:cs typeface="DejaVu Sans"/>
                        </a:rPr>
                        <a:t>0</a:t>
                      </a:r>
                    </a:p>
                  </a:txBody>
                  <a:tcPr marL="91440" marR="91440" marT="45720" marB="45720">
                    <a:solidFill>
                      <a:srgbClr val="FFFFFF"/>
                    </a:solidFill>
                  </a:tcPr>
                </a:tc>
              </a:tr>
              <a:tr h="343766">
                <a:tc>
                  <a:txBody>
                    <a:bodyPr/>
                    <a:lstStyle/>
                    <a:p>
                      <a:r>
                        <a:rPr sz="1350" b="0">
                          <a:solidFill>
                            <a:srgbClr val="112B3C"/>
                          </a:solidFill>
                          <a:latin typeface="DejaVu Sans"/>
                          <a:ea typeface="DejaVu Sans"/>
                          <a:cs typeface="DejaVu Sans"/>
                        </a:rPr>
                        <a:t>2014</a:t>
                      </a:r>
                    </a:p>
                  </a:txBody>
                  <a:tcPr marL="91440" marR="91440" marT="45720" marB="45720">
                    <a:solidFill>
                      <a:srgbClr val="F3F6F8"/>
                    </a:solidFill>
                  </a:tcPr>
                </a:tc>
                <a:tc>
                  <a:txBody>
                    <a:bodyPr/>
                    <a:lstStyle/>
                    <a:p>
                      <a:r>
                        <a:rPr sz="1350" b="0">
                          <a:solidFill>
                            <a:srgbClr val="112B3C"/>
                          </a:solidFill>
                          <a:latin typeface="DejaVu Sans"/>
                          <a:ea typeface="DejaVu Sans"/>
                          <a:cs typeface="DejaVu Sans"/>
                        </a:rPr>
                        <a:t>6</a:t>
                      </a:r>
                    </a:p>
                  </a:txBody>
                  <a:tcPr marL="91440" marR="91440" marT="45720" marB="45720">
                    <a:solidFill>
                      <a:srgbClr val="F3F6F8"/>
                    </a:solidFill>
                  </a:tcPr>
                </a:tc>
                <a:tc>
                  <a:txBody>
                    <a:bodyPr/>
                    <a:lstStyle/>
                    <a:p>
                      <a:r>
                        <a:rPr sz="1350" b="0">
                          <a:solidFill>
                            <a:srgbClr val="112B3C"/>
                          </a:solidFill>
                          <a:latin typeface="DejaVu Sans"/>
                          <a:ea typeface="DejaVu Sans"/>
                          <a:cs typeface="DejaVu Sans"/>
                        </a:rPr>
                        <a:t>0</a:t>
                      </a:r>
                    </a:p>
                  </a:txBody>
                  <a:tcPr marL="91440" marR="91440" marT="45720" marB="45720">
                    <a:solidFill>
                      <a:srgbClr val="F3F6F8"/>
                    </a:solidFill>
                  </a:tcPr>
                </a:tc>
              </a:tr>
              <a:tr h="343766">
                <a:tc>
                  <a:txBody>
                    <a:bodyPr/>
                    <a:lstStyle/>
                    <a:p>
                      <a:r>
                        <a:rPr sz="1350" b="0">
                          <a:solidFill>
                            <a:srgbClr val="112B3C"/>
                          </a:solidFill>
                          <a:latin typeface="DejaVu Sans"/>
                          <a:ea typeface="DejaVu Sans"/>
                          <a:cs typeface="DejaVu Sans"/>
                        </a:rPr>
                        <a:t>2015</a:t>
                      </a:r>
                    </a:p>
                  </a:txBody>
                  <a:tcPr marL="91440" marR="91440" marT="45720" marB="45720">
                    <a:solidFill>
                      <a:srgbClr val="FFFFFF"/>
                    </a:solidFill>
                  </a:tcPr>
                </a:tc>
                <a:tc>
                  <a:txBody>
                    <a:bodyPr/>
                    <a:lstStyle/>
                    <a:p>
                      <a:r>
                        <a:rPr sz="1350" b="0">
                          <a:solidFill>
                            <a:srgbClr val="112B3C"/>
                          </a:solidFill>
                          <a:latin typeface="DejaVu Sans"/>
                          <a:ea typeface="DejaVu Sans"/>
                          <a:cs typeface="DejaVu Sans"/>
                        </a:rPr>
                        <a:t>7</a:t>
                      </a:r>
                    </a:p>
                  </a:txBody>
                  <a:tcPr marL="91440" marR="91440" marT="45720" marB="45720">
                    <a:solidFill>
                      <a:srgbClr val="FFFFFF"/>
                    </a:solidFill>
                  </a:tcPr>
                </a:tc>
                <a:tc>
                  <a:txBody>
                    <a:bodyPr/>
                    <a:lstStyle/>
                    <a:p>
                      <a:r>
                        <a:rPr sz="1350" b="0">
                          <a:solidFill>
                            <a:srgbClr val="112B3C"/>
                          </a:solidFill>
                          <a:latin typeface="DejaVu Sans"/>
                          <a:ea typeface="DejaVu Sans"/>
                          <a:cs typeface="DejaVu Sans"/>
                        </a:rPr>
                        <a:t>1</a:t>
                      </a:r>
                    </a:p>
                  </a:txBody>
                  <a:tcPr marL="91440" marR="91440" marT="45720" marB="45720">
                    <a:solidFill>
                      <a:srgbClr val="FFFFFF"/>
                    </a:solidFill>
                  </a:tcPr>
                </a:tc>
              </a:tr>
              <a:tr h="343766">
                <a:tc>
                  <a:txBody>
                    <a:bodyPr/>
                    <a:lstStyle/>
                    <a:p>
                      <a:r>
                        <a:rPr sz="1350" b="0">
                          <a:solidFill>
                            <a:srgbClr val="112B3C"/>
                          </a:solidFill>
                          <a:latin typeface="DejaVu Sans"/>
                          <a:ea typeface="DejaVu Sans"/>
                          <a:cs typeface="DejaVu Sans"/>
                        </a:rPr>
                        <a:t>2016</a:t>
                      </a:r>
                    </a:p>
                  </a:txBody>
                  <a:tcPr marL="91440" marR="91440" marT="45720" marB="45720">
                    <a:solidFill>
                      <a:srgbClr val="F3F6F8"/>
                    </a:solidFill>
                  </a:tcPr>
                </a:tc>
                <a:tc>
                  <a:txBody>
                    <a:bodyPr/>
                    <a:lstStyle/>
                    <a:p>
                      <a:r>
                        <a:rPr sz="1350" b="0">
                          <a:solidFill>
                            <a:srgbClr val="112B3C"/>
                          </a:solidFill>
                          <a:latin typeface="DejaVu Sans"/>
                          <a:ea typeface="DejaVu Sans"/>
                          <a:cs typeface="DejaVu Sans"/>
                        </a:rPr>
                        <a:t>8</a:t>
                      </a:r>
                    </a:p>
                  </a:txBody>
                  <a:tcPr marL="91440" marR="91440" marT="45720" marB="45720">
                    <a:solidFill>
                      <a:srgbClr val="F3F6F8"/>
                    </a:solidFill>
                  </a:tcPr>
                </a:tc>
                <a:tc>
                  <a:txBody>
                    <a:bodyPr/>
                    <a:lstStyle/>
                    <a:p>
                      <a:r>
                        <a:rPr sz="1350" b="0">
                          <a:solidFill>
                            <a:srgbClr val="112B3C"/>
                          </a:solidFill>
                          <a:latin typeface="DejaVu Sans"/>
                          <a:ea typeface="DejaVu Sans"/>
                          <a:cs typeface="DejaVu Sans"/>
                        </a:rPr>
                        <a:t>5</a:t>
                      </a:r>
                    </a:p>
                  </a:txBody>
                  <a:tcPr marL="91440" marR="91440" marT="45720" marB="45720">
                    <a:solidFill>
                      <a:srgbClr val="F3F6F8"/>
                    </a:solidFill>
                  </a:tcPr>
                </a:tc>
              </a:tr>
              <a:tr h="343766">
                <a:tc>
                  <a:txBody>
                    <a:bodyPr/>
                    <a:lstStyle/>
                    <a:p>
                      <a:r>
                        <a:rPr sz="1350" b="0">
                          <a:solidFill>
                            <a:srgbClr val="112B3C"/>
                          </a:solidFill>
                          <a:latin typeface="DejaVu Sans"/>
                          <a:ea typeface="DejaVu Sans"/>
                          <a:cs typeface="DejaVu Sans"/>
                        </a:rPr>
                        <a:t>2017</a:t>
                      </a:r>
                    </a:p>
                  </a:txBody>
                  <a:tcPr marL="91440" marR="91440" marT="45720" marB="45720">
                    <a:solidFill>
                      <a:srgbClr val="FFFFFF"/>
                    </a:solidFill>
                  </a:tcPr>
                </a:tc>
                <a:tc>
                  <a:txBody>
                    <a:bodyPr/>
                    <a:lstStyle/>
                    <a:p>
                      <a:r>
                        <a:rPr sz="1350" b="0">
                          <a:solidFill>
                            <a:srgbClr val="112B3C"/>
                          </a:solidFill>
                          <a:latin typeface="DejaVu Sans"/>
                          <a:ea typeface="DejaVu Sans"/>
                          <a:cs typeface="DejaVu Sans"/>
                        </a:rPr>
                        <a:t>18</a:t>
                      </a:r>
                    </a:p>
                  </a:txBody>
                  <a:tcPr marL="91440" marR="91440" marT="45720" marB="45720">
                    <a:solidFill>
                      <a:srgbClr val="FFFFFF"/>
                    </a:solidFill>
                  </a:tcPr>
                </a:tc>
                <a:tc>
                  <a:txBody>
                    <a:bodyPr/>
                    <a:lstStyle/>
                    <a:p>
                      <a:r>
                        <a:rPr sz="1350" b="0">
                          <a:solidFill>
                            <a:srgbClr val="112B3C"/>
                          </a:solidFill>
                          <a:latin typeface="DejaVu Sans"/>
                          <a:ea typeface="DejaVu Sans"/>
                          <a:cs typeface="DejaVu Sans"/>
                        </a:rPr>
                        <a:t>14</a:t>
                      </a:r>
                    </a:p>
                  </a:txBody>
                  <a:tcPr marL="91440" marR="91440" marT="45720" marB="45720">
                    <a:solidFill>
                      <a:srgbClr val="FFFFFF"/>
                    </a:solidFill>
                  </a:tcPr>
                </a:tc>
              </a:tr>
              <a:tr h="343766">
                <a:tc>
                  <a:txBody>
                    <a:bodyPr/>
                    <a:lstStyle/>
                    <a:p>
                      <a:r>
                        <a:rPr sz="1350" b="0">
                          <a:solidFill>
                            <a:srgbClr val="112B3C"/>
                          </a:solidFill>
                          <a:latin typeface="DejaVu Sans"/>
                          <a:ea typeface="DejaVu Sans"/>
                          <a:cs typeface="DejaVu Sans"/>
                        </a:rPr>
                        <a:t>2018</a:t>
                      </a:r>
                    </a:p>
                  </a:txBody>
                  <a:tcPr marL="91440" marR="91440" marT="45720" marB="45720">
                    <a:solidFill>
                      <a:srgbClr val="F3F6F8"/>
                    </a:solidFill>
                  </a:tcPr>
                </a:tc>
                <a:tc>
                  <a:txBody>
                    <a:bodyPr/>
                    <a:lstStyle/>
                    <a:p>
                      <a:r>
                        <a:rPr sz="1350" b="0">
                          <a:solidFill>
                            <a:srgbClr val="112B3C"/>
                          </a:solidFill>
                          <a:latin typeface="DejaVu Sans"/>
                          <a:ea typeface="DejaVu Sans"/>
                          <a:cs typeface="DejaVu Sans"/>
                        </a:rPr>
                        <a:t>20</a:t>
                      </a:r>
                    </a:p>
                  </a:txBody>
                  <a:tcPr marL="91440" marR="91440" marT="45720" marB="45720">
                    <a:solidFill>
                      <a:srgbClr val="F3F6F8"/>
                    </a:solidFill>
                  </a:tcPr>
                </a:tc>
                <a:tc>
                  <a:txBody>
                    <a:bodyPr/>
                    <a:lstStyle/>
                    <a:p>
                      <a:r>
                        <a:rPr sz="1350" b="0">
                          <a:solidFill>
                            <a:srgbClr val="112B3C"/>
                          </a:solidFill>
                          <a:latin typeface="DejaVu Sans"/>
                          <a:ea typeface="DejaVu Sans"/>
                          <a:cs typeface="DejaVu Sans"/>
                        </a:rPr>
                        <a:t>10</a:t>
                      </a:r>
                    </a:p>
                  </a:txBody>
                  <a:tcPr marL="91440" marR="91440" marT="45720" marB="45720">
                    <a:solidFill>
                      <a:srgbClr val="F3F6F8"/>
                    </a:solidFill>
                  </a:tcPr>
                </a:tc>
              </a:tr>
              <a:tr h="343766">
                <a:tc>
                  <a:txBody>
                    <a:bodyPr/>
                    <a:lstStyle/>
                    <a:p>
                      <a:r>
                        <a:rPr sz="1350" b="0">
                          <a:solidFill>
                            <a:srgbClr val="112B3C"/>
                          </a:solidFill>
                          <a:latin typeface="DejaVu Sans"/>
                          <a:ea typeface="DejaVu Sans"/>
                          <a:cs typeface="DejaVu Sans"/>
                        </a:rPr>
                        <a:t>2019</a:t>
                      </a:r>
                    </a:p>
                  </a:txBody>
                  <a:tcPr marL="91440" marR="91440" marT="45720" marB="45720">
                    <a:solidFill>
                      <a:srgbClr val="FFFFFF"/>
                    </a:solidFill>
                  </a:tcPr>
                </a:tc>
                <a:tc>
                  <a:txBody>
                    <a:bodyPr/>
                    <a:lstStyle/>
                    <a:p>
                      <a:r>
                        <a:rPr sz="1350" b="0">
                          <a:solidFill>
                            <a:srgbClr val="112B3C"/>
                          </a:solidFill>
                          <a:latin typeface="DejaVu Sans"/>
                          <a:ea typeface="DejaVu Sans"/>
                          <a:cs typeface="DejaVu Sans"/>
                        </a:rPr>
                        <a:t>11</a:t>
                      </a:r>
                    </a:p>
                  </a:txBody>
                  <a:tcPr marL="91440" marR="91440" marT="45720" marB="45720">
                    <a:solidFill>
                      <a:srgbClr val="FFFFFF"/>
                    </a:solidFill>
                  </a:tcPr>
                </a:tc>
                <a:tc>
                  <a:txBody>
                    <a:bodyPr/>
                    <a:lstStyle/>
                    <a:p>
                      <a:r>
                        <a:rPr sz="1350" b="0">
                          <a:solidFill>
                            <a:srgbClr val="112B3C"/>
                          </a:solidFill>
                          <a:latin typeface="DejaVu Sans"/>
                          <a:ea typeface="DejaVu Sans"/>
                          <a:cs typeface="DejaVu Sans"/>
                        </a:rPr>
                        <a:t>10</a:t>
                      </a:r>
                    </a:p>
                  </a:txBody>
                  <a:tcPr marL="91440" marR="91440" marT="45720" marB="45720">
                    <a:solidFill>
                      <a:srgbClr val="FFFFFF"/>
                    </a:solidFill>
                  </a:tcPr>
                </a:tc>
              </a:tr>
              <a:tr h="343766">
                <a:tc>
                  <a:txBody>
                    <a:bodyPr/>
                    <a:lstStyle/>
                    <a:p>
                      <a:r>
                        <a:rPr sz="1350" b="0">
                          <a:solidFill>
                            <a:srgbClr val="112B3C"/>
                          </a:solidFill>
                          <a:latin typeface="DejaVu Sans"/>
                          <a:ea typeface="DejaVu Sans"/>
                          <a:cs typeface="DejaVu Sans"/>
                        </a:rPr>
                        <a:t>2020</a:t>
                      </a:r>
                    </a:p>
                  </a:txBody>
                  <a:tcPr marL="91440" marR="91440" marT="45720" marB="45720">
                    <a:solidFill>
                      <a:srgbClr val="F3F6F8"/>
                    </a:solidFill>
                  </a:tcPr>
                </a:tc>
                <a:tc>
                  <a:txBody>
                    <a:bodyPr/>
                    <a:lstStyle/>
                    <a:p>
                      <a:r>
                        <a:rPr sz="1350" b="0">
                          <a:solidFill>
                            <a:srgbClr val="112B3C"/>
                          </a:solidFill>
                          <a:latin typeface="DejaVu Sans"/>
                          <a:ea typeface="DejaVu Sans"/>
                          <a:cs typeface="DejaVu Sans"/>
                        </a:rPr>
                        <a:t>24</a:t>
                      </a:r>
                    </a:p>
                  </a:txBody>
                  <a:tcPr marL="91440" marR="91440" marT="45720" marB="45720">
                    <a:solidFill>
                      <a:srgbClr val="F3F6F8"/>
                    </a:solidFill>
                  </a:tcPr>
                </a:tc>
                <a:tc>
                  <a:txBody>
                    <a:bodyPr/>
                    <a:lstStyle/>
                    <a:p>
                      <a:r>
                        <a:rPr sz="1350" b="0">
                          <a:solidFill>
                            <a:srgbClr val="112B3C"/>
                          </a:solidFill>
                          <a:latin typeface="DejaVu Sans"/>
                          <a:ea typeface="DejaVu Sans"/>
                          <a:cs typeface="DejaVu Sans"/>
                        </a:rPr>
                        <a:t>21</a:t>
                      </a:r>
                    </a:p>
                  </a:txBody>
                  <a:tcPr marL="91440" marR="91440" marT="45720" marB="45720">
                    <a:solidFill>
                      <a:srgbClr val="F3F6F8"/>
                    </a:solidFill>
                  </a:tcPr>
                </a:tc>
              </a:tr>
            </a:tbl>
          </a:graphicData>
        </a:graphic>
      </p:graphicFrame>
    </p:spTree>
    <p:extLst>
      <p:ext uri="{BB962C8B-B14F-4D97-AF65-F5344CB8AC3E}">
        <p14:creationId xmlns:p14="http://schemas.microsoft.com/office/powerpoint/2010/main" val="205768833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DFBF78-A1E3-4C55-B5AD-5388664239F3}"/>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METHODOLOGY / INTERACTIVE ANALYTICS</a:t>
            </a:r>
          </a:p>
        </p:txBody>
      </p:sp>
      <p:sp>
        <p:nvSpPr>
          <p:cNvPr id="2" name="">
            <a:extLst xmlns:a="http://schemas.openxmlformats.org/drawingml/2006/main">
              <a:ext uri="{FF2B5EF4-FFF2-40B4-BE49-F238E27FC236}">
                <a16:creationId xmlns:a16="http://schemas.microsoft.com/office/drawing/2014/main" id="{9C1498AA-64E8-4B6D-813B-78FB37D0D808}"/>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Folium and Dash: implementation and controls</a:t>
            </a:r>
          </a:p>
        </p:txBody>
      </p:sp>
      <p:sp>
        <p:nvSpPr>
          <p:cNvPr id="3" name="">
            <a:extLst xmlns:a="http://schemas.openxmlformats.org/drawingml/2006/main">
              <a:ext uri="{FF2B5EF4-FFF2-40B4-BE49-F238E27FC236}">
                <a16:creationId xmlns:a16="http://schemas.microsoft.com/office/drawing/2014/main" id="{710EA024-3633-4F79-BB19-B45F6EB7CE5E}"/>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Geography and launch filtering answer complementary questions.</a:t>
            </a:r>
          </a:p>
        </p:txBody>
      </p:sp>
      <p:sp>
        <p:nvSpPr>
          <p:cNvPr id="4" name="">
            <a:extLst xmlns:a="http://schemas.openxmlformats.org/drawingml/2006/main">
              <a:ext uri="{FF2B5EF4-FFF2-40B4-BE49-F238E27FC236}">
                <a16:creationId xmlns:a16="http://schemas.microsoft.com/office/drawing/2014/main" id="{CD25285D-BED2-432E-9197-78E18DFA07D2}"/>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df90a9bcdaad49c5"/>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5D73FC7D-5FE9-4AC8-A43C-34573FE3E436}"/>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846A23C-B4A1-498A-9F9B-E069270D5608}"/>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3DDE8A18-B844-4CD6-8306-E02ECCE6A64E}"/>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23</a:t>
            </a:r>
          </a:p>
        </p:txBody>
      </p:sp>
      <p:graphicFrame>
        <p:nvGraphicFramePr>
          <p:cNvPr id="16" name=""/>
          <p:cNvGraphicFramePr/>
          <p:nvPr/>
        </p:nvGraphicFramePr>
        <p:xfrm>
          <a:off xmlns:a="http://schemas.openxmlformats.org/drawingml/2006/main" x="552450" y="2162175"/>
          <a:ext xmlns:a="http://schemas.openxmlformats.org/drawingml/2006/main" cx="11087100" cy="3476625"/>
        </p:xfrm>
        <a:graphic xmlns:a="http://schemas.openxmlformats.org/drawingml/2006/main">
          <a:graphicData uri="http://schemas.openxmlformats.org/drawingml/2006/table">
            <a:tbl>
              <a:tblPr/>
              <a:tblGrid>
                <a:gridCol w="2762250"/>
                <a:gridCol w="4572000"/>
                <a:gridCol w="3752850"/>
              </a:tblGrid>
              <a:tr h="579438">
                <a:tc>
                  <a:txBody>
                    <a:bodyPr/>
                    <a:lstStyle/>
                    <a:p>
                      <a:r>
                        <a:rPr sz="1575" b="1">
                          <a:solidFill>
                            <a:srgbClr val="FFFFFF"/>
                          </a:solidFill>
                          <a:latin typeface="DejaVu Sans"/>
                          <a:ea typeface="DejaVu Sans"/>
                          <a:cs typeface="DejaVu Sans"/>
                        </a:rPr>
                        <a:t>Component</a:t>
                      </a:r>
                    </a:p>
                  </a:txBody>
                  <a:tcPr marL="91440" marR="91440" marT="45720" marB="45720">
                    <a:solidFill>
                      <a:srgbClr val="112B3C"/>
                    </a:solidFill>
                  </a:tcPr>
                </a:tc>
                <a:tc>
                  <a:txBody>
                    <a:bodyPr/>
                    <a:lstStyle/>
                    <a:p>
                      <a:r>
                        <a:rPr sz="1575" b="1">
                          <a:solidFill>
                            <a:srgbClr val="FFFFFF"/>
                          </a:solidFill>
                          <a:latin typeface="DejaVu Sans"/>
                          <a:ea typeface="DejaVu Sans"/>
                          <a:cs typeface="DejaVu Sans"/>
                        </a:rPr>
                        <a:t>Implementation</a:t>
                      </a:r>
                    </a:p>
                  </a:txBody>
                  <a:tcPr marL="91440" marR="91440" marT="45720" marB="45720">
                    <a:solidFill>
                      <a:srgbClr val="112B3C"/>
                    </a:solidFill>
                  </a:tcPr>
                </a:tc>
                <a:tc>
                  <a:txBody>
                    <a:bodyPr/>
                    <a:lstStyle/>
                    <a:p>
                      <a:r>
                        <a:rPr sz="1575" b="1">
                          <a:solidFill>
                            <a:srgbClr val="FFFFFF"/>
                          </a:solidFill>
                          <a:latin typeface="DejaVu Sans"/>
                          <a:ea typeface="DejaVu Sans"/>
                          <a:cs typeface="DejaVu Sans"/>
                        </a:rPr>
                        <a:t>Result</a:t>
                      </a:r>
                    </a:p>
                  </a:txBody>
                  <a:tcPr marL="91440" marR="91440" marT="45720" marB="45720">
                    <a:solidFill>
                      <a:srgbClr val="112B3C"/>
                    </a:solidFill>
                  </a:tcPr>
                </a:tc>
              </a:tr>
              <a:tr h="579438">
                <a:tc>
                  <a:txBody>
                    <a:bodyPr/>
                    <a:lstStyle/>
                    <a:p>
                      <a:r>
                        <a:rPr sz="1575" b="0">
                          <a:solidFill>
                            <a:srgbClr val="112B3C"/>
                          </a:solidFill>
                          <a:latin typeface="DejaVu Sans"/>
                          <a:ea typeface="DejaVu Sans"/>
                          <a:cs typeface="DejaVu Sans"/>
                        </a:rPr>
                        <a:t>Folium locations</a:t>
                      </a:r>
                    </a:p>
                  </a:txBody>
                  <a:tcPr marL="91440" marR="91440" marT="45720" marB="45720">
                    <a:solidFill>
                      <a:srgbClr val="FFFFFF"/>
                    </a:solidFill>
                  </a:tcPr>
                </a:tc>
                <a:tc>
                  <a:txBody>
                    <a:bodyPr/>
                    <a:lstStyle/>
                    <a:p>
                      <a:r>
                        <a:rPr sz="1575" b="0">
                          <a:solidFill>
                            <a:srgbClr val="112B3C"/>
                          </a:solidFill>
                          <a:latin typeface="DejaVu Sans"/>
                          <a:ea typeface="DejaVu Sans"/>
                          <a:cs typeface="DejaVu Sans"/>
                        </a:rPr>
                        <a:t>Map + CircleMarker + labels</a:t>
                      </a:r>
                    </a:p>
                  </a:txBody>
                  <a:tcPr marL="91440" marR="91440" marT="45720" marB="45720">
                    <a:solidFill>
                      <a:srgbClr val="FFFFFF"/>
                    </a:solidFill>
                  </a:tcPr>
                </a:tc>
                <a:tc>
                  <a:txBody>
                    <a:bodyPr/>
                    <a:lstStyle/>
                    <a:p>
                      <a:r>
                        <a:rPr sz="1575" b="0">
                          <a:solidFill>
                            <a:srgbClr val="112B3C"/>
                          </a:solidFill>
                          <a:latin typeface="DejaVu Sans"/>
                          <a:ea typeface="DejaVu Sans"/>
                          <a:cs typeface="DejaVu Sans"/>
                        </a:rPr>
                        <a:t>Four source site labels</a:t>
                      </a:r>
                    </a:p>
                  </a:txBody>
                  <a:tcPr marL="91440" marR="91440" marT="45720" marB="45720">
                    <a:solidFill>
                      <a:srgbClr val="FFFFFF"/>
                    </a:solidFill>
                  </a:tcPr>
                </a:tc>
              </a:tr>
              <a:tr h="579438">
                <a:tc>
                  <a:txBody>
                    <a:bodyPr/>
                    <a:lstStyle/>
                    <a:p>
                      <a:r>
                        <a:rPr sz="1575" b="0">
                          <a:solidFill>
                            <a:srgbClr val="112B3C"/>
                          </a:solidFill>
                          <a:latin typeface="DejaVu Sans"/>
                          <a:ea typeface="DejaVu Sans"/>
                          <a:cs typeface="DejaVu Sans"/>
                        </a:rPr>
                        <a:t>Folium outcomes</a:t>
                      </a:r>
                    </a:p>
                  </a:txBody>
                  <a:tcPr marL="91440" marR="91440" marT="45720" marB="45720">
                    <a:solidFill>
                      <a:srgbClr val="F3F6F8"/>
                    </a:solidFill>
                  </a:tcPr>
                </a:tc>
                <a:tc>
                  <a:txBody>
                    <a:bodyPr/>
                    <a:lstStyle/>
                    <a:p>
                      <a:r>
                        <a:rPr sz="1575" b="0">
                          <a:solidFill>
                            <a:srgbClr val="112B3C"/>
                          </a:solidFill>
                          <a:latin typeface="DejaVu Sans"/>
                          <a:ea typeface="DejaVu Sans"/>
                          <a:cs typeface="DejaVu Sans"/>
                        </a:rPr>
                        <a:t>MarkerCluster + green/red Marker</a:t>
                      </a:r>
                    </a:p>
                  </a:txBody>
                  <a:tcPr marL="91440" marR="91440" marT="45720" marB="45720">
                    <a:solidFill>
                      <a:srgbClr val="F3F6F8"/>
                    </a:solidFill>
                  </a:tcPr>
                </a:tc>
                <a:tc>
                  <a:txBody>
                    <a:bodyPr/>
                    <a:lstStyle/>
                    <a:p>
                      <a:r>
                        <a:rPr sz="1575" b="0">
                          <a:solidFill>
                            <a:srgbClr val="112B3C"/>
                          </a:solidFill>
                          <a:latin typeface="DejaVu Sans"/>
                          <a:ea typeface="DejaVu Sans"/>
                          <a:cs typeface="DejaVu Sans"/>
                        </a:rPr>
                        <a:t>56 records; green=1, red=0</a:t>
                      </a:r>
                    </a:p>
                  </a:txBody>
                  <a:tcPr marL="91440" marR="91440" marT="45720" marB="45720">
                    <a:solidFill>
                      <a:srgbClr val="F3F6F8"/>
                    </a:solidFill>
                  </a:tcPr>
                </a:tc>
              </a:tr>
              <a:tr h="579438">
                <a:tc>
                  <a:txBody>
                    <a:bodyPr/>
                    <a:lstStyle/>
                    <a:p>
                      <a:r>
                        <a:rPr sz="1575" b="0">
                          <a:solidFill>
                            <a:srgbClr val="112B3C"/>
                          </a:solidFill>
                          <a:latin typeface="DejaVu Sans"/>
                          <a:ea typeface="DejaVu Sans"/>
                          <a:cs typeface="DejaVu Sans"/>
                        </a:rPr>
                        <a:t>Folium proximity</a:t>
                      </a:r>
                    </a:p>
                  </a:txBody>
                  <a:tcPr marL="91440" marR="91440" marT="45720" marB="45720">
                    <a:solidFill>
                      <a:srgbClr val="FFFFFF"/>
                    </a:solidFill>
                  </a:tcPr>
                </a:tc>
                <a:tc>
                  <a:txBody>
                    <a:bodyPr/>
                    <a:lstStyle/>
                    <a:p>
                      <a:r>
                        <a:rPr sz="1575" b="0">
                          <a:solidFill>
                            <a:srgbClr val="112B3C"/>
                          </a:solidFill>
                          <a:latin typeface="DejaVu Sans"/>
                          <a:ea typeface="DejaVu Sans"/>
                          <a:cs typeface="DejaVu Sans"/>
                        </a:rPr>
                        <a:t>Haversine + PolyLine</a:t>
                      </a:r>
                    </a:p>
                  </a:txBody>
                  <a:tcPr marL="91440" marR="91440" marT="45720" marB="45720">
                    <a:solidFill>
                      <a:srgbClr val="FFFFFF"/>
                    </a:solidFill>
                  </a:tcPr>
                </a:tc>
                <a:tc>
                  <a:txBody>
                    <a:bodyPr/>
                    <a:lstStyle/>
                    <a:p>
                      <a:r>
                        <a:rPr sz="1575" b="0">
                          <a:solidFill>
                            <a:srgbClr val="112B3C"/>
                          </a:solidFill>
                          <a:latin typeface="DejaVu Sans"/>
                          <a:ea typeface="DejaVu Sans"/>
                          <a:cs typeface="DejaVu Sans"/>
                        </a:rPr>
                        <a:t>Distances to four selected points</a:t>
                      </a:r>
                    </a:p>
                  </a:txBody>
                  <a:tcPr marL="91440" marR="91440" marT="45720" marB="45720">
                    <a:solidFill>
                      <a:srgbClr val="FFFFFF"/>
                    </a:solidFill>
                  </a:tcPr>
                </a:tc>
              </a:tr>
              <a:tr h="579438">
                <a:tc>
                  <a:txBody>
                    <a:bodyPr/>
                    <a:lstStyle/>
                    <a:p>
                      <a:r>
                        <a:rPr sz="1575" b="0">
                          <a:solidFill>
                            <a:srgbClr val="112B3C"/>
                          </a:solidFill>
                          <a:latin typeface="DejaVu Sans"/>
                          <a:ea typeface="DejaVu Sans"/>
                          <a:cs typeface="DejaVu Sans"/>
                        </a:rPr>
                        <a:t>Dash dropdown + callback</a:t>
                      </a:r>
                    </a:p>
                  </a:txBody>
                  <a:tcPr marL="91440" marR="91440" marT="45720" marB="45720">
                    <a:solidFill>
                      <a:srgbClr val="F3F6F8"/>
                    </a:solidFill>
                  </a:tcPr>
                </a:tc>
                <a:tc>
                  <a:txBody>
                    <a:bodyPr/>
                    <a:lstStyle/>
                    <a:p>
                      <a:r>
                        <a:rPr sz="1575" b="0">
                          <a:solidFill>
                            <a:srgbClr val="112B3C"/>
                          </a:solidFill>
                          <a:latin typeface="DejaVu Sans"/>
                          <a:ea typeface="DejaVu Sans"/>
                          <a:cs typeface="DejaVu Sans"/>
                        </a:rPr>
                        <a:t>site-dropdown → success-pie-chart</a:t>
                      </a:r>
                    </a:p>
                  </a:txBody>
                  <a:tcPr marL="91440" marR="91440" marT="45720" marB="45720">
                    <a:solidFill>
                      <a:srgbClr val="F3F6F8"/>
                    </a:solidFill>
                  </a:tcPr>
                </a:tc>
                <a:tc>
                  <a:txBody>
                    <a:bodyPr/>
                    <a:lstStyle/>
                    <a:p>
                      <a:r>
                        <a:rPr sz="1575" b="0">
                          <a:solidFill>
                            <a:srgbClr val="112B3C"/>
                          </a:solidFill>
                          <a:latin typeface="DejaVu Sans"/>
                          <a:ea typeface="DejaVu Sans"/>
                          <a:cs typeface="DejaVu Sans"/>
                        </a:rPr>
                        <a:t>All-site counts or site outcome split</a:t>
                      </a:r>
                    </a:p>
                  </a:txBody>
                  <a:tcPr marL="91440" marR="91440" marT="45720" marB="45720">
                    <a:solidFill>
                      <a:srgbClr val="F3F6F8"/>
                    </a:solidFill>
                  </a:tcPr>
                </a:tc>
              </a:tr>
              <a:tr h="579438">
                <a:tc>
                  <a:txBody>
                    <a:bodyPr/>
                    <a:lstStyle/>
                    <a:p>
                      <a:r>
                        <a:rPr sz="1575" b="0">
                          <a:solidFill>
                            <a:srgbClr val="112B3C"/>
                          </a:solidFill>
                          <a:latin typeface="DejaVu Sans"/>
                          <a:ea typeface="DejaVu Sans"/>
                          <a:cs typeface="DejaVu Sans"/>
                        </a:rPr>
                        <a:t>Dash range + callback</a:t>
                      </a:r>
                    </a:p>
                  </a:txBody>
                  <a:tcPr marL="91440" marR="91440" marT="45720" marB="45720">
                    <a:solidFill>
                      <a:srgbClr val="FFFFFF"/>
                    </a:solidFill>
                  </a:tcPr>
                </a:tc>
                <a:tc>
                  <a:txBody>
                    <a:bodyPr/>
                    <a:lstStyle/>
                    <a:p>
                      <a:r>
                        <a:rPr sz="1575" b="0">
                          <a:solidFill>
                            <a:srgbClr val="112B3C"/>
                          </a:solidFill>
                          <a:latin typeface="DejaVu Sans"/>
                          <a:ea typeface="DejaVu Sans"/>
                          <a:cs typeface="DejaVu Sans"/>
                        </a:rPr>
                        <a:t>payload-slider + site-dropdown</a:t>
                      </a:r>
                    </a:p>
                  </a:txBody>
                  <a:tcPr marL="91440" marR="91440" marT="45720" marB="45720">
                    <a:solidFill>
                      <a:srgbClr val="FFFFFF"/>
                    </a:solidFill>
                  </a:tcPr>
                </a:tc>
                <a:tc>
                  <a:txBody>
                    <a:bodyPr/>
                    <a:lstStyle/>
                    <a:p>
                      <a:r>
                        <a:rPr sz="1575" b="0">
                          <a:solidFill>
                            <a:srgbClr val="112B3C"/>
                          </a:solidFill>
                          <a:latin typeface="DejaVu Sans"/>
                          <a:ea typeface="DejaVu Sans"/>
                          <a:cs typeface="DejaVu Sans"/>
                        </a:rPr>
                        <a:t>Payload / outcome by booster</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4329580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0775C4-DE5A-418F-9285-621DA16B673B}"/>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FOLIUM</a:t>
            </a:r>
          </a:p>
        </p:txBody>
      </p:sp>
      <p:sp>
        <p:nvSpPr>
          <p:cNvPr id="2" name="">
            <a:extLst xmlns:a="http://schemas.openxmlformats.org/drawingml/2006/main">
              <a:ext uri="{FF2B5EF4-FFF2-40B4-BE49-F238E27FC236}">
                <a16:creationId xmlns:a16="http://schemas.microsoft.com/office/drawing/2014/main" id="{5DBFF121-1119-4E6C-B9C7-D39478C95836}"/>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Folium inputs: launch sites on two coasts</a:t>
            </a:r>
          </a:p>
        </p:txBody>
      </p:sp>
      <p:sp>
        <p:nvSpPr>
          <p:cNvPr id="3" name="">
            <a:extLst xmlns:a="http://schemas.openxmlformats.org/drawingml/2006/main">
              <a:ext uri="{FF2B5EF4-FFF2-40B4-BE49-F238E27FC236}">
                <a16:creationId xmlns:a16="http://schemas.microsoft.com/office/drawing/2014/main" id="{7B80C27D-C0FE-4C43-A3A7-0A2484B6A5BD}"/>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Coordinate overview. The companion HTML contains the interactive basemap.</a:t>
            </a:r>
          </a:p>
        </p:txBody>
      </p:sp>
      <p:sp>
        <p:nvSpPr>
          <p:cNvPr id="4" name="">
            <a:extLst xmlns:a="http://schemas.openxmlformats.org/drawingml/2006/main">
              <a:ext uri="{FF2B5EF4-FFF2-40B4-BE49-F238E27FC236}">
                <a16:creationId xmlns:a16="http://schemas.microsoft.com/office/drawing/2014/main" id="{352A80CF-5581-4E27-B951-8E409FB503B8}"/>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be93bc3879e848b5"/>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4A429F84-0661-440B-A296-DF24FE1C99BB}"/>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E9BAAAC-F938-484B-8913-A2D6B18873E5}"/>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Folium notebook; IBM spacex_launch_geo.csv (n=56).</a:t>
            </a:r>
          </a:p>
        </p:txBody>
      </p:sp>
      <p:sp>
        <p:nvSpPr>
          <p:cNvPr id="7" name="">
            <a:extLst xmlns:a="http://schemas.openxmlformats.org/drawingml/2006/main">
              <a:ext uri="{FF2B5EF4-FFF2-40B4-BE49-F238E27FC236}">
                <a16:creationId xmlns:a16="http://schemas.microsoft.com/office/drawing/2014/main" id="{15F245B9-9BD8-48E7-8995-17A06A1311C4}"/>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24</a:t>
            </a:r>
          </a:p>
        </p:txBody>
      </p:sp>
      <p:graphicFrame>
        <p:nvGraphicFramePr>
          <p:cNvPr id="18" name="Chart"/>
          <p:cNvGraphicFramePr/>
          <p:nvPr/>
        </p:nvGraphicFramePr>
        <p:xfrm>
          <a:off xmlns:a="http://schemas.openxmlformats.org/drawingml/2006/main" x="552450" y="2143125"/>
          <a:ext xmlns:a="http://schemas.openxmlformats.org/drawingml/2006/main" cx="7667625" cy="3714750"/>
        </p:xfrm>
        <a:graphic xmlns:a="http://schemas.openxmlformats.org/drawingml/2006/main">
          <a:graphicData uri="http://schemas.openxmlformats.org/drawingml/2006/chart">
            <c:chart xmlns:r="http://schemas.openxmlformats.org/officeDocument/2006/relationships" xmlns:c="http://schemas.openxmlformats.org/drawingml/2006/chart" r:id="R20f045b58e834fb0"/>
          </a:graphicData>
        </a:graphic>
      </p:graphicFrame>
      <p:sp>
        <p:nvSpPr>
          <p:cNvPr id="9" name="">
            <a:extLst xmlns:a="http://schemas.openxmlformats.org/drawingml/2006/main">
              <a:ext uri="{FF2B5EF4-FFF2-40B4-BE49-F238E27FC236}">
                <a16:creationId xmlns:a16="http://schemas.microsoft.com/office/drawing/2014/main" id="{9B8FE928-6E0D-4520-A4B8-71B489498FC9}"/>
              </a:ext>
            </a:extLst>
          </p:cNvPr>
          <p:cNvSpPr>
            <a:spLocks xmlns:a="http://schemas.openxmlformats.org/drawingml/2006/main" noGrp="1"/>
          </p:cNvSpPr>
          <p:nvPr/>
        </p:nvSpPr>
        <p:spPr>
          <a:xfrm xmlns:a="http://schemas.openxmlformats.org/drawingml/2006/main">
            <a:off x="8562975" y="223837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12B3C"/>
                </a:solidFill>
                <a:latin typeface="DejaVu Sans"/>
                <a:ea typeface="DejaVu Sans"/>
                <a:cs typeface="DejaVu Sans"/>
              </a:defRPr>
            </a:pPr>
            <a:r>
              <a:rPr sz="2025" b="1">
                <a:solidFill>
                  <a:srgbClr val="112B3C"/>
                </a:solidFill>
                <a:latin typeface="DejaVu Sans"/>
                <a:ea typeface="DejaVu Sans"/>
                <a:cs typeface="DejaVu Sans"/>
              </a:rPr>
              <a:t>Geographic interpretation</a:t>
            </a:r>
          </a:p>
        </p:txBody>
      </p:sp>
      <p:sp>
        <p:nvSpPr>
          <p:cNvPr id="10" name="">
            <a:extLst xmlns:a="http://schemas.openxmlformats.org/drawingml/2006/main">
              <a:ext uri="{FF2B5EF4-FFF2-40B4-BE49-F238E27FC236}">
                <a16:creationId xmlns:a16="http://schemas.microsoft.com/office/drawing/2014/main" id="{0289EB77-34AC-40C3-9B61-23DFB1385164}"/>
              </a:ext>
            </a:extLst>
          </p:cNvPr>
          <p:cNvSpPr>
            <a:spLocks xmlns:a="http://schemas.openxmlformats.org/drawingml/2006/main" noGrp="1"/>
          </p:cNvSpPr>
          <p:nvPr/>
        </p:nvSpPr>
        <p:spPr>
          <a:xfrm xmlns:a="http://schemas.openxmlformats.org/drawingml/2006/main">
            <a:off x="8562975" y="3114675"/>
            <a:ext cx="29432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12B3C"/>
                </a:solidFill>
                <a:latin typeface="DejaVu Sans"/>
                <a:ea typeface="DejaVu Sans"/>
                <a:cs typeface="DejaVu Sans"/>
              </a:defRPr>
            </a:pPr>
            <a:r>
              <a:rPr sz="1725" b="0">
                <a:solidFill>
                  <a:srgbClr val="112B3C"/>
                </a:solidFill>
                <a:latin typeface="DejaVu Sans"/>
                <a:ea typeface="DejaVu Sans"/>
                <a:cs typeface="DejaVu Sans"/>
              </a:rPr>
              <a:t>All labels lie near a coast.</a:t>
            </a:r>
          </a:p>
          <a:p xmlns:a="http://schemas.openxmlformats.org/drawingml/2006/main">
            <a:r>
              <a:t/>
            </a:r>
          </a:p>
          <a:p xmlns:a="http://schemas.openxmlformats.org/drawingml/2006/main">
            <a:pPr>
              <a:defRPr sz="1725" b="0">
                <a:solidFill>
                  <a:srgbClr val="112B3C"/>
                </a:solidFill>
                <a:latin typeface="DejaVu Sans"/>
                <a:ea typeface="DejaVu Sans"/>
                <a:cs typeface="DejaVu Sans"/>
              </a:defRPr>
            </a:pPr>
            <a:r>
              <a:rPr sz="1725" b="0">
                <a:solidFill>
                  <a:srgbClr val="112B3C"/>
                </a:solidFill>
                <a:latin typeface="DejaVu Sans"/>
                <a:ea typeface="DejaVu Sans"/>
                <a:cs typeface="DejaVu Sans"/>
              </a:rPr>
              <a:t>Latitudes are about 28–35° N: these sites are not on the Equator.</a:t>
            </a:r>
          </a:p>
          <a:p xmlns:a="http://schemas.openxmlformats.org/drawingml/2006/main">
            <a:r>
              <a:t/>
            </a:r>
          </a:p>
          <a:p xmlns:a="http://schemas.openxmlformats.org/drawingml/2006/main">
            <a:pPr>
              <a:defRPr sz="1725" b="0">
                <a:solidFill>
                  <a:srgbClr val="112B3C"/>
                </a:solidFill>
                <a:latin typeface="DejaVu Sans"/>
                <a:ea typeface="DejaVu Sans"/>
                <a:cs typeface="DejaVu Sans"/>
              </a:defRPr>
            </a:pPr>
            <a:r>
              <a:rPr sz="1725" b="0">
                <a:solidFill>
                  <a:srgbClr val="112B3C"/>
                </a:solidFill>
                <a:latin typeface="DejaVu Sans"/>
                <a:ea typeface="DejaVu Sans"/>
                <a:cs typeface="DejaVu Sans"/>
              </a:rPr>
              <a:t>Ocean-facing trajectories are consistent with a safety rationale.</a:t>
            </a:r>
          </a:p>
        </p:txBody>
      </p:sp>
    </p:spTree>
    <p:extLst>
      <p:ext uri="{BB962C8B-B14F-4D97-AF65-F5344CB8AC3E}">
        <p14:creationId xmlns:p14="http://schemas.microsoft.com/office/powerpoint/2010/main" val="21491027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433E544-4E20-4E5E-9DB5-8F9798003BD9}"/>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FOLIUM</a:t>
            </a:r>
          </a:p>
        </p:txBody>
      </p:sp>
      <p:sp>
        <p:nvSpPr>
          <p:cNvPr id="2" name="">
            <a:extLst xmlns:a="http://schemas.openxmlformats.org/drawingml/2006/main">
              <a:ext uri="{FF2B5EF4-FFF2-40B4-BE49-F238E27FC236}">
                <a16:creationId xmlns:a16="http://schemas.microsoft.com/office/drawing/2014/main" id="{D26F2537-F35D-4F16-9D84-BB1B47782DC9}"/>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Folium proximity results: selected reference points</a:t>
            </a:r>
          </a:p>
        </p:txBody>
      </p:sp>
      <p:sp>
        <p:nvSpPr>
          <p:cNvPr id="3" name="">
            <a:extLst xmlns:a="http://schemas.openxmlformats.org/drawingml/2006/main">
              <a:ext uri="{FF2B5EF4-FFF2-40B4-BE49-F238E27FC236}">
                <a16:creationId xmlns:a16="http://schemas.microsoft.com/office/drawing/2014/main" id="{25852407-082B-4333-AAA2-56F98E59660E}"/>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CCAFS SLC-40. Coordinate diagram below; interactive basemap in companion HTML.</a:t>
            </a:r>
          </a:p>
        </p:txBody>
      </p:sp>
      <p:sp>
        <p:nvSpPr>
          <p:cNvPr id="4" name="">
            <a:extLst xmlns:a="http://schemas.openxmlformats.org/drawingml/2006/main">
              <a:ext uri="{FF2B5EF4-FFF2-40B4-BE49-F238E27FC236}">
                <a16:creationId xmlns:a16="http://schemas.microsoft.com/office/drawing/2014/main" id="{22B4E5EB-2A06-44AD-8E8A-AFB3DB1AD2A2}"/>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a88e8f16da2c4ae9"/>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B02FD490-5681-463C-8971-D8F2084D8B09}"/>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27BEE44-6E5D-46F9-BEF9-E0CB65661090}"/>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Folium notebook; IBM spacex_launch_geo.csv (n=56).</a:t>
            </a:r>
          </a:p>
        </p:txBody>
      </p:sp>
      <p:sp>
        <p:nvSpPr>
          <p:cNvPr id="7" name="">
            <a:extLst xmlns:a="http://schemas.openxmlformats.org/drawingml/2006/main">
              <a:ext uri="{FF2B5EF4-FFF2-40B4-BE49-F238E27FC236}">
                <a16:creationId xmlns:a16="http://schemas.microsoft.com/office/drawing/2014/main" id="{755396DC-2516-4EDB-9317-7CEC56DCFC70}"/>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25</a:t>
            </a:r>
          </a:p>
        </p:txBody>
      </p:sp>
      <p:graphicFrame>
        <p:nvGraphicFramePr>
          <p:cNvPr id="18" name="Chart"/>
          <p:cNvGraphicFramePr/>
          <p:nvPr/>
        </p:nvGraphicFramePr>
        <p:xfrm>
          <a:off xmlns:a="http://schemas.openxmlformats.org/drawingml/2006/main" x="552450" y="2133600"/>
          <a:ext xmlns:a="http://schemas.openxmlformats.org/drawingml/2006/main" cx="6667500" cy="3609975"/>
        </p:xfrm>
        <a:graphic xmlns:a="http://schemas.openxmlformats.org/drawingml/2006/main">
          <a:graphicData uri="http://schemas.openxmlformats.org/drawingml/2006/chart">
            <c:chart xmlns:r="http://schemas.openxmlformats.org/officeDocument/2006/relationships" xmlns:c="http://schemas.openxmlformats.org/drawingml/2006/chart" r:id="R4d2d74ef2e0f4ff8"/>
          </a:graphicData>
        </a:graphic>
      </p:graphicFrame>
      <p:graphicFrame>
        <p:nvGraphicFramePr>
          <p:cNvPr id="19" name=""/>
          <p:cNvGraphicFramePr/>
          <p:nvPr/>
        </p:nvGraphicFramePr>
        <p:xfrm>
          <a:off xmlns:a="http://schemas.openxmlformats.org/drawingml/2006/main" x="7562850" y="2219325"/>
          <a:ext xmlns:a="http://schemas.openxmlformats.org/drawingml/2006/main" cx="4010025" cy="2924175"/>
        </p:xfrm>
        <a:graphic xmlns:a="http://schemas.openxmlformats.org/drawingml/2006/main">
          <a:graphicData uri="http://schemas.openxmlformats.org/drawingml/2006/table">
            <a:tbl>
              <a:tblPr/>
              <a:tblGrid>
                <a:gridCol w="2533650"/>
                <a:gridCol w="1476375"/>
              </a:tblGrid>
              <a:tr h="584835">
                <a:tc>
                  <a:txBody>
                    <a:bodyPr/>
                    <a:lstStyle/>
                    <a:p>
                      <a:r>
                        <a:rPr sz="1650" b="1">
                          <a:solidFill>
                            <a:srgbClr val="FFFFFF"/>
                          </a:solidFill>
                          <a:latin typeface="DejaVu Sans"/>
                          <a:ea typeface="DejaVu Sans"/>
                          <a:cs typeface="DejaVu Sans"/>
                        </a:rPr>
                        <a:t>Selected feature</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Distance</a:t>
                      </a:r>
                    </a:p>
                  </a:txBody>
                  <a:tcPr marL="91440" marR="91440" marT="45720" marB="45720">
                    <a:solidFill>
                      <a:srgbClr val="112B3C"/>
                    </a:solidFill>
                  </a:tcPr>
                </a:tc>
              </a:tr>
              <a:tr h="584835">
                <a:tc>
                  <a:txBody>
                    <a:bodyPr/>
                    <a:lstStyle/>
                    <a:p>
                      <a:r>
                        <a:rPr sz="1650" b="0">
                          <a:solidFill>
                            <a:srgbClr val="112B3C"/>
                          </a:solidFill>
                          <a:latin typeface="DejaVu Sans"/>
                          <a:ea typeface="DejaVu Sans"/>
                          <a:cs typeface="DejaVu Sans"/>
                        </a:rPr>
                        <a:t>Highway point</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0.583 km</a:t>
                      </a:r>
                    </a:p>
                  </a:txBody>
                  <a:tcPr marL="91440" marR="91440" marT="45720" marB="45720">
                    <a:solidFill>
                      <a:srgbClr val="FFFFFF"/>
                    </a:solidFill>
                  </a:tcPr>
                </a:tc>
              </a:tr>
              <a:tr h="584835">
                <a:tc>
                  <a:txBody>
                    <a:bodyPr/>
                    <a:lstStyle/>
                    <a:p>
                      <a:r>
                        <a:rPr sz="1650" b="0">
                          <a:solidFill>
                            <a:srgbClr val="112B3C"/>
                          </a:solidFill>
                          <a:latin typeface="DejaVu Sans"/>
                          <a:ea typeface="DejaVu Sans"/>
                          <a:cs typeface="DejaVu Sans"/>
                        </a:rPr>
                        <a:t>Coastline point</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0.863 km</a:t>
                      </a:r>
                    </a:p>
                  </a:txBody>
                  <a:tcPr marL="91440" marR="91440" marT="45720" marB="45720">
                    <a:solidFill>
                      <a:srgbClr val="F3F6F8"/>
                    </a:solidFill>
                  </a:tcPr>
                </a:tc>
              </a:tr>
              <a:tr h="584835">
                <a:tc>
                  <a:txBody>
                    <a:bodyPr/>
                    <a:lstStyle/>
                    <a:p>
                      <a:r>
                        <a:rPr sz="1650" b="0">
                          <a:solidFill>
                            <a:srgbClr val="112B3C"/>
                          </a:solidFill>
                          <a:latin typeface="DejaVu Sans"/>
                          <a:ea typeface="DejaVu Sans"/>
                          <a:cs typeface="DejaVu Sans"/>
                        </a:rPr>
                        <a:t>Railway point</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1.285 km</a:t>
                      </a:r>
                    </a:p>
                  </a:txBody>
                  <a:tcPr marL="91440" marR="91440" marT="45720" marB="45720">
                    <a:solidFill>
                      <a:srgbClr val="FFFFFF"/>
                    </a:solidFill>
                  </a:tcPr>
                </a:tc>
              </a:tr>
              <a:tr h="584835">
                <a:tc>
                  <a:txBody>
                    <a:bodyPr/>
                    <a:lstStyle/>
                    <a:p>
                      <a:r>
                        <a:rPr sz="1650" b="0">
                          <a:solidFill>
                            <a:srgbClr val="112B3C"/>
                          </a:solidFill>
                          <a:latin typeface="DejaVu Sans"/>
                          <a:ea typeface="DejaVu Sans"/>
                          <a:cs typeface="DejaVu Sans"/>
                        </a:rPr>
                        <a:t>City point</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51.434 km</a:t>
                      </a:r>
                    </a:p>
                  </a:txBody>
                  <a:tcPr marL="91440" marR="91440" marT="45720" marB="45720">
                    <a:solidFill>
                      <a:srgbClr val="F3F6F8"/>
                    </a:solidFill>
                  </a:tcPr>
                </a:tc>
              </a:tr>
            </a:tbl>
          </a:graphicData>
        </a:graphic>
      </p:graphicFrame>
      <p:sp>
        <p:nvSpPr>
          <p:cNvPr id="10" name="">
            <a:extLst xmlns:a="http://schemas.openxmlformats.org/drawingml/2006/main">
              <a:ext uri="{FF2B5EF4-FFF2-40B4-BE49-F238E27FC236}">
                <a16:creationId xmlns:a16="http://schemas.microsoft.com/office/drawing/2014/main" id="{376CF908-9593-4257-B9EE-CC4F722AF7A2}"/>
              </a:ext>
            </a:extLst>
          </p:cNvPr>
          <p:cNvSpPr>
            <a:spLocks xmlns:a="http://schemas.openxmlformats.org/drawingml/2006/main" noGrp="1"/>
          </p:cNvSpPr>
          <p:nvPr/>
        </p:nvSpPr>
        <p:spPr>
          <a:xfrm xmlns:a="http://schemas.openxmlformats.org/drawingml/2006/main">
            <a:off x="7591425" y="5362575"/>
            <a:ext cx="3962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56774"/>
                </a:solidFill>
                <a:latin typeface="DejaVu Sans"/>
                <a:ea typeface="DejaVu Sans"/>
                <a:cs typeface="DejaVu Sans"/>
              </a:defRPr>
            </a:pPr>
            <a:r>
              <a:rPr sz="1575" b="0">
                <a:solidFill>
                  <a:srgbClr val="556774"/>
                </a:solidFill>
                <a:latin typeface="DejaVu Sans"/>
                <a:ea typeface="DejaVu Sans"/>
                <a:cs typeface="DejaVu Sans"/>
              </a:rPr>
              <a:t>Manual points, not verified nearest features or driving routes.</a:t>
            </a:r>
          </a:p>
        </p:txBody>
      </p:sp>
    </p:spTree>
    <p:extLst>
      <p:ext uri="{BB962C8B-B14F-4D97-AF65-F5344CB8AC3E}">
        <p14:creationId xmlns:p14="http://schemas.microsoft.com/office/powerpoint/2010/main" val="155323265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8CC14F9-F7C6-484B-B15B-3B2BE2862F71}"/>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FOLIUM</a:t>
            </a:r>
          </a:p>
        </p:txBody>
      </p:sp>
      <p:sp>
        <p:nvSpPr>
          <p:cNvPr id="2" name="">
            <a:extLst xmlns:a="http://schemas.openxmlformats.org/drawingml/2006/main">
              <a:ext uri="{FF2B5EF4-FFF2-40B4-BE49-F238E27FC236}">
                <a16:creationId xmlns:a16="http://schemas.microsoft.com/office/drawing/2014/main" id="{657861BF-14FC-4FDD-85AC-CF2CF15E783A}"/>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Launch records and geographic interpretation</a:t>
            </a:r>
          </a:p>
        </p:txBody>
      </p:sp>
      <p:sp>
        <p:nvSpPr>
          <p:cNvPr id="3" name="">
            <a:extLst xmlns:a="http://schemas.openxmlformats.org/drawingml/2006/main">
              <a:ext uri="{FF2B5EF4-FFF2-40B4-BE49-F238E27FC236}">
                <a16:creationId xmlns:a16="http://schemas.microsoft.com/office/drawing/2014/main" id="{EF17C0DE-35A0-4B8E-B1BD-6E19A2EA5424}"/>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56 records use clustered markers. Identical coordinates expand on cluster selection.</a:t>
            </a:r>
          </a:p>
        </p:txBody>
      </p:sp>
      <p:sp>
        <p:nvSpPr>
          <p:cNvPr id="4" name="">
            <a:extLst xmlns:a="http://schemas.openxmlformats.org/drawingml/2006/main">
              <a:ext uri="{FF2B5EF4-FFF2-40B4-BE49-F238E27FC236}">
                <a16:creationId xmlns:a16="http://schemas.microsoft.com/office/drawing/2014/main" id="{F40F6FA7-D642-4C00-8145-4AE632AB3F2A}"/>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e96efbe7814443a6"/>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CDDC6F00-20FB-4F95-8A69-CE8E414570CF}"/>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53B878E-85CA-4437-8588-CE98C4F0D4AC}"/>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Folium notebook; IBM spacex_launch_geo.csv (n=56).</a:t>
            </a:r>
          </a:p>
        </p:txBody>
      </p:sp>
      <p:sp>
        <p:nvSpPr>
          <p:cNvPr id="7" name="">
            <a:extLst xmlns:a="http://schemas.openxmlformats.org/drawingml/2006/main">
              <a:ext uri="{FF2B5EF4-FFF2-40B4-BE49-F238E27FC236}">
                <a16:creationId xmlns:a16="http://schemas.microsoft.com/office/drawing/2014/main" id="{A132388A-6AAC-41AA-9ACC-16BEC41B7CB7}"/>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26</a:t>
            </a:r>
          </a:p>
        </p:txBody>
      </p:sp>
      <p:graphicFrame>
        <p:nvGraphicFramePr>
          <p:cNvPr id="19" name=""/>
          <p:cNvGraphicFramePr/>
          <p:nvPr/>
        </p:nvGraphicFramePr>
        <p:xfrm>
          <a:off xmlns:a="http://schemas.openxmlformats.org/drawingml/2006/main" x="552450" y="2133600"/>
          <a:ext xmlns:a="http://schemas.openxmlformats.org/drawingml/2006/main" cx="6572250" cy="2971800"/>
        </p:xfrm>
        <a:graphic xmlns:a="http://schemas.openxmlformats.org/drawingml/2006/main">
          <a:graphicData uri="http://schemas.openxmlformats.org/drawingml/2006/table">
            <a:tbl>
              <a:tblPr/>
              <a:tblGrid>
                <a:gridCol w="3333750"/>
                <a:gridCol w="1047750"/>
                <a:gridCol w="1047750"/>
                <a:gridCol w="1143000"/>
              </a:tblGrid>
              <a:tr h="594360">
                <a:tc>
                  <a:txBody>
                    <a:bodyPr/>
                    <a:lstStyle/>
                    <a:p>
                      <a:r>
                        <a:rPr sz="1650" b="1">
                          <a:solidFill>
                            <a:srgbClr val="FFFFFF"/>
                          </a:solidFill>
                          <a:latin typeface="DejaVu Sans"/>
                          <a:ea typeface="DejaVu Sans"/>
                          <a:cs typeface="DejaVu Sans"/>
                        </a:rPr>
                        <a:t>Site label</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Class 1</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Class 0</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Total</a:t>
                      </a:r>
                    </a:p>
                  </a:txBody>
                  <a:tcPr marL="91440" marR="91440" marT="45720" marB="45720">
                    <a:solidFill>
                      <a:srgbClr val="112B3C"/>
                    </a:solidFill>
                  </a:tcPr>
                </a:tc>
              </a:tr>
              <a:tr h="594360">
                <a:tc>
                  <a:txBody>
                    <a:bodyPr/>
                    <a:lstStyle/>
                    <a:p>
                      <a:r>
                        <a:rPr sz="1650" b="0">
                          <a:solidFill>
                            <a:srgbClr val="112B3C"/>
                          </a:solidFill>
                          <a:latin typeface="DejaVu Sans"/>
                          <a:ea typeface="DejaVu Sans"/>
                          <a:cs typeface="DejaVu Sans"/>
                        </a:rPr>
                        <a:t>CCAFS LC-40</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7</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19</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26</a:t>
                      </a:r>
                    </a:p>
                  </a:txBody>
                  <a:tcPr marL="91440" marR="91440" marT="45720" marB="45720">
                    <a:solidFill>
                      <a:srgbClr val="FFFFFF"/>
                    </a:solidFill>
                  </a:tcPr>
                </a:tc>
              </a:tr>
              <a:tr h="594360">
                <a:tc>
                  <a:txBody>
                    <a:bodyPr/>
                    <a:lstStyle/>
                    <a:p>
                      <a:r>
                        <a:rPr sz="1650" b="0">
                          <a:solidFill>
                            <a:srgbClr val="112B3C"/>
                          </a:solidFill>
                          <a:latin typeface="DejaVu Sans"/>
                          <a:ea typeface="DejaVu Sans"/>
                          <a:cs typeface="DejaVu Sans"/>
                        </a:rPr>
                        <a:t>CCAFS SLC-40</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3</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4</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7</a:t>
                      </a:r>
                    </a:p>
                  </a:txBody>
                  <a:tcPr marL="91440" marR="91440" marT="45720" marB="45720">
                    <a:solidFill>
                      <a:srgbClr val="F3F6F8"/>
                    </a:solidFill>
                  </a:tcPr>
                </a:tc>
              </a:tr>
              <a:tr h="594360">
                <a:tc>
                  <a:txBody>
                    <a:bodyPr/>
                    <a:lstStyle/>
                    <a:p>
                      <a:r>
                        <a:rPr sz="1650" b="0">
                          <a:solidFill>
                            <a:srgbClr val="112B3C"/>
                          </a:solidFill>
                          <a:latin typeface="DejaVu Sans"/>
                          <a:ea typeface="DejaVu Sans"/>
                          <a:cs typeface="DejaVu Sans"/>
                        </a:rPr>
                        <a:t>KSC LC-39A</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10</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3</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13</a:t>
                      </a:r>
                    </a:p>
                  </a:txBody>
                  <a:tcPr marL="91440" marR="91440" marT="45720" marB="45720">
                    <a:solidFill>
                      <a:srgbClr val="FFFFFF"/>
                    </a:solidFill>
                  </a:tcPr>
                </a:tc>
              </a:tr>
              <a:tr h="594360">
                <a:tc>
                  <a:txBody>
                    <a:bodyPr/>
                    <a:lstStyle/>
                    <a:p>
                      <a:r>
                        <a:rPr sz="1650" b="0">
                          <a:solidFill>
                            <a:srgbClr val="112B3C"/>
                          </a:solidFill>
                          <a:latin typeface="DejaVu Sans"/>
                          <a:ea typeface="DejaVu Sans"/>
                          <a:cs typeface="DejaVu Sans"/>
                        </a:rPr>
                        <a:t>VAFB SLC-4E</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4</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6</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10</a:t>
                      </a:r>
                    </a:p>
                  </a:txBody>
                  <a:tcPr marL="91440" marR="91440" marT="45720" marB="45720">
                    <a:solidFill>
                      <a:srgbClr val="F3F6F8"/>
                    </a:solidFill>
                  </a:tcPr>
                </a:tc>
              </a:tr>
            </a:tbl>
          </a:graphicData>
        </a:graphic>
      </p:graphicFrame>
      <p:sp>
        <p:nvSpPr>
          <p:cNvPr id="9" name="">
            <a:extLst xmlns:a="http://schemas.openxmlformats.org/drawingml/2006/main">
              <a:ext uri="{FF2B5EF4-FFF2-40B4-BE49-F238E27FC236}">
                <a16:creationId xmlns:a16="http://schemas.microsoft.com/office/drawing/2014/main" id="{1B234327-BDFD-43A2-894B-1560A2444978}"/>
              </a:ext>
            </a:extLst>
          </p:cNvPr>
          <p:cNvSpPr>
            <a:spLocks xmlns:a="http://schemas.openxmlformats.org/drawingml/2006/main" noGrp="1"/>
          </p:cNvSpPr>
          <p:nvPr/>
        </p:nvSpPr>
        <p:spPr>
          <a:xfrm xmlns:a="http://schemas.openxmlformats.org/drawingml/2006/main">
            <a:off x="7572375" y="22002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12B3C"/>
                </a:solidFill>
                <a:latin typeface="DejaVu Sans"/>
                <a:ea typeface="DejaVu Sans"/>
                <a:cs typeface="DejaVu Sans"/>
              </a:defRPr>
            </a:pPr>
            <a:r>
              <a:rPr sz="2025" b="1">
                <a:solidFill>
                  <a:srgbClr val="112B3C"/>
                </a:solidFill>
                <a:latin typeface="DejaVu Sans"/>
                <a:ea typeface="DejaVu Sans"/>
                <a:cs typeface="DejaVu Sans"/>
              </a:rPr>
              <a:t>Proximity interpretation</a:t>
            </a:r>
          </a:p>
        </p:txBody>
      </p:sp>
      <p:sp>
        <p:nvSpPr>
          <p:cNvPr id="10" name="">
            <a:extLst xmlns:a="http://schemas.openxmlformats.org/drawingml/2006/main">
              <a:ext uri="{FF2B5EF4-FFF2-40B4-BE49-F238E27FC236}">
                <a16:creationId xmlns:a16="http://schemas.microsoft.com/office/drawing/2014/main" id="{36EA3A63-FF87-4333-98E2-A989BFE3FA91}"/>
              </a:ext>
            </a:extLst>
          </p:cNvPr>
          <p:cNvSpPr>
            <a:spLocks xmlns:a="http://schemas.openxmlformats.org/drawingml/2006/main" noGrp="1"/>
          </p:cNvSpPr>
          <p:nvPr/>
        </p:nvSpPr>
        <p:spPr>
          <a:xfrm xmlns:a="http://schemas.openxmlformats.org/drawingml/2006/main">
            <a:off x="7572375" y="2838450"/>
            <a:ext cx="4000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12B3C"/>
                </a:solidFill>
                <a:latin typeface="DejaVu Sans"/>
                <a:ea typeface="DejaVu Sans"/>
                <a:cs typeface="DejaVu Sans"/>
              </a:defRPr>
            </a:pPr>
            <a:r>
              <a:rPr sz="1725" b="0">
                <a:solidFill>
                  <a:srgbClr val="112B3C"/>
                </a:solidFill>
                <a:latin typeface="DejaVu Sans"/>
                <a:ea typeface="DejaVu Sans"/>
                <a:cs typeface="DejaVu Sans"/>
              </a:rPr>
              <a:t>Selected road, rail and coastline points are within 1.3 km of the example origin.</a:t>
            </a:r>
          </a:p>
          <a:p xmlns:a="http://schemas.openxmlformats.org/drawingml/2006/main">
            <a:r>
              <a:t/>
            </a:r>
          </a:p>
          <a:p xmlns:a="http://schemas.openxmlformats.org/drawingml/2006/main">
            <a:pPr>
              <a:defRPr sz="1725" b="0">
                <a:solidFill>
                  <a:srgbClr val="112B3C"/>
                </a:solidFill>
                <a:latin typeface="DejaVu Sans"/>
                <a:ea typeface="DejaVu Sans"/>
                <a:cs typeface="DejaVu Sans"/>
              </a:defRPr>
            </a:pPr>
            <a:r>
              <a:rPr sz="1725" b="0">
                <a:solidFill>
                  <a:srgbClr val="112B3C"/>
                </a:solidFill>
                <a:latin typeface="DejaVu Sans"/>
                <a:ea typeface="DejaVu Sans"/>
                <a:cs typeface="DejaVu Sans"/>
              </a:rPr>
              <a:t>The selected city point is 51.4 km away. This does not prove the nearest-city distance for all sites.</a:t>
            </a:r>
          </a:p>
        </p:txBody>
      </p:sp>
      <p:sp>
        <p:nvSpPr>
          <p:cNvPr id="11" name="">
            <a:extLst xmlns:a="http://schemas.openxmlformats.org/drawingml/2006/main">
              <a:ext uri="{FF2B5EF4-FFF2-40B4-BE49-F238E27FC236}">
                <a16:creationId xmlns:a16="http://schemas.microsoft.com/office/drawing/2014/main" id="{7C10BB8E-D5CC-413C-BB47-EAD96AF8CE50}"/>
              </a:ext>
            </a:extLst>
          </p:cNvPr>
          <p:cNvSpPr>
            <a:spLocks xmlns:a="http://schemas.openxmlformats.org/drawingml/2006/main" noGrp="1"/>
          </p:cNvSpPr>
          <p:nvPr/>
        </p:nvSpPr>
        <p:spPr>
          <a:xfrm xmlns:a="http://schemas.openxmlformats.org/drawingml/2006/main">
            <a:off x="552450" y="53625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56774"/>
                </a:solidFill>
                <a:latin typeface="DejaVu Sans"/>
                <a:ea typeface="DejaVu Sans"/>
                <a:cs typeface="DejaVu Sans"/>
              </a:defRPr>
            </a:pPr>
            <a:r>
              <a:rPr sz="1575" b="0">
                <a:solidFill>
                  <a:srgbClr val="556774"/>
                </a:solidFill>
                <a:latin typeface="DejaVu Sans"/>
                <a:ea typeface="DejaVu Sans"/>
                <a:cs typeface="DejaVu Sans"/>
              </a:rPr>
              <a:t>Interactive map: reports/SpaceX_Folium_Interactive.html</a:t>
            </a:r>
          </a:p>
          <a:p xmlns:a="http://schemas.openxmlformats.org/drawingml/2006/main">
            <a:pPr>
              <a:defRPr sz="1575" b="0">
                <a:solidFill>
                  <a:srgbClr val="556774"/>
                </a:solidFill>
                <a:latin typeface="DejaVu Sans"/>
                <a:ea typeface="DejaVu Sans"/>
                <a:cs typeface="DejaVu Sans"/>
              </a:defRPr>
            </a:pPr>
            <a:r>
              <a:rPr sz="1575" b="0">
                <a:solidFill>
                  <a:srgbClr val="556774"/>
                </a:solidFill>
                <a:latin typeface="DejaVu Sans"/>
                <a:ea typeface="DejaVu Sans"/>
                <a:cs typeface="DejaVu Sans"/>
              </a:rPr>
              <a:t>The PDF includes coordinate diagrams; a rendered basemap capture is still needed.</a:t>
            </a:r>
          </a:p>
        </p:txBody>
      </p:sp>
    </p:spTree>
    <p:extLst>
      <p:ext uri="{BB962C8B-B14F-4D97-AF65-F5344CB8AC3E}">
        <p14:creationId xmlns:p14="http://schemas.microsoft.com/office/powerpoint/2010/main" val="49793858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CA3D45-49BE-4F65-97CB-D92173B63B94}"/>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PLOTLY DASH</a:t>
            </a:r>
          </a:p>
        </p:txBody>
      </p:sp>
      <p:sp>
        <p:nvSpPr>
          <p:cNvPr id="2" name="">
            <a:extLst xmlns:a="http://schemas.openxmlformats.org/drawingml/2006/main">
              <a:ext uri="{FF2B5EF4-FFF2-40B4-BE49-F238E27FC236}">
                <a16:creationId xmlns:a16="http://schemas.microsoft.com/office/drawing/2014/main" id="{D3800F30-F900-48BC-849E-93DE5D5752E8}"/>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KSC leads the 56-record dashboard sample</a:t>
            </a:r>
          </a:p>
        </p:txBody>
      </p:sp>
      <p:sp>
        <p:nvSpPr>
          <p:cNvPr id="3" name="">
            <a:extLst xmlns:a="http://schemas.openxmlformats.org/drawingml/2006/main">
              <a:ext uri="{FF2B5EF4-FFF2-40B4-BE49-F238E27FC236}">
                <a16:creationId xmlns:a16="http://schemas.microsoft.com/office/drawing/2014/main" id="{BD10B941-891F-4160-8BA6-4310E0156C60}"/>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The all-sites pie shows the distribution of Class 1 counts.</a:t>
            </a:r>
          </a:p>
        </p:txBody>
      </p:sp>
      <p:sp>
        <p:nvSpPr>
          <p:cNvPr id="4" name="">
            <a:extLst xmlns:a="http://schemas.openxmlformats.org/drawingml/2006/main">
              <a:ext uri="{FF2B5EF4-FFF2-40B4-BE49-F238E27FC236}">
                <a16:creationId xmlns:a16="http://schemas.microsoft.com/office/drawing/2014/main" id="{C125E0F3-A0CC-4CA8-AEF7-546B6AACE575}"/>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60dabec6566b4598"/>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1CC9D0BC-C678-4AB3-9A01-74F28566A9DA}"/>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66CE50-1AD5-4F2A-8340-A2D8019BBD33}"/>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dashboard screenshots; IBM spacex_launch_dash.csv (n=56).</a:t>
            </a:r>
          </a:p>
        </p:txBody>
      </p:sp>
      <p:sp>
        <p:nvSpPr>
          <p:cNvPr id="7" name="">
            <a:extLst xmlns:a="http://schemas.openxmlformats.org/drawingml/2006/main">
              <a:ext uri="{FF2B5EF4-FFF2-40B4-BE49-F238E27FC236}">
                <a16:creationId xmlns:a16="http://schemas.microsoft.com/office/drawing/2014/main" id="{B9C82DF1-3B80-4A78-8FC7-F243CEA2E801}"/>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27</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c9df055e58544cc"/>
          <a:stretch xmlns:a="http://schemas.openxmlformats.org/drawingml/2006/main"/>
        </p:blipFill>
        <p:spPr>
          <a:xfrm xmlns:a="http://schemas.openxmlformats.org/drawingml/2006/main">
            <a:off x="1119811" y="2047875"/>
            <a:ext cx="5123202" cy="40386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5D0BE62-09DD-490B-8ABE-6897F10CC4AB}"/>
              </a:ext>
            </a:extLst>
          </p:cNvPr>
          <p:cNvSpPr>
            <a:spLocks xmlns:a="http://schemas.openxmlformats.org/drawingml/2006/main" noGrp="1"/>
          </p:cNvSpPr>
          <p:nvPr/>
        </p:nvSpPr>
        <p:spPr>
          <a:xfrm xmlns:a="http://schemas.openxmlformats.org/drawingml/2006/main">
            <a:off x="7305675" y="2343150"/>
            <a:ext cx="424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12B3C"/>
                </a:solidFill>
                <a:latin typeface="DejaVu Sans"/>
                <a:ea typeface="DejaVu Sans"/>
                <a:cs typeface="DejaVu Sans"/>
              </a:defRPr>
            </a:pPr>
            <a:r>
              <a:rPr sz="2175" b="1">
                <a:solidFill>
                  <a:srgbClr val="112B3C"/>
                </a:solidFill>
                <a:latin typeface="DejaVu Sans"/>
                <a:ea typeface="DejaVu Sans"/>
                <a:cs typeface="DejaVu Sans"/>
              </a:rPr>
              <a:t>Two different percentages</a:t>
            </a:r>
          </a:p>
        </p:txBody>
      </p:sp>
      <p:sp>
        <p:nvSpPr>
          <p:cNvPr id="10" name="">
            <a:extLst xmlns:a="http://schemas.openxmlformats.org/drawingml/2006/main">
              <a:ext uri="{FF2B5EF4-FFF2-40B4-BE49-F238E27FC236}">
                <a16:creationId xmlns:a16="http://schemas.microsoft.com/office/drawing/2014/main" id="{2800C4FD-3A83-4501-8990-93E721CE94AA}"/>
              </a:ext>
            </a:extLst>
          </p:cNvPr>
          <p:cNvSpPr>
            <a:spLocks xmlns:a="http://schemas.openxmlformats.org/drawingml/2006/main" noGrp="1"/>
          </p:cNvSpPr>
          <p:nvPr/>
        </p:nvSpPr>
        <p:spPr>
          <a:xfrm xmlns:a="http://schemas.openxmlformats.org/drawingml/2006/main">
            <a:off x="7305675" y="3209925"/>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24678A"/>
                </a:solidFill>
                <a:latin typeface="DejaVu Sans"/>
                <a:ea typeface="DejaVu Sans"/>
                <a:cs typeface="DejaVu Sans"/>
              </a:defRPr>
            </a:pPr>
            <a:r>
              <a:rPr sz="2025" b="1">
                <a:solidFill>
                  <a:srgbClr val="24678A"/>
                </a:solidFill>
                <a:latin typeface="DejaVu Sans"/>
                <a:ea typeface="DejaVu Sans"/>
                <a:cs typeface="DejaVu Sans"/>
              </a:rPr>
              <a:t>41.7% = 10 / 24</a:t>
            </a:r>
          </a:p>
          <a:p xmlns:a="http://schemas.openxmlformats.org/drawingml/2006/main">
            <a:pPr>
              <a:defRPr sz="2025" b="1">
                <a:solidFill>
                  <a:srgbClr val="24678A"/>
                </a:solidFill>
                <a:latin typeface="DejaVu Sans"/>
                <a:ea typeface="DejaVu Sans"/>
                <a:cs typeface="DejaVu Sans"/>
              </a:defRPr>
            </a:pPr>
            <a:r>
              <a:rPr sz="2025" b="1">
                <a:solidFill>
                  <a:srgbClr val="24678A"/>
                </a:solidFill>
                <a:latin typeface="DejaVu Sans"/>
                <a:ea typeface="DejaVu Sans"/>
                <a:cs typeface="DejaVu Sans"/>
              </a:rPr>
              <a:t>KSC share of all Class 1 records</a:t>
            </a:r>
          </a:p>
        </p:txBody>
      </p:sp>
      <p:sp>
        <p:nvSpPr>
          <p:cNvPr id="11" name="">
            <a:extLst xmlns:a="http://schemas.openxmlformats.org/drawingml/2006/main">
              <a:ext uri="{FF2B5EF4-FFF2-40B4-BE49-F238E27FC236}">
                <a16:creationId xmlns:a16="http://schemas.microsoft.com/office/drawing/2014/main" id="{47083F86-6BB1-47AE-BD13-CB234ADD1076}"/>
              </a:ext>
            </a:extLst>
          </p:cNvPr>
          <p:cNvSpPr>
            <a:spLocks xmlns:a="http://schemas.openxmlformats.org/drawingml/2006/main" noGrp="1"/>
          </p:cNvSpPr>
          <p:nvPr/>
        </p:nvSpPr>
        <p:spPr>
          <a:xfrm xmlns:a="http://schemas.openxmlformats.org/drawingml/2006/main">
            <a:off x="7305675" y="4276725"/>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817A"/>
                </a:solidFill>
                <a:latin typeface="DejaVu Sans"/>
                <a:ea typeface="DejaVu Sans"/>
                <a:cs typeface="DejaVu Sans"/>
              </a:defRPr>
            </a:pPr>
            <a:r>
              <a:rPr sz="2025" b="1">
                <a:solidFill>
                  <a:srgbClr val="16817A"/>
                </a:solidFill>
                <a:latin typeface="DejaVu Sans"/>
                <a:ea typeface="DejaVu Sans"/>
                <a:cs typeface="DejaVu Sans"/>
              </a:rPr>
              <a:t>76.9% = 10 / 13</a:t>
            </a:r>
          </a:p>
          <a:p xmlns:a="http://schemas.openxmlformats.org/drawingml/2006/main">
            <a:pPr>
              <a:defRPr sz="2025" b="1">
                <a:solidFill>
                  <a:srgbClr val="16817A"/>
                </a:solidFill>
                <a:latin typeface="DejaVu Sans"/>
                <a:ea typeface="DejaVu Sans"/>
                <a:cs typeface="DejaVu Sans"/>
              </a:defRPr>
            </a:pPr>
            <a:r>
              <a:rPr sz="2025" b="1">
                <a:solidFill>
                  <a:srgbClr val="16817A"/>
                </a:solidFill>
                <a:latin typeface="DejaVu Sans"/>
                <a:ea typeface="DejaVu Sans"/>
                <a:cs typeface="DejaVu Sans"/>
              </a:rPr>
              <a:t>Class 1 rate within KSC</a:t>
            </a:r>
          </a:p>
        </p:txBody>
      </p:sp>
    </p:spTree>
    <p:extLst>
      <p:ext uri="{BB962C8B-B14F-4D97-AF65-F5344CB8AC3E}">
        <p14:creationId xmlns:p14="http://schemas.microsoft.com/office/powerpoint/2010/main" val="28255683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AEC9B7F-A1C8-4A8C-A681-C20C1A079E3B}"/>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PLOTLY DASH</a:t>
            </a:r>
          </a:p>
        </p:txBody>
      </p:sp>
      <p:sp>
        <p:nvSpPr>
          <p:cNvPr id="2" name="">
            <a:extLst xmlns:a="http://schemas.openxmlformats.org/drawingml/2006/main">
              <a:ext uri="{FF2B5EF4-FFF2-40B4-BE49-F238E27FC236}">
                <a16:creationId xmlns:a16="http://schemas.microsoft.com/office/drawing/2014/main" id="{DAD1D935-2EDF-4911-906B-FC717490E493}"/>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Payload filtering makes comparisons interactive</a:t>
            </a:r>
          </a:p>
        </p:txBody>
      </p:sp>
      <p:sp>
        <p:nvSpPr>
          <p:cNvPr id="3" name="">
            <a:extLst xmlns:a="http://schemas.openxmlformats.org/drawingml/2006/main">
              <a:ext uri="{FF2B5EF4-FFF2-40B4-BE49-F238E27FC236}">
                <a16:creationId xmlns:a16="http://schemas.microsoft.com/office/drawing/2014/main" id="{7A90EA29-94EB-4AEC-AA63-874A4E2B514C}"/>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Site selection and a payload range control the scatter plot.</a:t>
            </a:r>
          </a:p>
        </p:txBody>
      </p:sp>
      <p:sp>
        <p:nvSpPr>
          <p:cNvPr id="4" name="">
            <a:extLst xmlns:a="http://schemas.openxmlformats.org/drawingml/2006/main">
              <a:ext uri="{FF2B5EF4-FFF2-40B4-BE49-F238E27FC236}">
                <a16:creationId xmlns:a16="http://schemas.microsoft.com/office/drawing/2014/main" id="{BE6A0D3D-41B2-4FC6-896B-A7A4CF5F9310}"/>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681e63db8e124e29"/>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5CC727FD-D446-448F-933D-D81616E0F03D}"/>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87FC6E3-4CF6-4044-A451-29E00AE3D268}"/>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dashboard screenshots; IBM spacex_launch_dash.csv (n=56).</a:t>
            </a:r>
          </a:p>
        </p:txBody>
      </p:sp>
      <p:sp>
        <p:nvSpPr>
          <p:cNvPr id="7" name="">
            <a:extLst xmlns:a="http://schemas.openxmlformats.org/drawingml/2006/main">
              <a:ext uri="{FF2B5EF4-FFF2-40B4-BE49-F238E27FC236}">
                <a16:creationId xmlns:a16="http://schemas.microsoft.com/office/drawing/2014/main" id="{DCF22BFE-B8CD-45CF-9F5D-B2347E9A89B1}"/>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28</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0d4879a1c394a7e"/>
          <a:stretch xmlns:a="http://schemas.openxmlformats.org/drawingml/2006/main"/>
        </p:blipFill>
        <p:spPr>
          <a:xfrm xmlns:a="http://schemas.openxmlformats.org/drawingml/2006/main">
            <a:off x="1021460" y="2047875"/>
            <a:ext cx="5319905" cy="40386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43399D3-297E-4245-9B5D-23465DC8F122}"/>
              </a:ext>
            </a:extLst>
          </p:cNvPr>
          <p:cNvSpPr>
            <a:spLocks xmlns:a="http://schemas.openxmlformats.org/drawingml/2006/main" noGrp="1"/>
          </p:cNvSpPr>
          <p:nvPr/>
        </p:nvSpPr>
        <p:spPr>
          <a:xfrm xmlns:a="http://schemas.openxmlformats.org/drawingml/2006/main">
            <a:off x="7324725" y="24098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16635"/>
                </a:solidFill>
                <a:latin typeface="DejaVu Sans"/>
                <a:ea typeface="DejaVu Sans"/>
                <a:cs typeface="DejaVu Sans"/>
              </a:defRPr>
            </a:pPr>
            <a:r>
              <a:rPr sz="1800" b="1">
                <a:solidFill>
                  <a:srgbClr val="D16635"/>
                </a:solidFill>
                <a:latin typeface="DejaVu Sans"/>
                <a:ea typeface="DejaVu Sans"/>
                <a:cs typeface="DejaVu Sans"/>
              </a:rPr>
              <a:t>01</a:t>
            </a:r>
          </a:p>
        </p:txBody>
      </p:sp>
      <p:sp>
        <p:nvSpPr>
          <p:cNvPr id="10" name="">
            <a:extLst xmlns:a="http://schemas.openxmlformats.org/drawingml/2006/main">
              <a:ext uri="{FF2B5EF4-FFF2-40B4-BE49-F238E27FC236}">
                <a16:creationId xmlns:a16="http://schemas.microsoft.com/office/drawing/2014/main" id="{708E7A72-E708-44F2-9F43-64FD13600391}"/>
              </a:ext>
            </a:extLst>
          </p:cNvPr>
          <p:cNvSpPr>
            <a:spLocks xmlns:a="http://schemas.openxmlformats.org/drawingml/2006/main" noGrp="1"/>
          </p:cNvSpPr>
          <p:nvPr/>
        </p:nvSpPr>
        <p:spPr>
          <a:xfrm xmlns:a="http://schemas.openxmlformats.org/drawingml/2006/main">
            <a:off x="8048625" y="2409825"/>
            <a:ext cx="3571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2B3C"/>
                </a:solidFill>
                <a:latin typeface="DejaVu Sans"/>
                <a:ea typeface="DejaVu Sans"/>
                <a:cs typeface="DejaVu Sans"/>
              </a:defRPr>
            </a:pPr>
            <a:r>
              <a:rPr sz="1800" b="0">
                <a:solidFill>
                  <a:srgbClr val="112B3C"/>
                </a:solidFill>
                <a:latin typeface="DejaVu Sans"/>
                <a:ea typeface="DejaVu Sans"/>
                <a:cs typeface="DejaVu Sans"/>
              </a:rPr>
              <a:t>X: payload mass (kg).</a:t>
            </a:r>
          </a:p>
          <a:p xmlns:a="http://schemas.openxmlformats.org/drawingml/2006/main">
            <a:pPr>
              <a:defRPr sz="1800" b="0">
                <a:solidFill>
                  <a:srgbClr val="112B3C"/>
                </a:solidFill>
                <a:latin typeface="DejaVu Sans"/>
                <a:ea typeface="DejaVu Sans"/>
                <a:cs typeface="DejaVu Sans"/>
              </a:defRPr>
            </a:pPr>
            <a:r>
              <a:rPr sz="1800" b="0">
                <a:solidFill>
                  <a:srgbClr val="112B3C"/>
                </a:solidFill>
                <a:latin typeface="DejaVu Sans"/>
                <a:ea typeface="DejaVu Sans"/>
                <a:cs typeface="DejaVu Sans"/>
              </a:rPr>
              <a:t>Y: outcome class, 0 or 1.</a:t>
            </a:r>
          </a:p>
        </p:txBody>
      </p:sp>
      <p:sp>
        <p:nvSpPr>
          <p:cNvPr id="11" name="">
            <a:extLst xmlns:a="http://schemas.openxmlformats.org/drawingml/2006/main">
              <a:ext uri="{FF2B5EF4-FFF2-40B4-BE49-F238E27FC236}">
                <a16:creationId xmlns:a16="http://schemas.microsoft.com/office/drawing/2014/main" id="{86A34B8A-A2CC-4CED-B4E8-1F93083ABC05}"/>
              </a:ext>
            </a:extLst>
          </p:cNvPr>
          <p:cNvSpPr>
            <a:spLocks xmlns:a="http://schemas.openxmlformats.org/drawingml/2006/main" noGrp="1"/>
          </p:cNvSpPr>
          <p:nvPr/>
        </p:nvSpPr>
        <p:spPr>
          <a:xfrm xmlns:a="http://schemas.openxmlformats.org/drawingml/2006/main">
            <a:off x="7324725" y="346710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16635"/>
                </a:solidFill>
                <a:latin typeface="DejaVu Sans"/>
                <a:ea typeface="DejaVu Sans"/>
                <a:cs typeface="DejaVu Sans"/>
              </a:defRPr>
            </a:pPr>
            <a:r>
              <a:rPr sz="1800" b="1">
                <a:solidFill>
                  <a:srgbClr val="D16635"/>
                </a:solidFill>
                <a:latin typeface="DejaVu Sans"/>
                <a:ea typeface="DejaVu Sans"/>
                <a:cs typeface="DejaVu Sans"/>
              </a:rPr>
              <a:t>02</a:t>
            </a:r>
          </a:p>
        </p:txBody>
      </p:sp>
      <p:sp>
        <p:nvSpPr>
          <p:cNvPr id="12" name="">
            <a:extLst xmlns:a="http://schemas.openxmlformats.org/drawingml/2006/main">
              <a:ext uri="{FF2B5EF4-FFF2-40B4-BE49-F238E27FC236}">
                <a16:creationId xmlns:a16="http://schemas.microsoft.com/office/drawing/2014/main" id="{3D0A4990-203D-4814-8C4C-C6EB55571541}"/>
              </a:ext>
            </a:extLst>
          </p:cNvPr>
          <p:cNvSpPr>
            <a:spLocks xmlns:a="http://schemas.openxmlformats.org/drawingml/2006/main" noGrp="1"/>
          </p:cNvSpPr>
          <p:nvPr/>
        </p:nvSpPr>
        <p:spPr>
          <a:xfrm xmlns:a="http://schemas.openxmlformats.org/drawingml/2006/main">
            <a:off x="8048625" y="3467100"/>
            <a:ext cx="3571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2B3C"/>
                </a:solidFill>
                <a:latin typeface="DejaVu Sans"/>
                <a:ea typeface="DejaVu Sans"/>
                <a:cs typeface="DejaVu Sans"/>
              </a:defRPr>
            </a:pPr>
            <a:r>
              <a:rPr sz="1800" b="0">
                <a:solidFill>
                  <a:srgbClr val="112B3C"/>
                </a:solidFill>
                <a:latin typeface="DejaVu Sans"/>
                <a:ea typeface="DejaVu Sans"/>
                <a:cs typeface="DejaVu Sans"/>
              </a:rPr>
              <a:t>Color: booster version category.</a:t>
            </a:r>
          </a:p>
        </p:txBody>
      </p:sp>
      <p:sp>
        <p:nvSpPr>
          <p:cNvPr id="13" name="">
            <a:extLst xmlns:a="http://schemas.openxmlformats.org/drawingml/2006/main">
              <a:ext uri="{FF2B5EF4-FFF2-40B4-BE49-F238E27FC236}">
                <a16:creationId xmlns:a16="http://schemas.microsoft.com/office/drawing/2014/main" id="{B9C768C6-66AB-40C3-A7A5-3D5943D7E0C7}"/>
              </a:ext>
            </a:extLst>
          </p:cNvPr>
          <p:cNvSpPr>
            <a:spLocks xmlns:a="http://schemas.openxmlformats.org/drawingml/2006/main" noGrp="1"/>
          </p:cNvSpPr>
          <p:nvPr/>
        </p:nvSpPr>
        <p:spPr>
          <a:xfrm xmlns:a="http://schemas.openxmlformats.org/drawingml/2006/main">
            <a:off x="7324725" y="45243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16635"/>
                </a:solidFill>
                <a:latin typeface="DejaVu Sans"/>
                <a:ea typeface="DejaVu Sans"/>
                <a:cs typeface="DejaVu Sans"/>
              </a:defRPr>
            </a:pPr>
            <a:r>
              <a:rPr sz="1800" b="1">
                <a:solidFill>
                  <a:srgbClr val="D16635"/>
                </a:solidFill>
                <a:latin typeface="DejaVu Sans"/>
                <a:ea typeface="DejaVu Sans"/>
                <a:cs typeface="DejaVu Sans"/>
              </a:rPr>
              <a:t>03</a:t>
            </a:r>
          </a:p>
        </p:txBody>
      </p:sp>
      <p:sp>
        <p:nvSpPr>
          <p:cNvPr id="14" name="">
            <a:extLst xmlns:a="http://schemas.openxmlformats.org/drawingml/2006/main">
              <a:ext uri="{FF2B5EF4-FFF2-40B4-BE49-F238E27FC236}">
                <a16:creationId xmlns:a16="http://schemas.microsoft.com/office/drawing/2014/main" id="{FAFA3521-EEF6-484B-AF86-F3E1A6DE73EA}"/>
              </a:ext>
            </a:extLst>
          </p:cNvPr>
          <p:cNvSpPr>
            <a:spLocks xmlns:a="http://schemas.openxmlformats.org/drawingml/2006/main" noGrp="1"/>
          </p:cNvSpPr>
          <p:nvPr/>
        </p:nvSpPr>
        <p:spPr>
          <a:xfrm xmlns:a="http://schemas.openxmlformats.org/drawingml/2006/main">
            <a:off x="8048625" y="4524375"/>
            <a:ext cx="3571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2B3C"/>
                </a:solidFill>
                <a:latin typeface="DejaVu Sans"/>
                <a:ea typeface="DejaVu Sans"/>
                <a:cs typeface="DejaVu Sans"/>
              </a:defRPr>
            </a:pPr>
            <a:r>
              <a:rPr sz="1800" b="0">
                <a:solidFill>
                  <a:srgbClr val="112B3C"/>
                </a:solidFill>
                <a:latin typeface="DejaVu Sans"/>
                <a:ea typeface="DejaVu Sans"/>
                <a:cs typeface="DejaVu Sans"/>
              </a:rPr>
              <a:t>Filters help inspect subsets; they do not establish causation.</a:t>
            </a:r>
          </a:p>
        </p:txBody>
      </p:sp>
    </p:spTree>
    <p:extLst>
      <p:ext uri="{BB962C8B-B14F-4D97-AF65-F5344CB8AC3E}">
        <p14:creationId xmlns:p14="http://schemas.microsoft.com/office/powerpoint/2010/main" val="158770499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D5E321-1254-4A55-8A6A-CC3236B95C68}"/>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DASHBOARD ANALYSIS</a:t>
            </a:r>
          </a:p>
        </p:txBody>
      </p:sp>
      <p:sp>
        <p:nvSpPr>
          <p:cNvPr id="2" name="">
            <a:extLst xmlns:a="http://schemas.openxmlformats.org/drawingml/2006/main">
              <a:ext uri="{FF2B5EF4-FFF2-40B4-BE49-F238E27FC236}">
                <a16:creationId xmlns:a16="http://schemas.microsoft.com/office/drawing/2014/main" id="{E87B3A8B-E5B3-4B1B-87F2-C2C12B5C6F96}"/>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Payload-band rates are sensitive to the denominator</a:t>
            </a:r>
          </a:p>
        </p:txBody>
      </p:sp>
      <p:sp>
        <p:nvSpPr>
          <p:cNvPr id="3" name="">
            <a:extLst xmlns:a="http://schemas.openxmlformats.org/drawingml/2006/main">
              <a:ext uri="{FF2B5EF4-FFF2-40B4-BE49-F238E27FC236}">
                <a16:creationId xmlns:a16="http://schemas.microsoft.com/office/drawing/2014/main" id="{04F52550-3099-4D18-B16D-992118ABEC4D}"/>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Recomputed fixed 2,000 kg bands for the dashboard’s 56 records.</a:t>
            </a:r>
          </a:p>
        </p:txBody>
      </p:sp>
      <p:sp>
        <p:nvSpPr>
          <p:cNvPr id="4" name="">
            <a:extLst xmlns:a="http://schemas.openxmlformats.org/drawingml/2006/main">
              <a:ext uri="{FF2B5EF4-FFF2-40B4-BE49-F238E27FC236}">
                <a16:creationId xmlns:a16="http://schemas.microsoft.com/office/drawing/2014/main" id="{7FAE0267-9FDB-4C0B-8999-DAEFE57652BE}"/>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4fc911a605ec4296"/>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5DB0EE2E-F595-42AF-B733-DFAF8663BC15}"/>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497126A-0C37-46BB-BA41-1EAFA1F3AC79}"/>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dashboard screenshots; IBM spacex_launch_dash.csv (n=56).</a:t>
            </a:r>
          </a:p>
        </p:txBody>
      </p:sp>
      <p:sp>
        <p:nvSpPr>
          <p:cNvPr id="7" name="">
            <a:extLst xmlns:a="http://schemas.openxmlformats.org/drawingml/2006/main">
              <a:ext uri="{FF2B5EF4-FFF2-40B4-BE49-F238E27FC236}">
                <a16:creationId xmlns:a16="http://schemas.microsoft.com/office/drawing/2014/main" id="{99E935B6-A12F-45E3-8833-5136FD5C4E44}"/>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29</a:t>
            </a:r>
          </a:p>
        </p:txBody>
      </p:sp>
      <p:graphicFrame>
        <p:nvGraphicFramePr>
          <p:cNvPr id="18" name="Chart"/>
          <p:cNvGraphicFramePr/>
          <p:nvPr/>
        </p:nvGraphicFramePr>
        <p:xfrm>
          <a:off xmlns:a="http://schemas.openxmlformats.org/drawingml/2006/main" x="571500" y="2257425"/>
          <a:ext xmlns:a="http://schemas.openxmlformats.org/drawingml/2006/main" cx="11001375" cy="3286125"/>
        </p:xfrm>
        <a:graphic xmlns:a="http://schemas.openxmlformats.org/drawingml/2006/main">
          <a:graphicData uri="http://schemas.openxmlformats.org/drawingml/2006/chart">
            <c:chart xmlns:r="http://schemas.openxmlformats.org/officeDocument/2006/relationships" xmlns:c="http://schemas.openxmlformats.org/drawingml/2006/chart" r:id="Raa09948c65f340fe"/>
          </a:graphicData>
        </a:graphic>
      </p:graphicFrame>
      <p:sp>
        <p:nvSpPr>
          <p:cNvPr id="9" name="">
            <a:extLst xmlns:a="http://schemas.openxmlformats.org/drawingml/2006/main">
              <a:ext uri="{FF2B5EF4-FFF2-40B4-BE49-F238E27FC236}">
                <a16:creationId xmlns:a16="http://schemas.microsoft.com/office/drawing/2014/main" id="{9D057D7E-D975-463B-8A50-C3C1F7B314A1}"/>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6644A90-9915-49F0-81F2-1A606A65467A}"/>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Highest: 2,000–&lt;4,000 kg (13 / 21). Lowest: 6,000–&lt;8,000 kg (0 / 4).</a:t>
            </a:r>
          </a:p>
        </p:txBody>
      </p:sp>
    </p:spTree>
    <p:extLst>
      <p:ext uri="{BB962C8B-B14F-4D97-AF65-F5344CB8AC3E}">
        <p14:creationId xmlns:p14="http://schemas.microsoft.com/office/powerpoint/2010/main" val="21222480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F8E62C-ED61-4485-901A-89F47E07B84E}"/>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DASHBOARD ANALYSIS</a:t>
            </a:r>
          </a:p>
        </p:txBody>
      </p:sp>
      <p:sp>
        <p:nvSpPr>
          <p:cNvPr id="2" name="">
            <a:extLst xmlns:a="http://schemas.openxmlformats.org/drawingml/2006/main">
              <a:ext uri="{FF2B5EF4-FFF2-40B4-BE49-F238E27FC236}">
                <a16:creationId xmlns:a16="http://schemas.microsoft.com/office/drawing/2014/main" id="{C00E7605-5DED-46E3-AABA-6629F5E6FB6B}"/>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B5 has 100% from one observed launch</a:t>
            </a:r>
          </a:p>
        </p:txBody>
      </p:sp>
      <p:sp>
        <p:nvSpPr>
          <p:cNvPr id="3" name="">
            <a:extLst xmlns:a="http://schemas.openxmlformats.org/drawingml/2006/main">
              <a:ext uri="{FF2B5EF4-FFF2-40B4-BE49-F238E27FC236}">
                <a16:creationId xmlns:a16="http://schemas.microsoft.com/office/drawing/2014/main" id="{468F6030-E9AD-4B5C-8CC7-3EC9AD6777B0}"/>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FT provides the largest body of positive outcomes in this dashboard snapshot.</a:t>
            </a:r>
          </a:p>
        </p:txBody>
      </p:sp>
      <p:sp>
        <p:nvSpPr>
          <p:cNvPr id="4" name="">
            <a:extLst xmlns:a="http://schemas.openxmlformats.org/drawingml/2006/main">
              <a:ext uri="{FF2B5EF4-FFF2-40B4-BE49-F238E27FC236}">
                <a16:creationId xmlns:a16="http://schemas.microsoft.com/office/drawing/2014/main" id="{ACC7B4BF-58A5-4876-82F7-0E835E0A9E4B}"/>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76b2cb60a5b14d99"/>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D0CAD585-0205-44F2-80D6-ADFA137B5FD1}"/>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2AEE932-62DA-40CA-90CD-6C8CB0DE1D7B}"/>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supplied dashboard screenshots; IBM spacex_launch_dash.csv (n=56).</a:t>
            </a:r>
          </a:p>
        </p:txBody>
      </p:sp>
      <p:sp>
        <p:nvSpPr>
          <p:cNvPr id="7" name="">
            <a:extLst xmlns:a="http://schemas.openxmlformats.org/drawingml/2006/main">
              <a:ext uri="{FF2B5EF4-FFF2-40B4-BE49-F238E27FC236}">
                <a16:creationId xmlns:a16="http://schemas.microsoft.com/office/drawing/2014/main" id="{49F1163F-2EB1-4181-B9D9-1772DBEBCBB5}"/>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30</a:t>
            </a:r>
          </a:p>
        </p:txBody>
      </p:sp>
      <p:graphicFrame>
        <p:nvGraphicFramePr>
          <p:cNvPr id="16" name=""/>
          <p:cNvGraphicFramePr/>
          <p:nvPr/>
        </p:nvGraphicFramePr>
        <p:xfrm>
          <a:off xmlns:a="http://schemas.openxmlformats.org/drawingml/2006/main" x="552450" y="2162175"/>
          <a:ext xmlns:a="http://schemas.openxmlformats.org/drawingml/2006/main" cx="11087100" cy="3419475"/>
        </p:xfrm>
        <a:graphic xmlns:a="http://schemas.openxmlformats.org/drawingml/2006/main">
          <a:graphicData uri="http://schemas.openxmlformats.org/drawingml/2006/table">
            <a:tbl>
              <a:tblPr/>
              <a:tblGrid>
                <a:gridCol w="4191000"/>
                <a:gridCol w="3476625"/>
                <a:gridCol w="3419475"/>
              </a:tblGrid>
              <a:tr h="569913">
                <a:tc>
                  <a:txBody>
                    <a:bodyPr/>
                    <a:lstStyle/>
                    <a:p>
                      <a:r>
                        <a:rPr sz="1875" b="1">
                          <a:solidFill>
                            <a:srgbClr val="FFFFFF"/>
                          </a:solidFill>
                          <a:latin typeface="DejaVu Sans"/>
                          <a:ea typeface="DejaVu Sans"/>
                          <a:cs typeface="DejaVu Sans"/>
                        </a:rPr>
                        <a:t>Booster category</a:t>
                      </a:r>
                    </a:p>
                  </a:txBody>
                  <a:tcPr marL="91440" marR="91440" marT="45720" marB="45720">
                    <a:solidFill>
                      <a:srgbClr val="112B3C"/>
                    </a:solidFill>
                  </a:tcPr>
                </a:tc>
                <a:tc>
                  <a:txBody>
                    <a:bodyPr/>
                    <a:lstStyle/>
                    <a:p>
                      <a:r>
                        <a:rPr sz="1875" b="1">
                          <a:solidFill>
                            <a:srgbClr val="FFFFFF"/>
                          </a:solidFill>
                          <a:latin typeface="DejaVu Sans"/>
                          <a:ea typeface="DejaVu Sans"/>
                          <a:cs typeface="DejaVu Sans"/>
                        </a:rPr>
                        <a:t>Class 1 / total</a:t>
                      </a:r>
                    </a:p>
                  </a:txBody>
                  <a:tcPr marL="91440" marR="91440" marT="45720" marB="45720">
                    <a:solidFill>
                      <a:srgbClr val="112B3C"/>
                    </a:solidFill>
                  </a:tcPr>
                </a:tc>
                <a:tc>
                  <a:txBody>
                    <a:bodyPr/>
                    <a:lstStyle/>
                    <a:p>
                      <a:r>
                        <a:rPr sz="1875" b="1">
                          <a:solidFill>
                            <a:srgbClr val="FFFFFF"/>
                          </a:solidFill>
                          <a:latin typeface="DejaVu Sans"/>
                          <a:ea typeface="DejaVu Sans"/>
                          <a:cs typeface="DejaVu Sans"/>
                        </a:rPr>
                        <a:t>Observed rate</a:t>
                      </a:r>
                    </a:p>
                  </a:txBody>
                  <a:tcPr marL="91440" marR="91440" marT="45720" marB="45720">
                    <a:solidFill>
                      <a:srgbClr val="112B3C"/>
                    </a:solidFill>
                  </a:tcPr>
                </a:tc>
              </a:tr>
              <a:tr h="569913">
                <a:tc>
                  <a:txBody>
                    <a:bodyPr/>
                    <a:lstStyle/>
                    <a:p>
                      <a:r>
                        <a:rPr sz="1875" b="0">
                          <a:solidFill>
                            <a:srgbClr val="112B3C"/>
                          </a:solidFill>
                          <a:latin typeface="DejaVu Sans"/>
                          <a:ea typeface="DejaVu Sans"/>
                          <a:cs typeface="DejaVu Sans"/>
                        </a:rPr>
                        <a:t>v1.0</a:t>
                      </a:r>
                    </a:p>
                  </a:txBody>
                  <a:tcPr marL="91440" marR="91440" marT="45720" marB="45720">
                    <a:solidFill>
                      <a:srgbClr val="FFFFFF"/>
                    </a:solidFill>
                  </a:tcPr>
                </a:tc>
                <a:tc>
                  <a:txBody>
                    <a:bodyPr/>
                    <a:lstStyle/>
                    <a:p>
                      <a:r>
                        <a:rPr sz="1875" b="0">
                          <a:solidFill>
                            <a:srgbClr val="112B3C"/>
                          </a:solidFill>
                          <a:latin typeface="DejaVu Sans"/>
                          <a:ea typeface="DejaVu Sans"/>
                          <a:cs typeface="DejaVu Sans"/>
                        </a:rPr>
                        <a:t>0 / 5</a:t>
                      </a:r>
                    </a:p>
                  </a:txBody>
                  <a:tcPr marL="91440" marR="91440" marT="45720" marB="45720">
                    <a:solidFill>
                      <a:srgbClr val="FFFFFF"/>
                    </a:solidFill>
                  </a:tcPr>
                </a:tc>
                <a:tc>
                  <a:txBody>
                    <a:bodyPr/>
                    <a:lstStyle/>
                    <a:p>
                      <a:r>
                        <a:rPr sz="1875" b="0">
                          <a:solidFill>
                            <a:srgbClr val="112B3C"/>
                          </a:solidFill>
                          <a:latin typeface="DejaVu Sans"/>
                          <a:ea typeface="DejaVu Sans"/>
                          <a:cs typeface="DejaVu Sans"/>
                        </a:rPr>
                        <a:t>0.00%</a:t>
                      </a:r>
                    </a:p>
                  </a:txBody>
                  <a:tcPr marL="91440" marR="91440" marT="45720" marB="45720">
                    <a:solidFill>
                      <a:srgbClr val="FFFFFF"/>
                    </a:solidFill>
                  </a:tcPr>
                </a:tc>
              </a:tr>
              <a:tr h="569913">
                <a:tc>
                  <a:txBody>
                    <a:bodyPr/>
                    <a:lstStyle/>
                    <a:p>
                      <a:r>
                        <a:rPr sz="1875" b="0">
                          <a:solidFill>
                            <a:srgbClr val="112B3C"/>
                          </a:solidFill>
                          <a:latin typeface="DejaVu Sans"/>
                          <a:ea typeface="DejaVu Sans"/>
                          <a:cs typeface="DejaVu Sans"/>
                        </a:rPr>
                        <a:t>v1.1</a:t>
                      </a:r>
                    </a:p>
                  </a:txBody>
                  <a:tcPr marL="91440" marR="91440" marT="45720" marB="45720">
                    <a:solidFill>
                      <a:srgbClr val="F3F6F8"/>
                    </a:solidFill>
                  </a:tcPr>
                </a:tc>
                <a:tc>
                  <a:txBody>
                    <a:bodyPr/>
                    <a:lstStyle/>
                    <a:p>
                      <a:r>
                        <a:rPr sz="1875" b="0">
                          <a:solidFill>
                            <a:srgbClr val="112B3C"/>
                          </a:solidFill>
                          <a:latin typeface="DejaVu Sans"/>
                          <a:ea typeface="DejaVu Sans"/>
                          <a:cs typeface="DejaVu Sans"/>
                        </a:rPr>
                        <a:t>1 / 15</a:t>
                      </a:r>
                    </a:p>
                  </a:txBody>
                  <a:tcPr marL="91440" marR="91440" marT="45720" marB="45720">
                    <a:solidFill>
                      <a:srgbClr val="F3F6F8"/>
                    </a:solidFill>
                  </a:tcPr>
                </a:tc>
                <a:tc>
                  <a:txBody>
                    <a:bodyPr/>
                    <a:lstStyle/>
                    <a:p>
                      <a:r>
                        <a:rPr sz="1875" b="0">
                          <a:solidFill>
                            <a:srgbClr val="112B3C"/>
                          </a:solidFill>
                          <a:latin typeface="DejaVu Sans"/>
                          <a:ea typeface="DejaVu Sans"/>
                          <a:cs typeface="DejaVu Sans"/>
                        </a:rPr>
                        <a:t>6.67%</a:t>
                      </a:r>
                    </a:p>
                  </a:txBody>
                  <a:tcPr marL="91440" marR="91440" marT="45720" marB="45720">
                    <a:solidFill>
                      <a:srgbClr val="F3F6F8"/>
                    </a:solidFill>
                  </a:tcPr>
                </a:tc>
              </a:tr>
              <a:tr h="569913">
                <a:tc>
                  <a:txBody>
                    <a:bodyPr/>
                    <a:lstStyle/>
                    <a:p>
                      <a:r>
                        <a:rPr sz="1875" b="0">
                          <a:solidFill>
                            <a:srgbClr val="112B3C"/>
                          </a:solidFill>
                          <a:latin typeface="DejaVu Sans"/>
                          <a:ea typeface="DejaVu Sans"/>
                          <a:cs typeface="DejaVu Sans"/>
                        </a:rPr>
                        <a:t>FT</a:t>
                      </a:r>
                    </a:p>
                  </a:txBody>
                  <a:tcPr marL="91440" marR="91440" marT="45720" marB="45720">
                    <a:solidFill>
                      <a:srgbClr val="FFFFFF"/>
                    </a:solidFill>
                  </a:tcPr>
                </a:tc>
                <a:tc>
                  <a:txBody>
                    <a:bodyPr/>
                    <a:lstStyle/>
                    <a:p>
                      <a:r>
                        <a:rPr sz="1875" b="0">
                          <a:solidFill>
                            <a:srgbClr val="112B3C"/>
                          </a:solidFill>
                          <a:latin typeface="DejaVu Sans"/>
                          <a:ea typeface="DejaVu Sans"/>
                          <a:cs typeface="DejaVu Sans"/>
                        </a:rPr>
                        <a:t>16 / 24</a:t>
                      </a:r>
                    </a:p>
                  </a:txBody>
                  <a:tcPr marL="91440" marR="91440" marT="45720" marB="45720">
                    <a:solidFill>
                      <a:srgbClr val="FFFFFF"/>
                    </a:solidFill>
                  </a:tcPr>
                </a:tc>
                <a:tc>
                  <a:txBody>
                    <a:bodyPr/>
                    <a:lstStyle/>
                    <a:p>
                      <a:r>
                        <a:rPr sz="1875" b="0">
                          <a:solidFill>
                            <a:srgbClr val="112B3C"/>
                          </a:solidFill>
                          <a:latin typeface="DejaVu Sans"/>
                          <a:ea typeface="DejaVu Sans"/>
                          <a:cs typeface="DejaVu Sans"/>
                        </a:rPr>
                        <a:t>66.67%</a:t>
                      </a:r>
                    </a:p>
                  </a:txBody>
                  <a:tcPr marL="91440" marR="91440" marT="45720" marB="45720">
                    <a:solidFill>
                      <a:srgbClr val="FFFFFF"/>
                    </a:solidFill>
                  </a:tcPr>
                </a:tc>
              </a:tr>
              <a:tr h="569913">
                <a:tc>
                  <a:txBody>
                    <a:bodyPr/>
                    <a:lstStyle/>
                    <a:p>
                      <a:r>
                        <a:rPr sz="1875" b="0">
                          <a:solidFill>
                            <a:srgbClr val="112B3C"/>
                          </a:solidFill>
                          <a:latin typeface="DejaVu Sans"/>
                          <a:ea typeface="DejaVu Sans"/>
                          <a:cs typeface="DejaVu Sans"/>
                        </a:rPr>
                        <a:t>B4</a:t>
                      </a:r>
                    </a:p>
                  </a:txBody>
                  <a:tcPr marL="91440" marR="91440" marT="45720" marB="45720">
                    <a:solidFill>
                      <a:srgbClr val="F3F6F8"/>
                    </a:solidFill>
                  </a:tcPr>
                </a:tc>
                <a:tc>
                  <a:txBody>
                    <a:bodyPr/>
                    <a:lstStyle/>
                    <a:p>
                      <a:r>
                        <a:rPr sz="1875" b="0">
                          <a:solidFill>
                            <a:srgbClr val="112B3C"/>
                          </a:solidFill>
                          <a:latin typeface="DejaVu Sans"/>
                          <a:ea typeface="DejaVu Sans"/>
                          <a:cs typeface="DejaVu Sans"/>
                        </a:rPr>
                        <a:t>6 / 11</a:t>
                      </a:r>
                    </a:p>
                  </a:txBody>
                  <a:tcPr marL="91440" marR="91440" marT="45720" marB="45720">
                    <a:solidFill>
                      <a:srgbClr val="F3F6F8"/>
                    </a:solidFill>
                  </a:tcPr>
                </a:tc>
                <a:tc>
                  <a:txBody>
                    <a:bodyPr/>
                    <a:lstStyle/>
                    <a:p>
                      <a:r>
                        <a:rPr sz="1875" b="0">
                          <a:solidFill>
                            <a:srgbClr val="112B3C"/>
                          </a:solidFill>
                          <a:latin typeface="DejaVu Sans"/>
                          <a:ea typeface="DejaVu Sans"/>
                          <a:cs typeface="DejaVu Sans"/>
                        </a:rPr>
                        <a:t>54.55%</a:t>
                      </a:r>
                    </a:p>
                  </a:txBody>
                  <a:tcPr marL="91440" marR="91440" marT="45720" marB="45720">
                    <a:solidFill>
                      <a:srgbClr val="F3F6F8"/>
                    </a:solidFill>
                  </a:tcPr>
                </a:tc>
              </a:tr>
              <a:tr h="569913">
                <a:tc>
                  <a:txBody>
                    <a:bodyPr/>
                    <a:lstStyle/>
                    <a:p>
                      <a:r>
                        <a:rPr sz="1875" b="0">
                          <a:solidFill>
                            <a:srgbClr val="112B3C"/>
                          </a:solidFill>
                          <a:latin typeface="DejaVu Sans"/>
                          <a:ea typeface="DejaVu Sans"/>
                          <a:cs typeface="DejaVu Sans"/>
                        </a:rPr>
                        <a:t>B5</a:t>
                      </a:r>
                    </a:p>
                  </a:txBody>
                  <a:tcPr marL="91440" marR="91440" marT="45720" marB="45720">
                    <a:solidFill>
                      <a:srgbClr val="FFFFFF"/>
                    </a:solidFill>
                  </a:tcPr>
                </a:tc>
                <a:tc>
                  <a:txBody>
                    <a:bodyPr/>
                    <a:lstStyle/>
                    <a:p>
                      <a:r>
                        <a:rPr sz="1875" b="0">
                          <a:solidFill>
                            <a:srgbClr val="112B3C"/>
                          </a:solidFill>
                          <a:latin typeface="DejaVu Sans"/>
                          <a:ea typeface="DejaVu Sans"/>
                          <a:cs typeface="DejaVu Sans"/>
                        </a:rPr>
                        <a:t>1 / 1</a:t>
                      </a:r>
                    </a:p>
                  </a:txBody>
                  <a:tcPr marL="91440" marR="91440" marT="45720" marB="45720">
                    <a:solidFill>
                      <a:srgbClr val="FFFFFF"/>
                    </a:solidFill>
                  </a:tcPr>
                </a:tc>
                <a:tc>
                  <a:txBody>
                    <a:bodyPr/>
                    <a:lstStyle/>
                    <a:p>
                      <a:r>
                        <a:rPr sz="1875" b="0">
                          <a:solidFill>
                            <a:srgbClr val="112B3C"/>
                          </a:solidFill>
                          <a:latin typeface="DejaVu Sans"/>
                          <a:ea typeface="DejaVu Sans"/>
                          <a:cs typeface="DejaVu Sans"/>
                        </a:rPr>
                        <a:t>100.00%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7515818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0173707-B0FA-4F32-97BE-AAFD40285CD0}"/>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METHODOLOGY / PREDICTION</a:t>
            </a:r>
          </a:p>
        </p:txBody>
      </p:sp>
      <p:sp>
        <p:nvSpPr>
          <p:cNvPr id="2" name="">
            <a:extLst xmlns:a="http://schemas.openxmlformats.org/drawingml/2006/main">
              <a:ext uri="{FF2B5EF4-FFF2-40B4-BE49-F238E27FC236}">
                <a16:creationId xmlns:a16="http://schemas.microsoft.com/office/drawing/2014/main" id="{3FF670DB-587C-462B-A617-AF5A2B20A6A2}"/>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Tune four classifiers on an 80/20 split</a:t>
            </a:r>
          </a:p>
        </p:txBody>
      </p:sp>
      <p:sp>
        <p:nvSpPr>
          <p:cNvPr id="3" name="">
            <a:extLst xmlns:a="http://schemas.openxmlformats.org/drawingml/2006/main">
              <a:ext uri="{FF2B5EF4-FFF2-40B4-BE49-F238E27FC236}">
                <a16:creationId xmlns:a16="http://schemas.microsoft.com/office/drawing/2014/main" id="{1BA13D94-B9AF-4527-86FA-E52761F87BAB}"/>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90 labels • 83 encoded input features • 72 train records • 18 test records</a:t>
            </a:r>
          </a:p>
        </p:txBody>
      </p:sp>
      <p:sp>
        <p:nvSpPr>
          <p:cNvPr id="4" name="">
            <a:extLst xmlns:a="http://schemas.openxmlformats.org/drawingml/2006/main">
              <a:ext uri="{FF2B5EF4-FFF2-40B4-BE49-F238E27FC236}">
                <a16:creationId xmlns:a16="http://schemas.microsoft.com/office/drawing/2014/main" id="{398F99EA-0B8A-49A5-8B07-C990844091B2}"/>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765fdbf08c424e5a"/>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CA07D3B6-07A2-4375-B022-1427770F305C}"/>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A4570D4-0398-4C4B-B9C1-8EABFFB5E16B}"/>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saved outputs in supplied SpaceX_Machine Learning Prediction_Part_5 (2)(2).ipynb.</a:t>
            </a:r>
          </a:p>
        </p:txBody>
      </p:sp>
      <p:sp>
        <p:nvSpPr>
          <p:cNvPr id="7" name="">
            <a:extLst xmlns:a="http://schemas.openxmlformats.org/drawingml/2006/main">
              <a:ext uri="{FF2B5EF4-FFF2-40B4-BE49-F238E27FC236}">
                <a16:creationId xmlns:a16="http://schemas.microsoft.com/office/drawing/2014/main" id="{D6E5F741-D11B-4598-A9DF-A6BD012CAAFC}"/>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31</a:t>
            </a:r>
          </a:p>
        </p:txBody>
      </p:sp>
      <p:sp>
        <p:nvSpPr>
          <p:cNvPr id="8" name="">
            <a:extLst xmlns:a="http://schemas.openxmlformats.org/drawingml/2006/main">
              <a:ext uri="{FF2B5EF4-FFF2-40B4-BE49-F238E27FC236}">
                <a16:creationId xmlns:a16="http://schemas.microsoft.com/office/drawing/2014/main" id="{7818B101-D3A4-4B3F-998E-936B4F2D7A07}"/>
              </a:ext>
            </a:extLst>
          </p:cNvPr>
          <p:cNvSpPr>
            <a:spLocks xmlns:a="http://schemas.openxmlformats.org/drawingml/2006/main" noGrp="1"/>
          </p:cNvSpPr>
          <p:nvPr/>
        </p:nvSpPr>
        <p:spPr>
          <a:xfrm xmlns:a="http://schemas.openxmlformats.org/drawingml/2006/main">
            <a:off x="552450" y="22002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D16635"/>
                </a:solidFill>
                <a:latin typeface="DejaVu Sans"/>
                <a:ea typeface="DejaVu Sans"/>
                <a:cs typeface="DejaVu Sans"/>
              </a:defRPr>
            </a:pPr>
            <a:r>
              <a:rPr sz="1875" b="1">
                <a:solidFill>
                  <a:srgbClr val="D16635"/>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F93DF763-A540-4A89-958F-6EA1A510FE9E}"/>
              </a:ext>
            </a:extLst>
          </p:cNvPr>
          <p:cNvSpPr>
            <a:spLocks xmlns:a="http://schemas.openxmlformats.org/drawingml/2006/main" noGrp="1"/>
          </p:cNvSpPr>
          <p:nvPr/>
        </p:nvSpPr>
        <p:spPr>
          <a:xfrm xmlns:a="http://schemas.openxmlformats.org/drawingml/2006/main">
            <a:off x="1276350" y="2200275"/>
            <a:ext cx="10229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12B3C"/>
                </a:solidFill>
                <a:latin typeface="DejaVu Sans"/>
                <a:ea typeface="DejaVu Sans"/>
                <a:cs typeface="DejaVu Sans"/>
              </a:defRPr>
            </a:pPr>
            <a:r>
              <a:rPr sz="1875" b="0">
                <a:solidFill>
                  <a:srgbClr val="112B3C"/>
                </a:solidFill>
                <a:latin typeface="DejaVu Sans"/>
                <a:ea typeface="DejaVu Sans"/>
                <a:cs typeface="DejaVu Sans"/>
              </a:rPr>
              <a:t>One-hot encode categorical inputs and convert the design matrix to float.</a:t>
            </a:r>
          </a:p>
        </p:txBody>
      </p:sp>
      <p:sp>
        <p:nvSpPr>
          <p:cNvPr id="10" name="">
            <a:extLst xmlns:a="http://schemas.openxmlformats.org/drawingml/2006/main">
              <a:ext uri="{FF2B5EF4-FFF2-40B4-BE49-F238E27FC236}">
                <a16:creationId xmlns:a16="http://schemas.microsoft.com/office/drawing/2014/main" id="{034FDCB9-A661-4480-A69E-BD42EF2D12BA}"/>
              </a:ext>
            </a:extLst>
          </p:cNvPr>
          <p:cNvSpPr>
            <a:spLocks xmlns:a="http://schemas.openxmlformats.org/drawingml/2006/main" noGrp="1"/>
          </p:cNvSpPr>
          <p:nvPr/>
        </p:nvSpPr>
        <p:spPr>
          <a:xfrm xmlns:a="http://schemas.openxmlformats.org/drawingml/2006/main">
            <a:off x="552450" y="29622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D16635"/>
                </a:solidFill>
                <a:latin typeface="DejaVu Sans"/>
                <a:ea typeface="DejaVu Sans"/>
                <a:cs typeface="DejaVu Sans"/>
              </a:defRPr>
            </a:pPr>
            <a:r>
              <a:rPr sz="1875" b="1">
                <a:solidFill>
                  <a:srgbClr val="D16635"/>
                </a:solidFill>
                <a:latin typeface="DejaVu Sans"/>
                <a:ea typeface="DejaVu Sans"/>
                <a:cs typeface="DejaVu Sans"/>
              </a:rPr>
              <a:t>02</a:t>
            </a:r>
          </a:p>
        </p:txBody>
      </p:sp>
      <p:sp>
        <p:nvSpPr>
          <p:cNvPr id="11" name="">
            <a:extLst xmlns:a="http://schemas.openxmlformats.org/drawingml/2006/main">
              <a:ext uri="{FF2B5EF4-FFF2-40B4-BE49-F238E27FC236}">
                <a16:creationId xmlns:a16="http://schemas.microsoft.com/office/drawing/2014/main" id="{56FAC8F3-982B-4F6E-AD8E-B08E0D859905}"/>
              </a:ext>
            </a:extLst>
          </p:cNvPr>
          <p:cNvSpPr>
            <a:spLocks xmlns:a="http://schemas.openxmlformats.org/drawingml/2006/main" noGrp="1"/>
          </p:cNvSpPr>
          <p:nvPr/>
        </p:nvSpPr>
        <p:spPr>
          <a:xfrm xmlns:a="http://schemas.openxmlformats.org/drawingml/2006/main">
            <a:off x="1276350" y="2962275"/>
            <a:ext cx="10229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12B3C"/>
                </a:solidFill>
                <a:latin typeface="DejaVu Sans"/>
                <a:ea typeface="DejaVu Sans"/>
                <a:cs typeface="DejaVu Sans"/>
              </a:defRPr>
            </a:pPr>
            <a:r>
              <a:rPr sz="1875" b="0">
                <a:solidFill>
                  <a:srgbClr val="112B3C"/>
                </a:solidFill>
                <a:latin typeface="DejaVu Sans"/>
                <a:ea typeface="DejaVu Sans"/>
                <a:cs typeface="DejaVu Sans"/>
              </a:rPr>
              <a:t>Standardize X; split with test_size=0.2 and random_state=2.</a:t>
            </a:r>
          </a:p>
        </p:txBody>
      </p:sp>
      <p:sp>
        <p:nvSpPr>
          <p:cNvPr id="12" name="">
            <a:extLst xmlns:a="http://schemas.openxmlformats.org/drawingml/2006/main">
              <a:ext uri="{FF2B5EF4-FFF2-40B4-BE49-F238E27FC236}">
                <a16:creationId xmlns:a16="http://schemas.microsoft.com/office/drawing/2014/main" id="{FC255521-B65D-496B-98DD-7F34157894EB}"/>
              </a:ext>
            </a:extLst>
          </p:cNvPr>
          <p:cNvSpPr>
            <a:spLocks xmlns:a="http://schemas.openxmlformats.org/drawingml/2006/main" noGrp="1"/>
          </p:cNvSpPr>
          <p:nvPr/>
        </p:nvSpPr>
        <p:spPr>
          <a:xfrm xmlns:a="http://schemas.openxmlformats.org/drawingml/2006/main">
            <a:off x="552450" y="37242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D16635"/>
                </a:solidFill>
                <a:latin typeface="DejaVu Sans"/>
                <a:ea typeface="DejaVu Sans"/>
                <a:cs typeface="DejaVu Sans"/>
              </a:defRPr>
            </a:pPr>
            <a:r>
              <a:rPr sz="1875" b="1">
                <a:solidFill>
                  <a:srgbClr val="D16635"/>
                </a:solidFill>
                <a:latin typeface="DejaVu Sans"/>
                <a:ea typeface="DejaVu Sans"/>
                <a:cs typeface="DejaVu Sans"/>
              </a:rPr>
              <a:t>03</a:t>
            </a:r>
          </a:p>
        </p:txBody>
      </p:sp>
      <p:sp>
        <p:nvSpPr>
          <p:cNvPr id="13" name="">
            <a:extLst xmlns:a="http://schemas.openxmlformats.org/drawingml/2006/main">
              <a:ext uri="{FF2B5EF4-FFF2-40B4-BE49-F238E27FC236}">
                <a16:creationId xmlns:a16="http://schemas.microsoft.com/office/drawing/2014/main" id="{782CF7A4-E301-4825-B9D6-45A16BA692EA}"/>
              </a:ext>
            </a:extLst>
          </p:cNvPr>
          <p:cNvSpPr>
            <a:spLocks xmlns:a="http://schemas.openxmlformats.org/drawingml/2006/main" noGrp="1"/>
          </p:cNvSpPr>
          <p:nvPr/>
        </p:nvSpPr>
        <p:spPr>
          <a:xfrm xmlns:a="http://schemas.openxmlformats.org/drawingml/2006/main">
            <a:off x="1276350" y="3724275"/>
            <a:ext cx="10229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12B3C"/>
                </a:solidFill>
                <a:latin typeface="DejaVu Sans"/>
                <a:ea typeface="DejaVu Sans"/>
                <a:cs typeface="DejaVu Sans"/>
              </a:defRPr>
            </a:pPr>
            <a:r>
              <a:rPr sz="1875" b="0">
                <a:solidFill>
                  <a:srgbClr val="112B3C"/>
                </a:solidFill>
                <a:latin typeface="DejaVu Sans"/>
                <a:ea typeface="DejaVu Sans"/>
                <a:cs typeface="DejaVu Sans"/>
              </a:rPr>
              <a:t>Use GridSearchCV with 10-fold cross-validation for each model.</a:t>
            </a:r>
          </a:p>
        </p:txBody>
      </p:sp>
      <p:sp>
        <p:nvSpPr>
          <p:cNvPr id="14" name="">
            <a:extLst xmlns:a="http://schemas.openxmlformats.org/drawingml/2006/main">
              <a:ext uri="{FF2B5EF4-FFF2-40B4-BE49-F238E27FC236}">
                <a16:creationId xmlns:a16="http://schemas.microsoft.com/office/drawing/2014/main" id="{97B559F0-E14A-48A6-8A06-F3531B4B94F6}"/>
              </a:ext>
            </a:extLst>
          </p:cNvPr>
          <p:cNvSpPr>
            <a:spLocks xmlns:a="http://schemas.openxmlformats.org/drawingml/2006/main" noGrp="1"/>
          </p:cNvSpPr>
          <p:nvPr/>
        </p:nvSpPr>
        <p:spPr>
          <a:xfrm xmlns:a="http://schemas.openxmlformats.org/drawingml/2006/main">
            <a:off x="552450" y="44862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D16635"/>
                </a:solidFill>
                <a:latin typeface="DejaVu Sans"/>
                <a:ea typeface="DejaVu Sans"/>
                <a:cs typeface="DejaVu Sans"/>
              </a:defRPr>
            </a:pPr>
            <a:r>
              <a:rPr sz="1875" b="1">
                <a:solidFill>
                  <a:srgbClr val="D16635"/>
                </a:solidFill>
                <a:latin typeface="DejaVu Sans"/>
                <a:ea typeface="DejaVu Sans"/>
                <a:cs typeface="DejaVu Sans"/>
              </a:rPr>
              <a:t>04</a:t>
            </a:r>
          </a:p>
        </p:txBody>
      </p:sp>
      <p:sp>
        <p:nvSpPr>
          <p:cNvPr id="15" name="">
            <a:extLst xmlns:a="http://schemas.openxmlformats.org/drawingml/2006/main">
              <a:ext uri="{FF2B5EF4-FFF2-40B4-BE49-F238E27FC236}">
                <a16:creationId xmlns:a16="http://schemas.microsoft.com/office/drawing/2014/main" id="{2773606C-C730-4175-8BE0-4FE4239FC339}"/>
              </a:ext>
            </a:extLst>
          </p:cNvPr>
          <p:cNvSpPr>
            <a:spLocks xmlns:a="http://schemas.openxmlformats.org/drawingml/2006/main" noGrp="1"/>
          </p:cNvSpPr>
          <p:nvPr/>
        </p:nvSpPr>
        <p:spPr>
          <a:xfrm xmlns:a="http://schemas.openxmlformats.org/drawingml/2006/main">
            <a:off x="1276350" y="4486275"/>
            <a:ext cx="10229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12B3C"/>
                </a:solidFill>
                <a:latin typeface="DejaVu Sans"/>
                <a:ea typeface="DejaVu Sans"/>
                <a:cs typeface="DejaVu Sans"/>
              </a:defRPr>
            </a:pPr>
            <a:r>
              <a:rPr sz="1875" b="0">
                <a:solidFill>
                  <a:srgbClr val="112B3C"/>
                </a:solidFill>
                <a:latin typeface="DejaVu Sans"/>
                <a:ea typeface="DejaVu Sans"/>
                <a:cs typeface="DejaVu Sans"/>
              </a:rPr>
              <a:t>Evaluate the selected estimator on test accuracy and a confusion matrix.</a:t>
            </a:r>
          </a:p>
        </p:txBody>
      </p:sp>
      <p:sp>
        <p:nvSpPr>
          <p:cNvPr id="16" name="">
            <a:extLst xmlns:a="http://schemas.openxmlformats.org/drawingml/2006/main">
              <a:ext uri="{FF2B5EF4-FFF2-40B4-BE49-F238E27FC236}">
                <a16:creationId xmlns:a16="http://schemas.microsoft.com/office/drawing/2014/main" id="{CBBF5151-DE47-44B2-8C17-D602F84FC15B}"/>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3E7024E-BDC2-4FA0-A65D-F7486BAA48F0}"/>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Lab limitation: the scaler is fitted before the split. Future work must fit it inside training folds.</a:t>
            </a:r>
          </a:p>
        </p:txBody>
      </p:sp>
    </p:spTree>
    <p:extLst>
      <p:ext uri="{BB962C8B-B14F-4D97-AF65-F5344CB8AC3E}">
        <p14:creationId xmlns:p14="http://schemas.microsoft.com/office/powerpoint/2010/main" val="135944440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2B0D06-3355-4004-83AC-227621E923B6}"/>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CLASSIFICATION</a:t>
            </a:r>
          </a:p>
        </p:txBody>
      </p:sp>
      <p:sp>
        <p:nvSpPr>
          <p:cNvPr id="2" name="">
            <a:extLst xmlns:a="http://schemas.openxmlformats.org/drawingml/2006/main">
              <a:ext uri="{FF2B5EF4-FFF2-40B4-BE49-F238E27FC236}">
                <a16:creationId xmlns:a16="http://schemas.microsoft.com/office/drawing/2014/main" id="{D248D555-CA82-4355-BAAD-27F8E23BA847}"/>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Three models tie at 83.33% test accuracy</a:t>
            </a:r>
          </a:p>
        </p:txBody>
      </p:sp>
      <p:sp>
        <p:nvSpPr>
          <p:cNvPr id="3" name="">
            <a:extLst xmlns:a="http://schemas.openxmlformats.org/drawingml/2006/main">
              <a:ext uri="{FF2B5EF4-FFF2-40B4-BE49-F238E27FC236}">
                <a16:creationId xmlns:a16="http://schemas.microsoft.com/office/drawing/2014/main" id="{73FFD32B-FD43-4626-ACD6-1D943410884E}"/>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The tree wins cross-validation, but has the lowest saved test score.</a:t>
            </a:r>
          </a:p>
        </p:txBody>
      </p:sp>
      <p:sp>
        <p:nvSpPr>
          <p:cNvPr id="4" name="">
            <a:extLst xmlns:a="http://schemas.openxmlformats.org/drawingml/2006/main">
              <a:ext uri="{FF2B5EF4-FFF2-40B4-BE49-F238E27FC236}">
                <a16:creationId xmlns:a16="http://schemas.microsoft.com/office/drawing/2014/main" id="{7B381C73-1FF5-40F1-A86A-21907E0E913B}"/>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f4014fdeaaea474a"/>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6099FE8A-1511-4A81-9154-BE9444A74A1C}"/>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396CED-7F5F-43A5-AA74-92E8CAEDDFB1}"/>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saved outputs in supplied SpaceX_Machine Learning Prediction_Part_5 (2)(2).ipynb.</a:t>
            </a:r>
          </a:p>
        </p:txBody>
      </p:sp>
      <p:sp>
        <p:nvSpPr>
          <p:cNvPr id="7" name="">
            <a:extLst xmlns:a="http://schemas.openxmlformats.org/drawingml/2006/main">
              <a:ext uri="{FF2B5EF4-FFF2-40B4-BE49-F238E27FC236}">
                <a16:creationId xmlns:a16="http://schemas.microsoft.com/office/drawing/2014/main" id="{1197ADD5-C940-43B7-A56A-CDE19F2E3C05}"/>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32</a:t>
            </a:r>
          </a:p>
        </p:txBody>
      </p:sp>
      <p:graphicFrame>
        <p:nvGraphicFramePr>
          <p:cNvPr id="18" name="Chart"/>
          <p:cNvGraphicFramePr/>
          <p:nvPr/>
        </p:nvGraphicFramePr>
        <p:xfrm>
          <a:off xmlns:a="http://schemas.openxmlformats.org/drawingml/2006/main" x="552450" y="2133600"/>
          <a:ext xmlns:a="http://schemas.openxmlformats.org/drawingml/2006/main" cx="11087100" cy="3381375"/>
        </p:xfrm>
        <a:graphic xmlns:a="http://schemas.openxmlformats.org/drawingml/2006/main">
          <a:graphicData uri="http://schemas.openxmlformats.org/drawingml/2006/chart">
            <c:chart xmlns:r="http://schemas.openxmlformats.org/officeDocument/2006/relationships" xmlns:c="http://schemas.openxmlformats.org/drawingml/2006/chart" r:id="R01a94f8dfa0149d1"/>
          </a:graphicData>
        </a:graphic>
      </p:graphicFrame>
      <p:sp>
        <p:nvSpPr>
          <p:cNvPr id="9" name="">
            <a:extLst xmlns:a="http://schemas.openxmlformats.org/drawingml/2006/main">
              <a:ext uri="{FF2B5EF4-FFF2-40B4-BE49-F238E27FC236}">
                <a16:creationId xmlns:a16="http://schemas.microsoft.com/office/drawing/2014/main" id="{BA4DA0EF-99FB-4254-AFEA-2905F5B3729C}"/>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1F30AAD-5B4E-44B2-AD35-A6F333ED885A}"/>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Test baseline: 66.67% (always predict Class 1). One test record changes accuracy by 5.56 points.</a:t>
            </a:r>
          </a:p>
        </p:txBody>
      </p:sp>
    </p:spTree>
    <p:extLst>
      <p:ext uri="{BB962C8B-B14F-4D97-AF65-F5344CB8AC3E}">
        <p14:creationId xmlns:p14="http://schemas.microsoft.com/office/powerpoint/2010/main" val="169194611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A83AE5-73B0-42B6-A977-2EAD98EBEC2C}"/>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CLASSIFICATION</a:t>
            </a:r>
          </a:p>
        </p:txBody>
      </p:sp>
      <p:sp>
        <p:nvSpPr>
          <p:cNvPr id="2" name="">
            <a:extLst xmlns:a="http://schemas.openxmlformats.org/drawingml/2006/main">
              <a:ext uri="{FF2B5EF4-FFF2-40B4-BE49-F238E27FC236}">
                <a16:creationId xmlns:a16="http://schemas.microsoft.com/office/drawing/2014/main" id="{149D9557-6532-4E5A-9CB4-8CAEBFD41B41}"/>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Best hyperparameters from the saved grid searches</a:t>
            </a:r>
          </a:p>
        </p:txBody>
      </p:sp>
      <p:sp>
        <p:nvSpPr>
          <p:cNvPr id="3" name="">
            <a:extLst xmlns:a="http://schemas.openxmlformats.org/drawingml/2006/main">
              <a:ext uri="{FF2B5EF4-FFF2-40B4-BE49-F238E27FC236}">
                <a16:creationId xmlns:a16="http://schemas.microsoft.com/office/drawing/2014/main" id="{C6299B22-5BE0-42DE-8CA9-1C924EA21FC4}"/>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These settings describe the submitted laboratory run.</a:t>
            </a:r>
          </a:p>
        </p:txBody>
      </p:sp>
      <p:sp>
        <p:nvSpPr>
          <p:cNvPr id="4" name="">
            <a:extLst xmlns:a="http://schemas.openxmlformats.org/drawingml/2006/main">
              <a:ext uri="{FF2B5EF4-FFF2-40B4-BE49-F238E27FC236}">
                <a16:creationId xmlns:a16="http://schemas.microsoft.com/office/drawing/2014/main" id="{4498F4D9-B93B-4102-B652-60DB9A466C34}"/>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af54fe52de044e9a"/>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313A041A-45DC-4374-A465-D83FA87D8AAE}"/>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984062F-D273-4D7D-8D61-6C94DEF567BE}"/>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saved outputs in supplied SpaceX_Machine Learning Prediction_Part_5 (2)(2).ipynb.</a:t>
            </a:r>
          </a:p>
        </p:txBody>
      </p:sp>
      <p:sp>
        <p:nvSpPr>
          <p:cNvPr id="7" name="">
            <a:extLst xmlns:a="http://schemas.openxmlformats.org/drawingml/2006/main">
              <a:ext uri="{FF2B5EF4-FFF2-40B4-BE49-F238E27FC236}">
                <a16:creationId xmlns:a16="http://schemas.microsoft.com/office/drawing/2014/main" id="{4FCF2761-6D9C-405A-A0AA-1D2E32DB6BDA}"/>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33</a:t>
            </a:r>
          </a:p>
        </p:txBody>
      </p:sp>
      <p:graphicFrame>
        <p:nvGraphicFramePr>
          <p:cNvPr id="16" name=""/>
          <p:cNvGraphicFramePr/>
          <p:nvPr/>
        </p:nvGraphicFramePr>
        <p:xfrm>
          <a:off xmlns:a="http://schemas.openxmlformats.org/drawingml/2006/main" x="552450" y="2209800"/>
          <a:ext xmlns:a="http://schemas.openxmlformats.org/drawingml/2006/main" cx="11087100" cy="3333750"/>
        </p:xfrm>
        <a:graphic xmlns:a="http://schemas.openxmlformats.org/drawingml/2006/main">
          <a:graphicData uri="http://schemas.openxmlformats.org/drawingml/2006/table">
            <a:tbl>
              <a:tblPr/>
              <a:tblGrid>
                <a:gridCol w="2762250"/>
                <a:gridCol w="8324850"/>
              </a:tblGrid>
              <a:tr h="666750">
                <a:tc>
                  <a:txBody>
                    <a:bodyPr/>
                    <a:lstStyle/>
                    <a:p>
                      <a:r>
                        <a:rPr sz="1650" b="1">
                          <a:solidFill>
                            <a:srgbClr val="FFFFFF"/>
                          </a:solidFill>
                          <a:latin typeface="DejaVu Sans"/>
                          <a:ea typeface="DejaVu Sans"/>
                          <a:cs typeface="DejaVu Sans"/>
                        </a:rPr>
                        <a:t>Model</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Selected hyperparameters</a:t>
                      </a:r>
                    </a:p>
                  </a:txBody>
                  <a:tcPr marL="91440" marR="91440" marT="45720" marB="45720">
                    <a:solidFill>
                      <a:srgbClr val="112B3C"/>
                    </a:solidFill>
                  </a:tcPr>
                </a:tc>
              </a:tr>
              <a:tr h="666750">
                <a:tc>
                  <a:txBody>
                    <a:bodyPr/>
                    <a:lstStyle/>
                    <a:p>
                      <a:r>
                        <a:rPr sz="1650" b="0">
                          <a:solidFill>
                            <a:srgbClr val="112B3C"/>
                          </a:solidFill>
                          <a:latin typeface="DejaVu Sans"/>
                          <a:ea typeface="DejaVu Sans"/>
                          <a:cs typeface="DejaVu Sans"/>
                        </a:rPr>
                        <a:t>Logistic regression</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C=0.01; penalty=l2; solver=lbfgs</a:t>
                      </a:r>
                    </a:p>
                  </a:txBody>
                  <a:tcPr marL="91440" marR="91440" marT="45720" marB="45720">
                    <a:solidFill>
                      <a:srgbClr val="FFFFFF"/>
                    </a:solidFill>
                  </a:tcPr>
                </a:tc>
              </a:tr>
              <a:tr h="666750">
                <a:tc>
                  <a:txBody>
                    <a:bodyPr/>
                    <a:lstStyle/>
                    <a:p>
                      <a:r>
                        <a:rPr sz="1650" b="0">
                          <a:solidFill>
                            <a:srgbClr val="112B3C"/>
                          </a:solidFill>
                          <a:latin typeface="DejaVu Sans"/>
                          <a:ea typeface="DejaVu Sans"/>
                          <a:cs typeface="DejaVu Sans"/>
                        </a:rPr>
                        <a:t>SVM</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kernel=sigmoid; C=1; gamma≈0.03162</a:t>
                      </a:r>
                    </a:p>
                  </a:txBody>
                  <a:tcPr marL="91440" marR="91440" marT="45720" marB="45720">
                    <a:solidFill>
                      <a:srgbClr val="F3F6F8"/>
                    </a:solidFill>
                  </a:tcPr>
                </a:tc>
              </a:tr>
              <a:tr h="666750">
                <a:tc>
                  <a:txBody>
                    <a:bodyPr/>
                    <a:lstStyle/>
                    <a:p>
                      <a:r>
                        <a:rPr sz="1650" b="0">
                          <a:solidFill>
                            <a:srgbClr val="112B3C"/>
                          </a:solidFill>
                          <a:latin typeface="DejaVu Sans"/>
                          <a:ea typeface="DejaVu Sans"/>
                          <a:cs typeface="DejaVu Sans"/>
                        </a:rPr>
                        <a:t>Decision tree</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criterion=gini; max_depth=6; max_features=sqrt</a:t>
                      </a:r>
                    </a:p>
                    <a:p>
                      <a:r>
                        <a:rPr sz="1650" b="0">
                          <a:solidFill>
                            <a:srgbClr val="112B3C"/>
                          </a:solidFill>
                          <a:latin typeface="DejaVu Sans"/>
                          <a:ea typeface="DejaVu Sans"/>
                          <a:cs typeface="DejaVu Sans"/>
                        </a:rPr>
                        <a:t>min_samples_leaf=4; min_samples_split=10; splitter=random</a:t>
                      </a:r>
                    </a:p>
                  </a:txBody>
                  <a:tcPr marL="91440" marR="91440" marT="45720" marB="45720">
                    <a:solidFill>
                      <a:srgbClr val="FFFFFF"/>
                    </a:solidFill>
                  </a:tcPr>
                </a:tc>
              </a:tr>
              <a:tr h="666750">
                <a:tc>
                  <a:txBody>
                    <a:bodyPr/>
                    <a:lstStyle/>
                    <a:p>
                      <a:r>
                        <a:rPr sz="1650" b="0">
                          <a:solidFill>
                            <a:srgbClr val="112B3C"/>
                          </a:solidFill>
                          <a:latin typeface="DejaVu Sans"/>
                          <a:ea typeface="DejaVu Sans"/>
                          <a:cs typeface="DejaVu Sans"/>
                        </a:rPr>
                        <a:t>KNN</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n_neighbors=10; p=1 (Manhattan); algorithm=auto</a:t>
                      </a:r>
                    </a:p>
                  </a:txBody>
                  <a:tcPr marL="91440" marR="91440" marT="45720" marB="45720">
                    <a:solidFill>
                      <a:srgbClr val="F3F6F8"/>
                    </a:solidFill>
                  </a:tcPr>
                </a:tc>
              </a:tr>
            </a:tbl>
          </a:graphicData>
        </a:graphic>
      </p:graphicFrame>
    </p:spTree>
    <p:extLst>
      <p:ext uri="{BB962C8B-B14F-4D97-AF65-F5344CB8AC3E}">
        <p14:creationId xmlns:p14="http://schemas.microsoft.com/office/powerpoint/2010/main" val="159621397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B960DF-641B-4898-822F-94507FF0CBCC}"/>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RESULTS / CLASSIFICATION</a:t>
            </a:r>
          </a:p>
        </p:txBody>
      </p:sp>
      <p:sp>
        <p:nvSpPr>
          <p:cNvPr id="2" name="">
            <a:extLst xmlns:a="http://schemas.openxmlformats.org/drawingml/2006/main">
              <a:ext uri="{FF2B5EF4-FFF2-40B4-BE49-F238E27FC236}">
                <a16:creationId xmlns:a16="http://schemas.microsoft.com/office/drawing/2014/main" id="{B7FC4689-DBBE-4F72-86A6-64262004B6C2}"/>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Errors are optimistic predictions of Class 1</a:t>
            </a:r>
          </a:p>
        </p:txBody>
      </p:sp>
      <p:sp>
        <p:nvSpPr>
          <p:cNvPr id="3" name="">
            <a:extLst xmlns:a="http://schemas.openxmlformats.org/drawingml/2006/main">
              <a:ext uri="{FF2B5EF4-FFF2-40B4-BE49-F238E27FC236}">
                <a16:creationId xmlns:a16="http://schemas.microsoft.com/office/drawing/2014/main" id="{F2BBCFAE-5DF8-499E-A432-1EFF017B619F}"/>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Rows are actual classes; columns are predicted classes.</a:t>
            </a:r>
          </a:p>
        </p:txBody>
      </p:sp>
      <p:sp>
        <p:nvSpPr>
          <p:cNvPr id="4" name="">
            <a:extLst xmlns:a="http://schemas.openxmlformats.org/drawingml/2006/main">
              <a:ext uri="{FF2B5EF4-FFF2-40B4-BE49-F238E27FC236}">
                <a16:creationId xmlns:a16="http://schemas.microsoft.com/office/drawing/2014/main" id="{BAFD7717-EE6A-4522-85F4-EEBF62D549E2}"/>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8a8c0338187d45de"/>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D5F4F9BA-9C53-4404-A99F-5532643FAACA}"/>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0ACF86D-11EE-437C-A66D-10FE41E25BEC}"/>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saved outputs in supplied SpaceX_Machine Learning Prediction_Part_5 (2)(2).ipynb.</a:t>
            </a:r>
          </a:p>
        </p:txBody>
      </p:sp>
      <p:sp>
        <p:nvSpPr>
          <p:cNvPr id="7" name="">
            <a:extLst xmlns:a="http://schemas.openxmlformats.org/drawingml/2006/main">
              <a:ext uri="{FF2B5EF4-FFF2-40B4-BE49-F238E27FC236}">
                <a16:creationId xmlns:a16="http://schemas.microsoft.com/office/drawing/2014/main" id="{AA6AEDF3-6EF2-4266-930F-0BEC196E6DA7}"/>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34</a:t>
            </a:r>
          </a:p>
        </p:txBody>
      </p:sp>
      <p:sp>
        <p:nvSpPr>
          <p:cNvPr id="8" name="">
            <a:extLst xmlns:a="http://schemas.openxmlformats.org/drawingml/2006/main">
              <a:ext uri="{FF2B5EF4-FFF2-40B4-BE49-F238E27FC236}">
                <a16:creationId xmlns:a16="http://schemas.microsoft.com/office/drawing/2014/main" id="{3A28EEB8-37F5-4C1B-A485-6909F88B3C0D}"/>
              </a:ext>
            </a:extLst>
          </p:cNvPr>
          <p:cNvSpPr>
            <a:spLocks xmlns:a="http://schemas.openxmlformats.org/drawingml/2006/main" noGrp="1"/>
          </p:cNvSpPr>
          <p:nvPr/>
        </p:nvSpPr>
        <p:spPr>
          <a:xfrm xmlns:a="http://schemas.openxmlformats.org/drawingml/2006/main">
            <a:off x="552450" y="2228850"/>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24678A"/>
                </a:solidFill>
                <a:latin typeface="DejaVu Sans"/>
                <a:ea typeface="DejaVu Sans"/>
                <a:cs typeface="DejaVu Sans"/>
              </a:defRPr>
            </a:pPr>
            <a:r>
              <a:rPr sz="2025" b="1">
                <a:solidFill>
                  <a:srgbClr val="24678A"/>
                </a:solidFill>
                <a:latin typeface="DejaVu Sans"/>
                <a:ea typeface="DejaVu Sans"/>
                <a:cs typeface="DejaVu Sans"/>
              </a:rPr>
              <a:t>LR / SVM / KNN</a:t>
            </a:r>
          </a:p>
        </p:txBody>
      </p:sp>
      <p:sp>
        <p:nvSpPr>
          <p:cNvPr id="9" name="">
            <a:extLst xmlns:a="http://schemas.openxmlformats.org/drawingml/2006/main">
              <a:ext uri="{FF2B5EF4-FFF2-40B4-BE49-F238E27FC236}">
                <a16:creationId xmlns:a16="http://schemas.microsoft.com/office/drawing/2014/main" id="{5F41AE69-5E22-4D28-954F-F395619056FC}"/>
              </a:ext>
            </a:extLst>
          </p:cNvPr>
          <p:cNvSpPr>
            <a:spLocks xmlns:a="http://schemas.openxmlformats.org/drawingml/2006/main" noGrp="1"/>
          </p:cNvSpPr>
          <p:nvPr/>
        </p:nvSpPr>
        <p:spPr>
          <a:xfrm xmlns:a="http://schemas.openxmlformats.org/drawingml/2006/main">
            <a:off x="6515100" y="2228850"/>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D16635"/>
                </a:solidFill>
                <a:latin typeface="DejaVu Sans"/>
                <a:ea typeface="DejaVu Sans"/>
                <a:cs typeface="DejaVu Sans"/>
              </a:defRPr>
            </a:pPr>
            <a:r>
              <a:rPr sz="2025" b="1">
                <a:solidFill>
                  <a:srgbClr val="D16635"/>
                </a:solidFill>
                <a:latin typeface="DejaVu Sans"/>
                <a:ea typeface="DejaVu Sans"/>
                <a:cs typeface="DejaVu Sans"/>
              </a:rPr>
              <a:t>Decision tree</a:t>
            </a:r>
          </a:p>
        </p:txBody>
      </p:sp>
      <p:graphicFrame>
        <p:nvGraphicFramePr>
          <p:cNvPr id="22" name=""/>
          <p:cNvGraphicFramePr/>
          <p:nvPr/>
        </p:nvGraphicFramePr>
        <p:xfrm>
          <a:off xmlns:a="http://schemas.openxmlformats.org/drawingml/2006/main" x="552450" y="2771775"/>
          <a:ext xmlns:a="http://schemas.openxmlformats.org/drawingml/2006/main" cx="5095875" cy="2095500"/>
        </p:xfrm>
        <a:graphic xmlns:a="http://schemas.openxmlformats.org/drawingml/2006/main">
          <a:graphicData uri="http://schemas.openxmlformats.org/drawingml/2006/table">
            <a:tbl>
              <a:tblPr/>
              <a:tblGrid>
                <a:gridCol w="3190875"/>
                <a:gridCol w="952500"/>
                <a:gridCol w="952500"/>
              </a:tblGrid>
              <a:tr h="698500">
                <a:tc>
                  <a:txBody>
                    <a:bodyPr/>
                    <a:lstStyle/>
                    <a:p>
                      <a:r>
                        <a:rPr sz="1725" b="1">
                          <a:solidFill>
                            <a:srgbClr val="FFFFFF"/>
                          </a:solidFill>
                          <a:latin typeface="DejaVu Sans"/>
                          <a:ea typeface="DejaVu Sans"/>
                          <a:cs typeface="DejaVu Sans"/>
                        </a:rPr>
                        <a:t>Actual ↓ / predicted →</a:t>
                      </a:r>
                    </a:p>
                  </a:txBody>
                  <a:tcPr marL="91440" marR="91440" marT="45720" marB="45720">
                    <a:solidFill>
                      <a:srgbClr val="112B3C"/>
                    </a:solidFill>
                  </a:tcPr>
                </a:tc>
                <a:tc>
                  <a:txBody>
                    <a:bodyPr/>
                    <a:lstStyle/>
                    <a:p>
                      <a:r>
                        <a:rPr sz="1725" b="1">
                          <a:solidFill>
                            <a:srgbClr val="FFFFFF"/>
                          </a:solidFill>
                          <a:latin typeface="DejaVu Sans"/>
                          <a:ea typeface="DejaVu Sans"/>
                          <a:cs typeface="DejaVu Sans"/>
                        </a:rPr>
                        <a:t>0</a:t>
                      </a:r>
                    </a:p>
                  </a:txBody>
                  <a:tcPr marL="91440" marR="91440" marT="45720" marB="45720">
                    <a:solidFill>
                      <a:srgbClr val="112B3C"/>
                    </a:solidFill>
                  </a:tcPr>
                </a:tc>
                <a:tc>
                  <a:txBody>
                    <a:bodyPr/>
                    <a:lstStyle/>
                    <a:p>
                      <a:r>
                        <a:rPr sz="1725" b="1">
                          <a:solidFill>
                            <a:srgbClr val="FFFFFF"/>
                          </a:solidFill>
                          <a:latin typeface="DejaVu Sans"/>
                          <a:ea typeface="DejaVu Sans"/>
                          <a:cs typeface="DejaVu Sans"/>
                        </a:rPr>
                        <a:t>1</a:t>
                      </a:r>
                    </a:p>
                  </a:txBody>
                  <a:tcPr marL="91440" marR="91440" marT="45720" marB="45720">
                    <a:solidFill>
                      <a:srgbClr val="112B3C"/>
                    </a:solidFill>
                  </a:tcPr>
                </a:tc>
              </a:tr>
              <a:tr h="698500">
                <a:tc>
                  <a:txBody>
                    <a:bodyPr/>
                    <a:lstStyle/>
                    <a:p>
                      <a:r>
                        <a:rPr sz="1725" b="0">
                          <a:solidFill>
                            <a:srgbClr val="112B3C"/>
                          </a:solidFill>
                          <a:latin typeface="DejaVu Sans"/>
                          <a:ea typeface="DejaVu Sans"/>
                          <a:cs typeface="DejaVu Sans"/>
                        </a:rPr>
                        <a:t>0</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3</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3</a:t>
                      </a:r>
                    </a:p>
                  </a:txBody>
                  <a:tcPr marL="91440" marR="91440" marT="45720" marB="45720">
                    <a:solidFill>
                      <a:srgbClr val="FFFFFF"/>
                    </a:solidFill>
                  </a:tcPr>
                </a:tc>
              </a:tr>
              <a:tr h="698500">
                <a:tc>
                  <a:txBody>
                    <a:bodyPr/>
                    <a:lstStyle/>
                    <a:p>
                      <a:r>
                        <a:rPr sz="1725" b="0">
                          <a:solidFill>
                            <a:srgbClr val="112B3C"/>
                          </a:solidFill>
                          <a:latin typeface="DejaVu Sans"/>
                          <a:ea typeface="DejaVu Sans"/>
                          <a:cs typeface="DejaVu Sans"/>
                        </a:rPr>
                        <a:t>1</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0</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12</a:t>
                      </a:r>
                    </a:p>
                  </a:txBody>
                  <a:tcPr marL="91440" marR="91440" marT="45720" marB="45720">
                    <a:solidFill>
                      <a:srgbClr val="F3F6F8"/>
                    </a:solidFill>
                  </a:tcPr>
                </a:tc>
              </a:tr>
            </a:tbl>
          </a:graphicData>
        </a:graphic>
      </p:graphicFrame>
      <p:graphicFrame>
        <p:nvGraphicFramePr>
          <p:cNvPr id="23" name=""/>
          <p:cNvGraphicFramePr/>
          <p:nvPr/>
        </p:nvGraphicFramePr>
        <p:xfrm>
          <a:off xmlns:a="http://schemas.openxmlformats.org/drawingml/2006/main" x="6515100" y="2771775"/>
          <a:ext xmlns:a="http://schemas.openxmlformats.org/drawingml/2006/main" cx="5095875" cy="2095500"/>
        </p:xfrm>
        <a:graphic xmlns:a="http://schemas.openxmlformats.org/drawingml/2006/main">
          <a:graphicData uri="http://schemas.openxmlformats.org/drawingml/2006/table">
            <a:tbl>
              <a:tblPr/>
              <a:tblGrid>
                <a:gridCol w="3190875"/>
                <a:gridCol w="952500"/>
                <a:gridCol w="952500"/>
              </a:tblGrid>
              <a:tr h="698500">
                <a:tc>
                  <a:txBody>
                    <a:bodyPr/>
                    <a:lstStyle/>
                    <a:p>
                      <a:r>
                        <a:rPr sz="1725" b="1">
                          <a:solidFill>
                            <a:srgbClr val="FFFFFF"/>
                          </a:solidFill>
                          <a:latin typeface="DejaVu Sans"/>
                          <a:ea typeface="DejaVu Sans"/>
                          <a:cs typeface="DejaVu Sans"/>
                        </a:rPr>
                        <a:t>Actual ↓ / predicted →</a:t>
                      </a:r>
                    </a:p>
                  </a:txBody>
                  <a:tcPr marL="91440" marR="91440" marT="45720" marB="45720">
                    <a:solidFill>
                      <a:srgbClr val="112B3C"/>
                    </a:solidFill>
                  </a:tcPr>
                </a:tc>
                <a:tc>
                  <a:txBody>
                    <a:bodyPr/>
                    <a:lstStyle/>
                    <a:p>
                      <a:r>
                        <a:rPr sz="1725" b="1">
                          <a:solidFill>
                            <a:srgbClr val="FFFFFF"/>
                          </a:solidFill>
                          <a:latin typeface="DejaVu Sans"/>
                          <a:ea typeface="DejaVu Sans"/>
                          <a:cs typeface="DejaVu Sans"/>
                        </a:rPr>
                        <a:t>0</a:t>
                      </a:r>
                    </a:p>
                  </a:txBody>
                  <a:tcPr marL="91440" marR="91440" marT="45720" marB="45720">
                    <a:solidFill>
                      <a:srgbClr val="112B3C"/>
                    </a:solidFill>
                  </a:tcPr>
                </a:tc>
                <a:tc>
                  <a:txBody>
                    <a:bodyPr/>
                    <a:lstStyle/>
                    <a:p>
                      <a:r>
                        <a:rPr sz="1725" b="1">
                          <a:solidFill>
                            <a:srgbClr val="FFFFFF"/>
                          </a:solidFill>
                          <a:latin typeface="DejaVu Sans"/>
                          <a:ea typeface="DejaVu Sans"/>
                          <a:cs typeface="DejaVu Sans"/>
                        </a:rPr>
                        <a:t>1</a:t>
                      </a:r>
                    </a:p>
                  </a:txBody>
                  <a:tcPr marL="91440" marR="91440" marT="45720" marB="45720">
                    <a:solidFill>
                      <a:srgbClr val="112B3C"/>
                    </a:solidFill>
                  </a:tcPr>
                </a:tc>
              </a:tr>
              <a:tr h="698500">
                <a:tc>
                  <a:txBody>
                    <a:bodyPr/>
                    <a:lstStyle/>
                    <a:p>
                      <a:r>
                        <a:rPr sz="1725" b="0">
                          <a:solidFill>
                            <a:srgbClr val="112B3C"/>
                          </a:solidFill>
                          <a:latin typeface="DejaVu Sans"/>
                          <a:ea typeface="DejaVu Sans"/>
                          <a:cs typeface="DejaVu Sans"/>
                        </a:rPr>
                        <a:t>0</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2</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4</a:t>
                      </a:r>
                    </a:p>
                  </a:txBody>
                  <a:tcPr marL="91440" marR="91440" marT="45720" marB="45720">
                    <a:solidFill>
                      <a:srgbClr val="FFFFFF"/>
                    </a:solidFill>
                  </a:tcPr>
                </a:tc>
              </a:tr>
              <a:tr h="698500">
                <a:tc>
                  <a:txBody>
                    <a:bodyPr/>
                    <a:lstStyle/>
                    <a:p>
                      <a:r>
                        <a:rPr sz="1725" b="0">
                          <a:solidFill>
                            <a:srgbClr val="112B3C"/>
                          </a:solidFill>
                          <a:latin typeface="DejaVu Sans"/>
                          <a:ea typeface="DejaVu Sans"/>
                          <a:cs typeface="DejaVu Sans"/>
                        </a:rPr>
                        <a:t>1</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0</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12</a:t>
                      </a:r>
                    </a:p>
                  </a:txBody>
                  <a:tcPr marL="91440" marR="91440" marT="45720" marB="45720">
                    <a:solidFill>
                      <a:srgbClr val="F3F6F8"/>
                    </a:solidFill>
                  </a:tcPr>
                </a:tc>
              </a:tr>
            </a:tbl>
          </a:graphicData>
        </a:graphic>
      </p:graphicFrame>
      <p:sp>
        <p:nvSpPr>
          <p:cNvPr id="12" name="">
            <a:extLst xmlns:a="http://schemas.openxmlformats.org/drawingml/2006/main">
              <a:ext uri="{FF2B5EF4-FFF2-40B4-BE49-F238E27FC236}">
                <a16:creationId xmlns:a16="http://schemas.microsoft.com/office/drawing/2014/main" id="{A691DE69-D8AF-4241-8D99-A7290B5AE71F}"/>
              </a:ext>
            </a:extLst>
          </p:cNvPr>
          <p:cNvSpPr>
            <a:spLocks xmlns:a="http://schemas.openxmlformats.org/drawingml/2006/main" noGrp="1"/>
          </p:cNvSpPr>
          <p:nvPr/>
        </p:nvSpPr>
        <p:spPr>
          <a:xfrm xmlns:a="http://schemas.openxmlformats.org/drawingml/2006/main">
            <a:off x="552450" y="5124450"/>
            <a:ext cx="1081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12B3C"/>
                </a:solidFill>
                <a:latin typeface="DejaVu Sans"/>
                <a:ea typeface="DejaVu Sans"/>
                <a:cs typeface="DejaVu Sans"/>
              </a:defRPr>
            </a:pPr>
            <a:r>
              <a:rPr sz="1875" b="0">
                <a:solidFill>
                  <a:srgbClr val="112B3C"/>
                </a:solidFill>
                <a:latin typeface="DejaVu Sans"/>
                <a:ea typeface="DejaVu Sans"/>
                <a:cs typeface="DejaVu Sans"/>
              </a:rPr>
              <a:t>Class 1 precision: 80%</a:t>
            </a:r>
          </a:p>
          <a:p xmlns:a="http://schemas.openxmlformats.org/drawingml/2006/main">
            <a:pPr>
              <a:defRPr sz="1875" b="0">
                <a:solidFill>
                  <a:srgbClr val="112B3C"/>
                </a:solidFill>
                <a:latin typeface="DejaVu Sans"/>
                <a:ea typeface="DejaVu Sans"/>
                <a:cs typeface="DejaVu Sans"/>
              </a:defRPr>
            </a:pPr>
            <a:r>
              <a:rPr sz="1875" b="0">
                <a:solidFill>
                  <a:srgbClr val="112B3C"/>
                </a:solidFill>
                <a:latin typeface="DejaVu Sans"/>
                <a:ea typeface="DejaVu Sans"/>
                <a:cs typeface="DejaVu Sans"/>
              </a:rPr>
              <a:t>Class 1 recall: 100% • specificity: 50%</a:t>
            </a:r>
          </a:p>
        </p:txBody>
      </p:sp>
    </p:spTree>
    <p:extLst>
      <p:ext uri="{BB962C8B-B14F-4D97-AF65-F5344CB8AC3E}">
        <p14:creationId xmlns:p14="http://schemas.microsoft.com/office/powerpoint/2010/main" val="57680542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B4BDF2-9129-47B1-8B19-45601946AB6A}"/>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MODEL CHOICE</a:t>
            </a:r>
          </a:p>
        </p:txBody>
      </p:sp>
      <p:sp>
        <p:nvSpPr>
          <p:cNvPr id="2" name="">
            <a:extLst xmlns:a="http://schemas.openxmlformats.org/drawingml/2006/main">
              <a:ext uri="{FF2B5EF4-FFF2-40B4-BE49-F238E27FC236}">
                <a16:creationId xmlns:a16="http://schemas.microsoft.com/office/drawing/2014/main" id="{3207B6F4-8E5A-416E-9359-6086B62794D8}"/>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Best model: a tie on the holdout sample</a:t>
            </a:r>
          </a:p>
        </p:txBody>
      </p:sp>
      <p:sp>
        <p:nvSpPr>
          <p:cNvPr id="3" name="">
            <a:extLst xmlns:a="http://schemas.openxmlformats.org/drawingml/2006/main">
              <a:ext uri="{FF2B5EF4-FFF2-40B4-BE49-F238E27FC236}">
                <a16:creationId xmlns:a16="http://schemas.microsoft.com/office/drawing/2014/main" id="{2685DD00-BFEC-4A4E-888D-3ACEB9464F9D}"/>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LR, SVM and KNN each classify 15 of 18 test records correctly.</a:t>
            </a:r>
          </a:p>
        </p:txBody>
      </p:sp>
      <p:sp>
        <p:nvSpPr>
          <p:cNvPr id="4" name="">
            <a:extLst xmlns:a="http://schemas.openxmlformats.org/drawingml/2006/main">
              <a:ext uri="{FF2B5EF4-FFF2-40B4-BE49-F238E27FC236}">
                <a16:creationId xmlns:a16="http://schemas.microsoft.com/office/drawing/2014/main" id="{6FE2F505-C1FF-402F-9ADD-F3A4565D7F52}"/>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ad013a3186c14a9d"/>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50DBB6FA-70F1-497A-908F-26F1BEE30864}"/>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8974A2D-F65A-49D7-9388-865A765950C9}"/>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56774"/>
                </a:solidFill>
                <a:latin typeface="DejaVu Sans"/>
                <a:ea typeface="DejaVu Sans"/>
                <a:cs typeface="DejaVu Sans"/>
              </a:defRPr>
            </a:pPr>
            <a:r>
              <a:rPr sz="975" b="0">
                <a:solidFill>
                  <a:srgbClr val="556774"/>
                </a:solidFill>
                <a:latin typeface="DejaVu Sans"/>
                <a:ea typeface="DejaVu Sans"/>
                <a:cs typeface="DejaVu Sans"/>
              </a:rPr>
              <a:t>Source: saved outputs in supplied SpaceX_Machine Learning Prediction_Part_5 (2)(2).ipynb.</a:t>
            </a:r>
          </a:p>
        </p:txBody>
      </p:sp>
      <p:sp>
        <p:nvSpPr>
          <p:cNvPr id="7" name="">
            <a:extLst xmlns:a="http://schemas.openxmlformats.org/drawingml/2006/main">
              <a:ext uri="{FF2B5EF4-FFF2-40B4-BE49-F238E27FC236}">
                <a16:creationId xmlns:a16="http://schemas.microsoft.com/office/drawing/2014/main" id="{017EDEF1-0512-440C-9916-DFB26BBEA14F}"/>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35</a:t>
            </a:r>
          </a:p>
        </p:txBody>
      </p:sp>
      <p:graphicFrame>
        <p:nvGraphicFramePr>
          <p:cNvPr id="18" name=""/>
          <p:cNvGraphicFramePr/>
          <p:nvPr/>
        </p:nvGraphicFramePr>
        <p:xfrm>
          <a:off xmlns:a="http://schemas.openxmlformats.org/drawingml/2006/main" x="552450" y="2181225"/>
          <a:ext xmlns:a="http://schemas.openxmlformats.org/drawingml/2006/main" cx="11087100" cy="3105150"/>
        </p:xfrm>
        <a:graphic xmlns:a="http://schemas.openxmlformats.org/drawingml/2006/main">
          <a:graphicData uri="http://schemas.openxmlformats.org/drawingml/2006/table">
            <a:tbl>
              <a:tblPr/>
              <a:tblGrid>
                <a:gridCol w="3286125"/>
                <a:gridCol w="4191000"/>
                <a:gridCol w="3609975"/>
              </a:tblGrid>
              <a:tr h="621030">
                <a:tc>
                  <a:txBody>
                    <a:bodyPr/>
                    <a:lstStyle/>
                    <a:p>
                      <a:r>
                        <a:rPr sz="1650" b="1">
                          <a:solidFill>
                            <a:srgbClr val="FFFFFF"/>
                          </a:solidFill>
                          <a:latin typeface="DejaVu Sans"/>
                          <a:ea typeface="DejaVu Sans"/>
                          <a:cs typeface="DejaVu Sans"/>
                        </a:rPr>
                        <a:t>Selection criterion</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Evidence</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Decision</a:t>
                      </a:r>
                    </a:p>
                  </a:txBody>
                  <a:tcPr marL="91440" marR="91440" marT="45720" marB="45720">
                    <a:solidFill>
                      <a:srgbClr val="112B3C"/>
                    </a:solidFill>
                  </a:tcPr>
                </a:tc>
              </a:tr>
              <a:tr h="621030">
                <a:tc>
                  <a:txBody>
                    <a:bodyPr/>
                    <a:lstStyle/>
                    <a:p>
                      <a:r>
                        <a:rPr sz="1650" b="0">
                          <a:solidFill>
                            <a:srgbClr val="112B3C"/>
                          </a:solidFill>
                          <a:latin typeface="DejaVu Sans"/>
                          <a:ea typeface="DejaVu Sans"/>
                          <a:cs typeface="DejaVu Sans"/>
                        </a:rPr>
                        <a:t>Holdout accuracy</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LR / SVM / KNN: 83.33%</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No unique winner on this split</a:t>
                      </a:r>
                    </a:p>
                  </a:txBody>
                  <a:tcPr marL="91440" marR="91440" marT="45720" marB="45720">
                    <a:solidFill>
                      <a:srgbClr val="FFFFFF"/>
                    </a:solidFill>
                  </a:tcPr>
                </a:tc>
              </a:tr>
              <a:tr h="621030">
                <a:tc>
                  <a:txBody>
                    <a:bodyPr/>
                    <a:lstStyle/>
                    <a:p>
                      <a:r>
                        <a:rPr sz="1650" b="0">
                          <a:solidFill>
                            <a:srgbClr val="112B3C"/>
                          </a:solidFill>
                          <a:latin typeface="DejaVu Sans"/>
                          <a:ea typeface="DejaVu Sans"/>
                          <a:cs typeface="DejaVu Sans"/>
                        </a:rPr>
                        <a:t>Cross-validation score</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Tree: 87.50%</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CV leader, but test score is 77.78%</a:t>
                      </a:r>
                    </a:p>
                  </a:txBody>
                  <a:tcPr marL="91440" marR="91440" marT="45720" marB="45720">
                    <a:solidFill>
                      <a:srgbClr val="F3F6F8"/>
                    </a:solidFill>
                  </a:tcPr>
                </a:tc>
              </a:tr>
              <a:tr h="621030">
                <a:tc>
                  <a:txBody>
                    <a:bodyPr/>
                    <a:lstStyle/>
                    <a:p>
                      <a:r>
                        <a:rPr sz="1650" b="0">
                          <a:solidFill>
                            <a:srgbClr val="112B3C"/>
                          </a:solidFill>
                          <a:latin typeface="DejaVu Sans"/>
                          <a:ea typeface="DejaVu Sans"/>
                          <a:cs typeface="DejaVu Sans"/>
                        </a:rPr>
                        <a:t>Error profile</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Tied models: 3 false positives</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All have specificity of only 50%</a:t>
                      </a:r>
                    </a:p>
                  </a:txBody>
                  <a:tcPr marL="91440" marR="91440" marT="45720" marB="45720">
                    <a:solidFill>
                      <a:srgbClr val="FFFFFF"/>
                    </a:solidFill>
                  </a:tcPr>
                </a:tc>
              </a:tr>
              <a:tr h="621030">
                <a:tc>
                  <a:txBody>
                    <a:bodyPr/>
                    <a:lstStyle/>
                    <a:p>
                      <a:r>
                        <a:rPr sz="1650" b="0">
                          <a:solidFill>
                            <a:srgbClr val="112B3C"/>
                          </a:solidFill>
                          <a:latin typeface="DejaVu Sans"/>
                          <a:ea typeface="DejaVu Sans"/>
                          <a:cs typeface="DejaVu Sans"/>
                        </a:rPr>
                        <a:t>Practical starting model</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Logistic regression</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Simple reference model for a clean rerun</a:t>
                      </a:r>
                    </a:p>
                  </a:txBody>
                  <a:tcPr marL="91440" marR="91440" marT="45720" marB="45720">
                    <a:solidFill>
                      <a:srgbClr val="F3F6F8"/>
                    </a:solidFill>
                  </a:tcPr>
                </a:tc>
              </a:tr>
            </a:tbl>
          </a:graphicData>
        </a:graphic>
      </p:graphicFrame>
      <p:sp>
        <p:nvSpPr>
          <p:cNvPr id="9" name="">
            <a:extLst xmlns:a="http://schemas.openxmlformats.org/drawingml/2006/main">
              <a:ext uri="{FF2B5EF4-FFF2-40B4-BE49-F238E27FC236}">
                <a16:creationId xmlns:a16="http://schemas.microsoft.com/office/drawing/2014/main" id="{0595F4C5-8E51-4DE4-9696-0AB47E407F71}"/>
              </a:ext>
            </a:extLst>
          </p:cNvPr>
          <p:cNvSpPr>
            <a:spLocks xmlns:a="http://schemas.openxmlformats.org/drawingml/2006/main" noGrp="1"/>
          </p:cNvSpPr>
          <p:nvPr/>
        </p:nvSpPr>
        <p:spPr>
          <a:xfrm xmlns:a="http://schemas.openxmlformats.org/drawingml/2006/main">
            <a:off x="552450" y="5619750"/>
            <a:ext cx="47625" cy="495300"/>
          </a:xfrm>
          <a:prstGeom xmlns:a="http://schemas.openxmlformats.org/drawingml/2006/main" prst="rect">
            <a:avLst/>
          </a:prstGeom>
          <a:solidFill xmlns:a="http://schemas.openxmlformats.org/drawingml/2006/main">
            <a:srgbClr val="D166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F16EB7B-937E-41D5-84FC-312D960290AE}"/>
              </a:ext>
            </a:extLst>
          </p:cNvPr>
          <p:cNvSpPr>
            <a:spLocks xmlns:a="http://schemas.openxmlformats.org/drawingml/2006/main" noGrp="1"/>
          </p:cNvSpPr>
          <p:nvPr/>
        </p:nvSpPr>
        <p:spPr>
          <a:xfrm xmlns:a="http://schemas.openxmlformats.org/drawingml/2006/main">
            <a:off x="742950" y="56102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2B3C"/>
                </a:solidFill>
                <a:latin typeface="DejaVu Sans"/>
                <a:ea typeface="DejaVu Sans"/>
                <a:cs typeface="DejaVu Sans"/>
              </a:defRPr>
            </a:pPr>
            <a:r>
              <a:rPr sz="1725" b="1">
                <a:solidFill>
                  <a:srgbClr val="112B3C"/>
                </a:solidFill>
                <a:latin typeface="DejaVu Sans"/>
                <a:ea typeface="DejaVu Sans"/>
                <a:cs typeface="DejaVu Sans"/>
              </a:rPr>
              <a:t>Prefer LR provisionally for simplicity. Confirm selection after leakage-free validation.</a:t>
            </a:r>
          </a:p>
        </p:txBody>
      </p:sp>
    </p:spTree>
    <p:extLst>
      <p:ext uri="{BB962C8B-B14F-4D97-AF65-F5344CB8AC3E}">
        <p14:creationId xmlns:p14="http://schemas.microsoft.com/office/powerpoint/2010/main" val="74853238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313503-2914-4D19-9091-7AD5C626DA48}"/>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VALIDATION / LIMITATIONS</a:t>
            </a:r>
          </a:p>
        </p:txBody>
      </p:sp>
      <p:sp>
        <p:nvSpPr>
          <p:cNvPr id="2" name="">
            <a:extLst xmlns:a="http://schemas.openxmlformats.org/drawingml/2006/main">
              <a:ext uri="{FF2B5EF4-FFF2-40B4-BE49-F238E27FC236}">
                <a16:creationId xmlns:a16="http://schemas.microsoft.com/office/drawing/2014/main" id="{2ACDFA74-02E4-4309-AF0E-82DC145FC36A}"/>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Before deployment, strengthen the evaluation</a:t>
            </a:r>
          </a:p>
        </p:txBody>
      </p:sp>
      <p:sp>
        <p:nvSpPr>
          <p:cNvPr id="3" name="">
            <a:extLst xmlns:a="http://schemas.openxmlformats.org/drawingml/2006/main">
              <a:ext uri="{FF2B5EF4-FFF2-40B4-BE49-F238E27FC236}">
                <a16:creationId xmlns:a16="http://schemas.microsoft.com/office/drawing/2014/main" id="{5AB21B98-7B2A-45F9-A6AA-AC87E9542EF7}"/>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The next evaluation must remove leakage and test future-launch performance.</a:t>
            </a:r>
          </a:p>
        </p:txBody>
      </p:sp>
      <p:sp>
        <p:nvSpPr>
          <p:cNvPr id="4" name="">
            <a:extLst xmlns:a="http://schemas.openxmlformats.org/drawingml/2006/main">
              <a:ext uri="{FF2B5EF4-FFF2-40B4-BE49-F238E27FC236}">
                <a16:creationId xmlns:a16="http://schemas.microsoft.com/office/drawing/2014/main" id="{4F67EE52-995D-46B6-A74D-519A91F09334}"/>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ae6b7fa7e2f44e01"/>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C7B6ADA3-B7FA-4209-8640-91E13255D6C0}"/>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B4D75F5-B37B-4592-84CE-1EDBFAC1CF6E}"/>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1A810E31-7EE2-49B5-8295-1C9C735D0344}"/>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36</a:t>
            </a:r>
          </a:p>
        </p:txBody>
      </p:sp>
      <p:graphicFrame>
        <p:nvGraphicFramePr>
          <p:cNvPr id="16" name=""/>
          <p:cNvGraphicFramePr/>
          <p:nvPr/>
        </p:nvGraphicFramePr>
        <p:xfrm>
          <a:off xmlns:a="http://schemas.openxmlformats.org/drawingml/2006/main" x="552450" y="2200275"/>
          <a:ext xmlns:a="http://schemas.openxmlformats.org/drawingml/2006/main" cx="11087100" cy="3562350"/>
        </p:xfrm>
        <a:graphic xmlns:a="http://schemas.openxmlformats.org/drawingml/2006/main">
          <a:graphicData uri="http://schemas.openxmlformats.org/drawingml/2006/table">
            <a:tbl>
              <a:tblPr/>
              <a:tblGrid>
                <a:gridCol w="4572000"/>
                <a:gridCol w="6515100"/>
              </a:tblGrid>
              <a:tr h="593725">
                <a:tc>
                  <a:txBody>
                    <a:bodyPr/>
                    <a:lstStyle/>
                    <a:p>
                      <a:r>
                        <a:rPr sz="1725" b="1">
                          <a:solidFill>
                            <a:srgbClr val="FFFFFF"/>
                          </a:solidFill>
                          <a:latin typeface="DejaVu Sans"/>
                          <a:ea typeface="DejaVu Sans"/>
                          <a:cs typeface="DejaVu Sans"/>
                        </a:rPr>
                        <a:t>Observed limitation</a:t>
                      </a:r>
                    </a:p>
                  </a:txBody>
                  <a:tcPr marL="91440" marR="91440" marT="45720" marB="45720">
                    <a:solidFill>
                      <a:srgbClr val="112B3C"/>
                    </a:solidFill>
                  </a:tcPr>
                </a:tc>
                <a:tc>
                  <a:txBody>
                    <a:bodyPr/>
                    <a:lstStyle/>
                    <a:p>
                      <a:r>
                        <a:rPr sz="1725" b="1">
                          <a:solidFill>
                            <a:srgbClr val="FFFFFF"/>
                          </a:solidFill>
                          <a:latin typeface="DejaVu Sans"/>
                          <a:ea typeface="DejaVu Sans"/>
                          <a:cs typeface="DejaVu Sans"/>
                        </a:rPr>
                        <a:t>Next validation step</a:t>
                      </a:r>
                    </a:p>
                  </a:txBody>
                  <a:tcPr marL="91440" marR="91440" marT="45720" marB="45720">
                    <a:solidFill>
                      <a:srgbClr val="112B3C"/>
                    </a:solidFill>
                  </a:tcPr>
                </a:tc>
              </a:tr>
              <a:tr h="593725">
                <a:tc>
                  <a:txBody>
                    <a:bodyPr/>
                    <a:lstStyle/>
                    <a:p>
                      <a:r>
                        <a:rPr sz="1725" b="0">
                          <a:solidFill>
                            <a:srgbClr val="112B3C"/>
                          </a:solidFill>
                          <a:latin typeface="DejaVu Sans"/>
                          <a:ea typeface="DejaVu Sans"/>
                          <a:cs typeface="DejaVu Sans"/>
                        </a:rPr>
                        <a:t>Scaling before train/test split</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Fit StandardScaler inside a cross-validated Pipeline.</a:t>
                      </a:r>
                    </a:p>
                  </a:txBody>
                  <a:tcPr marL="91440" marR="91440" marT="45720" marB="45720">
                    <a:solidFill>
                      <a:srgbClr val="FFFFFF"/>
                    </a:solidFill>
                  </a:tcPr>
                </a:tc>
              </a:tr>
              <a:tr h="593725">
                <a:tc>
                  <a:txBody>
                    <a:bodyPr/>
                    <a:lstStyle/>
                    <a:p>
                      <a:r>
                        <a:rPr sz="1725" b="0">
                          <a:solidFill>
                            <a:srgbClr val="112B3C"/>
                          </a:solidFill>
                          <a:latin typeface="DejaVu Sans"/>
                          <a:ea typeface="DejaVu Sans"/>
                          <a:cs typeface="DejaVu Sans"/>
                        </a:rPr>
                        <a:t>Repeated booster serials; time trends</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Add grouped and chronological holdouts.</a:t>
                      </a:r>
                    </a:p>
                  </a:txBody>
                  <a:tcPr marL="91440" marR="91440" marT="45720" marB="45720">
                    <a:solidFill>
                      <a:srgbClr val="F3F6F8"/>
                    </a:solidFill>
                  </a:tcPr>
                </a:tc>
              </a:tr>
              <a:tr h="593725">
                <a:tc>
                  <a:txBody>
                    <a:bodyPr/>
                    <a:lstStyle/>
                    <a:p>
                      <a:r>
                        <a:rPr sz="1725" b="0">
                          <a:solidFill>
                            <a:srgbClr val="112B3C"/>
                          </a:solidFill>
                          <a:latin typeface="DejaVu Sans"/>
                          <a:ea typeface="DejaVu Sans"/>
                          <a:cs typeface="DejaVu Sans"/>
                        </a:rPr>
                        <a:t>18 test records; tied model scores</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Report uncertainty and repeat validation on new launches.</a:t>
                      </a:r>
                    </a:p>
                  </a:txBody>
                  <a:tcPr marL="91440" marR="91440" marT="45720" marB="45720">
                    <a:solidFill>
                      <a:srgbClr val="FFFFFF"/>
                    </a:solidFill>
                  </a:tcPr>
                </a:tc>
              </a:tr>
              <a:tr h="593725">
                <a:tc>
                  <a:txBody>
                    <a:bodyPr/>
                    <a:lstStyle/>
                    <a:p>
                      <a:r>
                        <a:rPr sz="1725" b="0">
                          <a:solidFill>
                            <a:srgbClr val="112B3C"/>
                          </a:solidFill>
                          <a:latin typeface="DejaVu Sans"/>
                          <a:ea typeface="DejaVu Sans"/>
                          <a:cs typeface="DejaVu Sans"/>
                        </a:rPr>
                        <a:t>Invalid tree grid option; no tree seed</a:t>
                      </a:r>
                    </a:p>
                  </a:txBody>
                  <a:tcPr marL="91440" marR="91440" marT="45720" marB="45720">
                    <a:solidFill>
                      <a:srgbClr val="F3F6F8"/>
                    </a:solidFill>
                  </a:tcPr>
                </a:tc>
                <a:tc>
                  <a:txBody>
                    <a:bodyPr/>
                    <a:lstStyle/>
                    <a:p>
                      <a:r>
                        <a:rPr sz="1725" b="0">
                          <a:solidFill>
                            <a:srgbClr val="112B3C"/>
                          </a:solidFill>
                          <a:latin typeface="DejaVu Sans"/>
                          <a:ea typeface="DejaVu Sans"/>
                          <a:cs typeface="DejaVu Sans"/>
                        </a:rPr>
                        <a:t>Remove auto; set random_state; save versions and outputs.</a:t>
                      </a:r>
                    </a:p>
                  </a:txBody>
                  <a:tcPr marL="91440" marR="91440" marT="45720" marB="45720">
                    <a:solidFill>
                      <a:srgbClr val="F3F6F8"/>
                    </a:solidFill>
                  </a:tcPr>
                </a:tc>
              </a:tr>
              <a:tr h="593725">
                <a:tc>
                  <a:txBody>
                    <a:bodyPr/>
                    <a:lstStyle/>
                    <a:p>
                      <a:r>
                        <a:rPr sz="1725" b="0">
                          <a:solidFill>
                            <a:srgbClr val="112B3C"/>
                          </a:solidFill>
                          <a:latin typeface="DejaVu Sans"/>
                          <a:ea typeface="DejaVu Sans"/>
                          <a:cs typeface="DejaVu Sans"/>
                        </a:rPr>
                        <a:t>Some fields may be updated after launch</a:t>
                      </a:r>
                    </a:p>
                  </a:txBody>
                  <a:tcPr marL="91440" marR="91440" marT="45720" marB="45720">
                    <a:solidFill>
                      <a:srgbClr val="FFFFFF"/>
                    </a:solidFill>
                  </a:tcPr>
                </a:tc>
                <a:tc>
                  <a:txBody>
                    <a:bodyPr/>
                    <a:lstStyle/>
                    <a:p>
                      <a:r>
                        <a:rPr sz="1725" b="0">
                          <a:solidFill>
                            <a:srgbClr val="112B3C"/>
                          </a:solidFill>
                          <a:latin typeface="DejaVu Sans"/>
                          <a:ea typeface="DejaVu Sans"/>
                          <a:cs typeface="DejaVu Sans"/>
                        </a:rPr>
                        <a:t>Audit feature availability at prediction time.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6173047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732FBC3-8B82-45C7-A748-C5CC2A954960}"/>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ADDITIONAL INSIGHTS</a:t>
            </a:r>
          </a:p>
        </p:txBody>
      </p:sp>
      <p:sp>
        <p:nvSpPr>
          <p:cNvPr id="2" name="">
            <a:extLst xmlns:a="http://schemas.openxmlformats.org/drawingml/2006/main">
              <a:ext uri="{FF2B5EF4-FFF2-40B4-BE49-F238E27FC236}">
                <a16:creationId xmlns:a16="http://schemas.microsoft.com/office/drawing/2014/main" id="{D805869F-2532-40AF-9321-65095C65A939}"/>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Better definitions can improve decisions more than a leaderboard</a:t>
            </a:r>
          </a:p>
        </p:txBody>
      </p:sp>
      <p:sp>
        <p:nvSpPr>
          <p:cNvPr id="3" name="">
            <a:extLst xmlns:a="http://schemas.openxmlformats.org/drawingml/2006/main">
              <a:ext uri="{FF2B5EF4-FFF2-40B4-BE49-F238E27FC236}">
                <a16:creationId xmlns:a16="http://schemas.microsoft.com/office/drawing/2014/main" id="{A5B57728-A5F3-44DA-AE5E-72E935CAF467}"/>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Three distinctions prevent misleading conclusions.</a:t>
            </a:r>
          </a:p>
        </p:txBody>
      </p:sp>
      <p:sp>
        <p:nvSpPr>
          <p:cNvPr id="4" name="">
            <a:extLst xmlns:a="http://schemas.openxmlformats.org/drawingml/2006/main">
              <a:ext uri="{FF2B5EF4-FFF2-40B4-BE49-F238E27FC236}">
                <a16:creationId xmlns:a16="http://schemas.microsoft.com/office/drawing/2014/main" id="{69C0B4CF-B0BA-46DA-8DA4-405B890CD78E}"/>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aef4707bec844e33"/>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D8A5E4B0-E8C2-4F7F-AAA4-71F1C29357DB}"/>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A47D84-E62A-4D69-A5A0-773D0E57B2B1}"/>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82BE44BB-BF7E-4797-A9F8-CA0B24D618F3}"/>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37</a:t>
            </a:r>
          </a:p>
        </p:txBody>
      </p:sp>
      <p:sp>
        <p:nvSpPr>
          <p:cNvPr id="8" name="">
            <a:extLst xmlns:a="http://schemas.openxmlformats.org/drawingml/2006/main">
              <a:ext uri="{FF2B5EF4-FFF2-40B4-BE49-F238E27FC236}">
                <a16:creationId xmlns:a16="http://schemas.microsoft.com/office/drawing/2014/main" id="{0A4B7221-97C1-4C6C-81A2-B85A6BD21F51}"/>
              </a:ext>
            </a:extLst>
          </p:cNvPr>
          <p:cNvSpPr>
            <a:spLocks xmlns:a="http://schemas.openxmlformats.org/drawingml/2006/main" noGrp="1"/>
          </p:cNvSpPr>
          <p:nvPr/>
        </p:nvSpPr>
        <p:spPr>
          <a:xfrm xmlns:a="http://schemas.openxmlformats.org/drawingml/2006/main">
            <a:off x="552450" y="230505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D16635"/>
                </a:solidFill>
                <a:latin typeface="DejaVu Sans"/>
                <a:ea typeface="DejaVu Sans"/>
                <a:cs typeface="DejaVu Sans"/>
              </a:defRPr>
            </a:pPr>
            <a:r>
              <a:rPr sz="2025" b="1">
                <a:solidFill>
                  <a:srgbClr val="D16635"/>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CBBF9C58-3320-4E9F-8F50-180169AA5242}"/>
              </a:ext>
            </a:extLst>
          </p:cNvPr>
          <p:cNvSpPr>
            <a:spLocks xmlns:a="http://schemas.openxmlformats.org/drawingml/2006/main" noGrp="1"/>
          </p:cNvSpPr>
          <p:nvPr/>
        </p:nvSpPr>
        <p:spPr>
          <a:xfrm xmlns:a="http://schemas.openxmlformats.org/drawingml/2006/main">
            <a:off x="1276350" y="2305050"/>
            <a:ext cx="10210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12B3C"/>
                </a:solidFill>
                <a:latin typeface="DejaVu Sans"/>
                <a:ea typeface="DejaVu Sans"/>
                <a:cs typeface="DejaVu Sans"/>
              </a:defRPr>
            </a:pPr>
            <a:r>
              <a:rPr sz="2025" b="0">
                <a:solidFill>
                  <a:srgbClr val="112B3C"/>
                </a:solidFill>
                <a:latin typeface="DejaVu Sans"/>
                <a:ea typeface="DejaVu Sans"/>
                <a:cs typeface="DejaVu Sans"/>
              </a:rPr>
              <a:t>Prediction target: separate landing, recovered hardware and reusable hardware before modeling economics.</a:t>
            </a:r>
          </a:p>
        </p:txBody>
      </p:sp>
      <p:sp>
        <p:nvSpPr>
          <p:cNvPr id="10" name="">
            <a:extLst xmlns:a="http://schemas.openxmlformats.org/drawingml/2006/main">
              <a:ext uri="{FF2B5EF4-FFF2-40B4-BE49-F238E27FC236}">
                <a16:creationId xmlns:a16="http://schemas.microsoft.com/office/drawing/2014/main" id="{593DB933-FEAC-4035-BEFA-296F3A969E2B}"/>
              </a:ext>
            </a:extLst>
          </p:cNvPr>
          <p:cNvSpPr>
            <a:spLocks xmlns:a="http://schemas.openxmlformats.org/drawingml/2006/main" noGrp="1"/>
          </p:cNvSpPr>
          <p:nvPr/>
        </p:nvSpPr>
        <p:spPr>
          <a:xfrm xmlns:a="http://schemas.openxmlformats.org/drawingml/2006/main">
            <a:off x="552450" y="34575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D16635"/>
                </a:solidFill>
                <a:latin typeface="DejaVu Sans"/>
                <a:ea typeface="DejaVu Sans"/>
                <a:cs typeface="DejaVu Sans"/>
              </a:defRPr>
            </a:pPr>
            <a:r>
              <a:rPr sz="2025" b="1">
                <a:solidFill>
                  <a:srgbClr val="D16635"/>
                </a:solidFill>
                <a:latin typeface="DejaVu Sans"/>
                <a:ea typeface="DejaVu Sans"/>
                <a:cs typeface="DejaVu Sans"/>
              </a:rPr>
              <a:t>02</a:t>
            </a:r>
          </a:p>
        </p:txBody>
      </p:sp>
      <p:sp>
        <p:nvSpPr>
          <p:cNvPr id="11" name="">
            <a:extLst xmlns:a="http://schemas.openxmlformats.org/drawingml/2006/main">
              <a:ext uri="{FF2B5EF4-FFF2-40B4-BE49-F238E27FC236}">
                <a16:creationId xmlns:a16="http://schemas.microsoft.com/office/drawing/2014/main" id="{9034C123-0254-4B45-A924-29C287535DF0}"/>
              </a:ext>
            </a:extLst>
          </p:cNvPr>
          <p:cNvSpPr>
            <a:spLocks xmlns:a="http://schemas.openxmlformats.org/drawingml/2006/main" noGrp="1"/>
          </p:cNvSpPr>
          <p:nvPr/>
        </p:nvSpPr>
        <p:spPr>
          <a:xfrm xmlns:a="http://schemas.openxmlformats.org/drawingml/2006/main">
            <a:off x="1276350" y="3457575"/>
            <a:ext cx="10210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12B3C"/>
                </a:solidFill>
                <a:latin typeface="DejaVu Sans"/>
                <a:ea typeface="DejaVu Sans"/>
                <a:cs typeface="DejaVu Sans"/>
              </a:defRPr>
            </a:pPr>
            <a:r>
              <a:rPr sz="2025" b="0">
                <a:solidFill>
                  <a:srgbClr val="112B3C"/>
                </a:solidFill>
                <a:latin typeface="DejaVu Sans"/>
                <a:ea typeface="DejaVu Sans"/>
                <a:cs typeface="DejaVu Sans"/>
              </a:rPr>
              <a:t>Comparison unit: keep cohort, sample size and site naming consistent before ranking locations.</a:t>
            </a:r>
          </a:p>
        </p:txBody>
      </p:sp>
      <p:sp>
        <p:nvSpPr>
          <p:cNvPr id="12" name="">
            <a:extLst xmlns:a="http://schemas.openxmlformats.org/drawingml/2006/main">
              <a:ext uri="{FF2B5EF4-FFF2-40B4-BE49-F238E27FC236}">
                <a16:creationId xmlns:a16="http://schemas.microsoft.com/office/drawing/2014/main" id="{0806C3BB-D51C-414F-8CCD-4F305916BFC3}"/>
              </a:ext>
            </a:extLst>
          </p:cNvPr>
          <p:cNvSpPr>
            <a:spLocks xmlns:a="http://schemas.openxmlformats.org/drawingml/2006/main" noGrp="1"/>
          </p:cNvSpPr>
          <p:nvPr/>
        </p:nvSpPr>
        <p:spPr>
          <a:xfrm xmlns:a="http://schemas.openxmlformats.org/drawingml/2006/main">
            <a:off x="552450" y="461010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D16635"/>
                </a:solidFill>
                <a:latin typeface="DejaVu Sans"/>
                <a:ea typeface="DejaVu Sans"/>
                <a:cs typeface="DejaVu Sans"/>
              </a:defRPr>
            </a:pPr>
            <a:r>
              <a:rPr sz="2025" b="1">
                <a:solidFill>
                  <a:srgbClr val="D16635"/>
                </a:solidFill>
                <a:latin typeface="DejaVu Sans"/>
                <a:ea typeface="DejaVu Sans"/>
                <a:cs typeface="DejaVu Sans"/>
              </a:rPr>
              <a:t>03</a:t>
            </a:r>
          </a:p>
        </p:txBody>
      </p:sp>
      <p:sp>
        <p:nvSpPr>
          <p:cNvPr id="13" name="">
            <a:extLst xmlns:a="http://schemas.openxmlformats.org/drawingml/2006/main">
              <a:ext uri="{FF2B5EF4-FFF2-40B4-BE49-F238E27FC236}">
                <a16:creationId xmlns:a16="http://schemas.microsoft.com/office/drawing/2014/main" id="{FBDEC280-38FE-41F6-85AB-73925E1173AE}"/>
              </a:ext>
            </a:extLst>
          </p:cNvPr>
          <p:cNvSpPr>
            <a:spLocks xmlns:a="http://schemas.openxmlformats.org/drawingml/2006/main" noGrp="1"/>
          </p:cNvSpPr>
          <p:nvPr/>
        </p:nvSpPr>
        <p:spPr>
          <a:xfrm xmlns:a="http://schemas.openxmlformats.org/drawingml/2006/main">
            <a:off x="1276350" y="4610100"/>
            <a:ext cx="10210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12B3C"/>
                </a:solidFill>
                <a:latin typeface="DejaVu Sans"/>
                <a:ea typeface="DejaVu Sans"/>
                <a:cs typeface="DejaVu Sans"/>
              </a:defRPr>
            </a:pPr>
            <a:r>
              <a:rPr sz="2025" b="0">
                <a:solidFill>
                  <a:srgbClr val="112B3C"/>
                </a:solidFill>
                <a:latin typeface="DejaVu Sans"/>
                <a:ea typeface="DejaVu Sans"/>
                <a:cs typeface="DejaVu Sans"/>
              </a:rPr>
              <a:t>Decision risk: false positives dominate the saved errors; evaluate their cost before selecting a threshold.</a:t>
            </a:r>
          </a:p>
        </p:txBody>
      </p:sp>
    </p:spTree>
    <p:extLst>
      <p:ext uri="{BB962C8B-B14F-4D97-AF65-F5344CB8AC3E}">
        <p14:creationId xmlns:p14="http://schemas.microsoft.com/office/powerpoint/2010/main" val="126527474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4D75C60-2994-4FCC-8EA8-BEBA0229AEFE}"/>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CONCLUSION</a:t>
            </a:r>
          </a:p>
        </p:txBody>
      </p:sp>
      <p:sp>
        <p:nvSpPr>
          <p:cNvPr id="2" name="">
            <a:extLst xmlns:a="http://schemas.openxmlformats.org/drawingml/2006/main">
              <a:ext uri="{FF2B5EF4-FFF2-40B4-BE49-F238E27FC236}">
                <a16:creationId xmlns:a16="http://schemas.microsoft.com/office/drawing/2014/main" id="{32A2B1C9-130A-4824-9A2E-7C3AFAFD6D98}"/>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The project connects collection, geography and prediction</a:t>
            </a:r>
          </a:p>
        </p:txBody>
      </p:sp>
      <p:sp>
        <p:nvSpPr>
          <p:cNvPr id="3" name="">
            <a:extLst xmlns:a="http://schemas.openxmlformats.org/drawingml/2006/main">
              <a:ext uri="{FF2B5EF4-FFF2-40B4-BE49-F238E27FC236}">
                <a16:creationId xmlns:a16="http://schemas.microsoft.com/office/drawing/2014/main" id="{0D8AD62A-E604-40CD-B4C1-3C7CF5888A4B}"/>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A reproducible analytical story matters as much as the final score.</a:t>
            </a:r>
          </a:p>
        </p:txBody>
      </p:sp>
      <p:sp>
        <p:nvSpPr>
          <p:cNvPr id="4" name="">
            <a:extLst xmlns:a="http://schemas.openxmlformats.org/drawingml/2006/main">
              <a:ext uri="{FF2B5EF4-FFF2-40B4-BE49-F238E27FC236}">
                <a16:creationId xmlns:a16="http://schemas.microsoft.com/office/drawing/2014/main" id="{D3D4BA60-3A44-4AA7-9BCA-63585136BEFF}"/>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cce66c5b823f447d"/>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55F46F0F-274C-461D-911C-CD8B46523D3F}"/>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BC71C38-47C4-4E27-8E70-0DBF819BBF9B}"/>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4D0518F0-C090-4DE5-9FCB-435BAE882BCC}"/>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38</a:t>
            </a:r>
          </a:p>
        </p:txBody>
      </p:sp>
      <p:sp>
        <p:nvSpPr>
          <p:cNvPr id="8" name="">
            <a:extLst xmlns:a="http://schemas.openxmlformats.org/drawingml/2006/main">
              <a:ext uri="{FF2B5EF4-FFF2-40B4-BE49-F238E27FC236}">
                <a16:creationId xmlns:a16="http://schemas.microsoft.com/office/drawing/2014/main" id="{B7A3FD0F-C177-4FA5-B27A-A06EDBEA5095}"/>
              </a:ext>
            </a:extLst>
          </p:cNvPr>
          <p:cNvSpPr>
            <a:spLocks xmlns:a="http://schemas.openxmlformats.org/drawingml/2006/main" noGrp="1"/>
          </p:cNvSpPr>
          <p:nvPr/>
        </p:nvSpPr>
        <p:spPr>
          <a:xfrm xmlns:a="http://schemas.openxmlformats.org/drawingml/2006/main">
            <a:off x="552450" y="22764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D16635"/>
                </a:solidFill>
                <a:latin typeface="DejaVu Sans"/>
                <a:ea typeface="DejaVu Sans"/>
                <a:cs typeface="DejaVu Sans"/>
              </a:defRPr>
            </a:pPr>
            <a:r>
              <a:rPr sz="2025" b="1">
                <a:solidFill>
                  <a:srgbClr val="D16635"/>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A7E2CDC3-DD9B-47B1-B890-E4F2E613CDDC}"/>
              </a:ext>
            </a:extLst>
          </p:cNvPr>
          <p:cNvSpPr>
            <a:spLocks xmlns:a="http://schemas.openxmlformats.org/drawingml/2006/main" noGrp="1"/>
          </p:cNvSpPr>
          <p:nvPr/>
        </p:nvSpPr>
        <p:spPr>
          <a:xfrm xmlns:a="http://schemas.openxmlformats.org/drawingml/2006/main">
            <a:off x="1276350" y="2276475"/>
            <a:ext cx="102298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12B3C"/>
                </a:solidFill>
                <a:latin typeface="DejaVu Sans"/>
                <a:ea typeface="DejaVu Sans"/>
                <a:cs typeface="DejaVu Sans"/>
              </a:defRPr>
            </a:pPr>
            <a:r>
              <a:rPr sz="2025" b="0">
                <a:solidFill>
                  <a:srgbClr val="112B3C"/>
                </a:solidFill>
                <a:latin typeface="DejaVu Sans"/>
                <a:ea typeface="DejaVu Sans"/>
                <a:cs typeface="DejaVu Sans"/>
              </a:rPr>
              <a:t>EDA reveals associations with orbit, site and operational history; none is established as causal.</a:t>
            </a:r>
          </a:p>
        </p:txBody>
      </p:sp>
      <p:sp>
        <p:nvSpPr>
          <p:cNvPr id="10" name="">
            <a:extLst xmlns:a="http://schemas.openxmlformats.org/drawingml/2006/main">
              <a:ext uri="{FF2B5EF4-FFF2-40B4-BE49-F238E27FC236}">
                <a16:creationId xmlns:a16="http://schemas.microsoft.com/office/drawing/2014/main" id="{533D01F2-8202-46C5-BCD6-406125253701}"/>
              </a:ext>
            </a:extLst>
          </p:cNvPr>
          <p:cNvSpPr>
            <a:spLocks xmlns:a="http://schemas.openxmlformats.org/drawingml/2006/main" noGrp="1"/>
          </p:cNvSpPr>
          <p:nvPr/>
        </p:nvSpPr>
        <p:spPr>
          <a:xfrm xmlns:a="http://schemas.openxmlformats.org/drawingml/2006/main">
            <a:off x="552450" y="316230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D16635"/>
                </a:solidFill>
                <a:latin typeface="DejaVu Sans"/>
                <a:ea typeface="DejaVu Sans"/>
                <a:cs typeface="DejaVu Sans"/>
              </a:defRPr>
            </a:pPr>
            <a:r>
              <a:rPr sz="2025" b="1">
                <a:solidFill>
                  <a:srgbClr val="D16635"/>
                </a:solidFill>
                <a:latin typeface="DejaVu Sans"/>
                <a:ea typeface="DejaVu Sans"/>
                <a:cs typeface="DejaVu Sans"/>
              </a:rPr>
              <a:t>02</a:t>
            </a:r>
          </a:p>
        </p:txBody>
      </p:sp>
      <p:sp>
        <p:nvSpPr>
          <p:cNvPr id="11" name="">
            <a:extLst xmlns:a="http://schemas.openxmlformats.org/drawingml/2006/main">
              <a:ext uri="{FF2B5EF4-FFF2-40B4-BE49-F238E27FC236}">
                <a16:creationId xmlns:a16="http://schemas.microsoft.com/office/drawing/2014/main" id="{17BD6927-647F-4B74-BC6F-DBB78DD5E4E5}"/>
              </a:ext>
            </a:extLst>
          </p:cNvPr>
          <p:cNvSpPr>
            <a:spLocks xmlns:a="http://schemas.openxmlformats.org/drawingml/2006/main" noGrp="1"/>
          </p:cNvSpPr>
          <p:nvPr/>
        </p:nvSpPr>
        <p:spPr>
          <a:xfrm xmlns:a="http://schemas.openxmlformats.org/drawingml/2006/main">
            <a:off x="1276350" y="3162300"/>
            <a:ext cx="102298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12B3C"/>
                </a:solidFill>
                <a:latin typeface="DejaVu Sans"/>
                <a:ea typeface="DejaVu Sans"/>
                <a:cs typeface="DejaVu Sans"/>
              </a:defRPr>
            </a:pPr>
            <a:r>
              <a:rPr sz="2025" b="0">
                <a:solidFill>
                  <a:srgbClr val="112B3C"/>
                </a:solidFill>
                <a:latin typeface="DejaVu Sans"/>
                <a:ea typeface="DejaVu Sans"/>
                <a:cs typeface="DejaVu Sans"/>
              </a:rPr>
              <a:t>Folium and Dash make geographic context and filtered outcomes easier to explore.</a:t>
            </a:r>
          </a:p>
        </p:txBody>
      </p:sp>
      <p:sp>
        <p:nvSpPr>
          <p:cNvPr id="12" name="">
            <a:extLst xmlns:a="http://schemas.openxmlformats.org/drawingml/2006/main">
              <a:ext uri="{FF2B5EF4-FFF2-40B4-BE49-F238E27FC236}">
                <a16:creationId xmlns:a16="http://schemas.microsoft.com/office/drawing/2014/main" id="{14EACDB8-34D2-4856-82B0-18B558037D66}"/>
              </a:ext>
            </a:extLst>
          </p:cNvPr>
          <p:cNvSpPr>
            <a:spLocks xmlns:a="http://schemas.openxmlformats.org/drawingml/2006/main" noGrp="1"/>
          </p:cNvSpPr>
          <p:nvPr/>
        </p:nvSpPr>
        <p:spPr>
          <a:xfrm xmlns:a="http://schemas.openxmlformats.org/drawingml/2006/main">
            <a:off x="552450" y="40481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D16635"/>
                </a:solidFill>
                <a:latin typeface="DejaVu Sans"/>
                <a:ea typeface="DejaVu Sans"/>
                <a:cs typeface="DejaVu Sans"/>
              </a:defRPr>
            </a:pPr>
            <a:r>
              <a:rPr sz="2025" b="1">
                <a:solidFill>
                  <a:srgbClr val="D16635"/>
                </a:solidFill>
                <a:latin typeface="DejaVu Sans"/>
                <a:ea typeface="DejaVu Sans"/>
                <a:cs typeface="DejaVu Sans"/>
              </a:rPr>
              <a:t>03</a:t>
            </a:r>
          </a:p>
        </p:txBody>
      </p:sp>
      <p:sp>
        <p:nvSpPr>
          <p:cNvPr id="13" name="">
            <a:extLst xmlns:a="http://schemas.openxmlformats.org/drawingml/2006/main">
              <a:ext uri="{FF2B5EF4-FFF2-40B4-BE49-F238E27FC236}">
                <a16:creationId xmlns:a16="http://schemas.microsoft.com/office/drawing/2014/main" id="{BDF6D070-FDBA-4FDA-8640-5DCC356EF1FD}"/>
              </a:ext>
            </a:extLst>
          </p:cNvPr>
          <p:cNvSpPr>
            <a:spLocks xmlns:a="http://schemas.openxmlformats.org/drawingml/2006/main" noGrp="1"/>
          </p:cNvSpPr>
          <p:nvPr/>
        </p:nvSpPr>
        <p:spPr>
          <a:xfrm xmlns:a="http://schemas.openxmlformats.org/drawingml/2006/main">
            <a:off x="1276350" y="4048125"/>
            <a:ext cx="102298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12B3C"/>
                </a:solidFill>
                <a:latin typeface="DejaVu Sans"/>
                <a:ea typeface="DejaVu Sans"/>
                <a:cs typeface="DejaVu Sans"/>
              </a:defRPr>
            </a:pPr>
            <a:r>
              <a:rPr sz="2025" b="0">
                <a:solidFill>
                  <a:srgbClr val="112B3C"/>
                </a:solidFill>
                <a:latin typeface="DejaVu Sans"/>
                <a:ea typeface="DejaVu Sans"/>
                <a:cs typeface="DejaVu Sans"/>
              </a:rPr>
              <a:t>LR, SVM and KNN reach 83.33% in the saved test run; tree reaches 77.78%.</a:t>
            </a:r>
          </a:p>
        </p:txBody>
      </p:sp>
      <p:sp>
        <p:nvSpPr>
          <p:cNvPr id="14" name="">
            <a:extLst xmlns:a="http://schemas.openxmlformats.org/drawingml/2006/main">
              <a:ext uri="{FF2B5EF4-FFF2-40B4-BE49-F238E27FC236}">
                <a16:creationId xmlns:a16="http://schemas.microsoft.com/office/drawing/2014/main" id="{C9562893-27F8-4DAE-BA65-9E6F0605CA9B}"/>
              </a:ext>
            </a:extLst>
          </p:cNvPr>
          <p:cNvSpPr>
            <a:spLocks xmlns:a="http://schemas.openxmlformats.org/drawingml/2006/main" noGrp="1"/>
          </p:cNvSpPr>
          <p:nvPr/>
        </p:nvSpPr>
        <p:spPr>
          <a:xfrm xmlns:a="http://schemas.openxmlformats.org/drawingml/2006/main">
            <a:off x="552450" y="493395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D16635"/>
                </a:solidFill>
                <a:latin typeface="DejaVu Sans"/>
                <a:ea typeface="DejaVu Sans"/>
                <a:cs typeface="DejaVu Sans"/>
              </a:defRPr>
            </a:pPr>
            <a:r>
              <a:rPr sz="2025" b="1">
                <a:solidFill>
                  <a:srgbClr val="D16635"/>
                </a:solidFill>
                <a:latin typeface="DejaVu Sans"/>
                <a:ea typeface="DejaVu Sans"/>
                <a:cs typeface="DejaVu Sans"/>
              </a:rPr>
              <a:t>04</a:t>
            </a:r>
          </a:p>
        </p:txBody>
      </p:sp>
      <p:sp>
        <p:nvSpPr>
          <p:cNvPr id="15" name="">
            <a:extLst xmlns:a="http://schemas.openxmlformats.org/drawingml/2006/main">
              <a:ext uri="{FF2B5EF4-FFF2-40B4-BE49-F238E27FC236}">
                <a16:creationId xmlns:a16="http://schemas.microsoft.com/office/drawing/2014/main" id="{BD3E40D3-6BE1-4587-9AA6-9DD9ABD6B089}"/>
              </a:ext>
            </a:extLst>
          </p:cNvPr>
          <p:cNvSpPr>
            <a:spLocks xmlns:a="http://schemas.openxmlformats.org/drawingml/2006/main" noGrp="1"/>
          </p:cNvSpPr>
          <p:nvPr/>
        </p:nvSpPr>
        <p:spPr>
          <a:xfrm xmlns:a="http://schemas.openxmlformats.org/drawingml/2006/main">
            <a:off x="1276350" y="4933950"/>
            <a:ext cx="102298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12B3C"/>
                </a:solidFill>
                <a:latin typeface="DejaVu Sans"/>
                <a:ea typeface="DejaVu Sans"/>
                <a:cs typeface="DejaVu Sans"/>
              </a:defRPr>
            </a:pPr>
            <a:r>
              <a:rPr sz="2025" b="0">
                <a:solidFill>
                  <a:srgbClr val="112B3C"/>
                </a:solidFill>
                <a:latin typeface="DejaVu Sans"/>
                <a:ea typeface="DejaVu Sans"/>
                <a:cs typeface="DejaVu Sans"/>
              </a:rPr>
              <a:t>Next priority: remove leakage, validate across time and align the label with the intended decision.</a:t>
            </a:r>
          </a:p>
        </p:txBody>
      </p:sp>
    </p:spTree>
    <p:extLst>
      <p:ext uri="{BB962C8B-B14F-4D97-AF65-F5344CB8AC3E}">
        <p14:creationId xmlns:p14="http://schemas.microsoft.com/office/powerpoint/2010/main" val="105298260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80C44E-B8D2-4FC8-819F-27C0AA9CACB2}"/>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REPRODUCIBILITY</a:t>
            </a:r>
          </a:p>
        </p:txBody>
      </p:sp>
      <p:sp>
        <p:nvSpPr>
          <p:cNvPr id="2" name="">
            <a:extLst xmlns:a="http://schemas.openxmlformats.org/drawingml/2006/main">
              <a:ext uri="{FF2B5EF4-FFF2-40B4-BE49-F238E27FC236}">
                <a16:creationId xmlns:a16="http://schemas.microsoft.com/office/drawing/2014/main" id="{F6024929-0D30-4C9F-A6EE-1B488EBF0E8A}"/>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Project repository and accompanying files</a:t>
            </a:r>
          </a:p>
        </p:txBody>
      </p:sp>
      <p:sp>
        <p:nvSpPr>
          <p:cNvPr id="3" name="">
            <a:extLst xmlns:a="http://schemas.openxmlformats.org/drawingml/2006/main">
              <a:ext uri="{FF2B5EF4-FFF2-40B4-BE49-F238E27FC236}">
                <a16:creationId xmlns:a16="http://schemas.microsoft.com/office/drawing/2014/main" id="{BBED4C9D-68DE-4434-B608-20BDFDB2B804}"/>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The code package preserves the supplied notebooks and adds runnable companion scripts.</a:t>
            </a:r>
          </a:p>
        </p:txBody>
      </p:sp>
      <p:sp>
        <p:nvSpPr>
          <p:cNvPr id="4" name="">
            <a:extLst xmlns:a="http://schemas.openxmlformats.org/drawingml/2006/main">
              <a:ext uri="{FF2B5EF4-FFF2-40B4-BE49-F238E27FC236}">
                <a16:creationId xmlns:a16="http://schemas.microsoft.com/office/drawing/2014/main" id="{C2723E9B-7CC1-4540-BB06-4D175FD346F4}"/>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651debad05694429"/>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0FC3160E-39BD-404A-9389-9D01AA0E8A62}"/>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BDC24C2-C0EF-459D-8B48-5FBCCACD2C65}"/>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6481FC45-5047-4C5A-A6C9-57C33D9C98FD}"/>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39</a:t>
            </a:r>
          </a:p>
        </p:txBody>
      </p:sp>
      <p:sp>
        <p:nvSpPr>
          <p:cNvPr id="8" name="">
            <a:extLst xmlns:a="http://schemas.openxmlformats.org/drawingml/2006/main">
              <a:ext uri="{FF2B5EF4-FFF2-40B4-BE49-F238E27FC236}">
                <a16:creationId xmlns:a16="http://schemas.microsoft.com/office/drawing/2014/main" id="{0B9A3D2A-C056-47A6-8E44-E445FE7DC122}"/>
              </a:ext>
            </a:extLst>
          </p:cNvPr>
          <p:cNvSpPr>
            <a:spLocks xmlns:a="http://schemas.openxmlformats.org/drawingml/2006/main" noGrp="1"/>
          </p:cNvSpPr>
          <p:nvPr/>
        </p:nvSpPr>
        <p:spPr>
          <a:xfrm xmlns:a="http://schemas.openxmlformats.org/drawingml/2006/main">
            <a:off x="552450" y="2209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12B3C"/>
                </a:solidFill>
                <a:latin typeface="DejaVu Sans"/>
                <a:ea typeface="DejaVu Sans"/>
                <a:cs typeface="DejaVu Sans"/>
              </a:defRPr>
            </a:pPr>
            <a:r>
              <a:rPr sz="2175" b="1">
                <a:solidFill>
                  <a:srgbClr val="112B3C"/>
                </a:solidFill>
                <a:latin typeface="DejaVu Sans"/>
                <a:ea typeface="DejaVu Sans"/>
                <a:cs typeface="DejaVu Sans"/>
              </a:rPr>
              <a:t>GitHub repository</a:t>
            </a:r>
          </a:p>
        </p:txBody>
      </p:sp>
      <p:sp>
        <p:nvSpPr>
          <p:cNvPr id="9" name="">
            <a:extLst xmlns:a="http://schemas.openxmlformats.org/drawingml/2006/main">
              <a:ext uri="{FF2B5EF4-FFF2-40B4-BE49-F238E27FC236}">
                <a16:creationId xmlns:a16="http://schemas.microsoft.com/office/drawing/2014/main" id="{DDAEBA74-0D70-4D90-9F80-E35897BC0208}"/>
              </a:ext>
            </a:extLst>
          </p:cNvPr>
          <p:cNvSpPr>
            <a:spLocks xmlns:a="http://schemas.openxmlformats.org/drawingml/2006/main" noGrp="1"/>
          </p:cNvSpPr>
          <p:nvPr/>
        </p:nvSpPr>
        <p:spPr>
          <a:xfrm xmlns:a="http://schemas.openxmlformats.org/drawingml/2006/main">
            <a:off x="552450" y="27622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24678A"/>
                </a:solidFill>
                <a:latin typeface="DejaVu Sans"/>
                <a:ea typeface="DejaVu Sans"/>
                <a:cs typeface="DejaVu Sans"/>
              </a:defRPr>
            </a:pPr>
            <a:r>
              <a:rPr sz="1650" b="0">
                <a:solidFill>
                  <a:srgbClr val="24678A"/>
                </a:solidFill>
                <a:latin typeface="DejaVu Sans"/>
                <a:ea typeface="DejaVu Sans"/>
                <a:cs typeface="DejaVu Sans"/>
                <a:hlinkClick xmlns:r="http://schemas.openxmlformats.org/officeDocument/2006/relationships" r:id="R688839e373ed418c"/>
              </a:rPr>
              <a:t>https://github.com/Cristian210600/SpaceX-Falcon9-Landing-prediction</a:t>
            </a:r>
          </a:p>
        </p:txBody>
      </p:sp>
      <p:graphicFrame>
        <p:nvGraphicFramePr>
          <p:cNvPr id="20" name=""/>
          <p:cNvGraphicFramePr/>
          <p:nvPr/>
        </p:nvGraphicFramePr>
        <p:xfrm>
          <a:off xmlns:a="http://schemas.openxmlformats.org/drawingml/2006/main" x="552450" y="3400425"/>
          <a:ext xmlns:a="http://schemas.openxmlformats.org/drawingml/2006/main" cx="11087100" cy="2333625"/>
        </p:xfrm>
        <a:graphic xmlns:a="http://schemas.openxmlformats.org/drawingml/2006/main">
          <a:graphicData uri="http://schemas.openxmlformats.org/drawingml/2006/table">
            <a:tbl>
              <a:tblPr/>
              <a:tblGrid>
                <a:gridCol w="2857500"/>
                <a:gridCol w="8229600"/>
              </a:tblGrid>
              <a:tr h="466725">
                <a:tc>
                  <a:txBody>
                    <a:bodyPr/>
                    <a:lstStyle/>
                    <a:p>
                      <a:r>
                        <a:rPr sz="1650" b="1">
                          <a:solidFill>
                            <a:srgbClr val="FFFFFF"/>
                          </a:solidFill>
                          <a:latin typeface="DejaVu Sans"/>
                          <a:ea typeface="DejaVu Sans"/>
                          <a:cs typeface="DejaVu Sans"/>
                        </a:rPr>
                        <a:t>Directory</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Contents</a:t>
                      </a:r>
                    </a:p>
                  </a:txBody>
                  <a:tcPr marL="91440" marR="91440" marT="45720" marB="45720">
                    <a:solidFill>
                      <a:srgbClr val="112B3C"/>
                    </a:solidFill>
                  </a:tcPr>
                </a:tc>
              </a:tr>
              <a:tr h="466725">
                <a:tc>
                  <a:txBody>
                    <a:bodyPr/>
                    <a:lstStyle/>
                    <a:p>
                      <a:r>
                        <a:rPr sz="1650" b="0">
                          <a:solidFill>
                            <a:srgbClr val="112B3C"/>
                          </a:solidFill>
                          <a:latin typeface="DejaVu Sans"/>
                          <a:ea typeface="DejaVu Sans"/>
                          <a:cs typeface="DejaVu Sans"/>
                        </a:rPr>
                        <a:t>notebooks/</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Seven supplied project notebooks</a:t>
                      </a:r>
                    </a:p>
                  </a:txBody>
                  <a:tcPr marL="91440" marR="91440" marT="45720" marB="45720">
                    <a:solidFill>
                      <a:srgbClr val="FFFFFF"/>
                    </a:solidFill>
                  </a:tcPr>
                </a:tc>
              </a:tr>
              <a:tr h="466725">
                <a:tc>
                  <a:txBody>
                    <a:bodyPr/>
                    <a:lstStyle/>
                    <a:p>
                      <a:r>
                        <a:rPr sz="1650" b="0">
                          <a:solidFill>
                            <a:srgbClr val="112B3C"/>
                          </a:solidFill>
                          <a:latin typeface="DejaVu Sans"/>
                          <a:ea typeface="DejaVu Sans"/>
                          <a:cs typeface="DejaVu Sans"/>
                        </a:rPr>
                        <a:t>app/ and sql/</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Dashboard script; original SQL exercises; report queries</a:t>
                      </a:r>
                    </a:p>
                  </a:txBody>
                  <a:tcPr marL="91440" marR="91440" marT="45720" marB="45720">
                    <a:solidFill>
                      <a:srgbClr val="F3F6F8"/>
                    </a:solidFill>
                  </a:tcPr>
                </a:tc>
              </a:tr>
              <a:tr h="466725">
                <a:tc>
                  <a:txBody>
                    <a:bodyPr/>
                    <a:lstStyle/>
                    <a:p>
                      <a:r>
                        <a:rPr sz="1650" b="0">
                          <a:solidFill>
                            <a:srgbClr val="112B3C"/>
                          </a:solidFill>
                          <a:latin typeface="DejaVu Sans"/>
                          <a:ea typeface="DejaVu Sans"/>
                          <a:cs typeface="DejaVu Sans"/>
                        </a:rPr>
                        <a:t>data/</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Six course CSV snapshots with source information</a:t>
                      </a:r>
                    </a:p>
                  </a:txBody>
                  <a:tcPr marL="91440" marR="91440" marT="45720" marB="45720">
                    <a:solidFill>
                      <a:srgbClr val="FFFFFF"/>
                    </a:solidFill>
                  </a:tcPr>
                </a:tc>
              </a:tr>
              <a:tr h="466725">
                <a:tc>
                  <a:txBody>
                    <a:bodyPr/>
                    <a:lstStyle/>
                    <a:p>
                      <a:r>
                        <a:rPr sz="1650" b="0">
                          <a:solidFill>
                            <a:srgbClr val="112B3C"/>
                          </a:solidFill>
                          <a:latin typeface="DejaVu Sans"/>
                          <a:ea typeface="DejaVu Sans"/>
                          <a:cs typeface="DejaVu Sans"/>
                        </a:rPr>
                        <a:t>reports/</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Revised PDF / PowerPoint; interactive Folium HTML</a:t>
                      </a:r>
                    </a:p>
                  </a:txBody>
                  <a:tcPr marL="91440" marR="91440" marT="45720" marB="45720">
                    <a:solidFill>
                      <a:srgbClr val="F3F6F8"/>
                    </a:solidFill>
                  </a:tcPr>
                </a:tc>
              </a:tr>
            </a:tbl>
          </a:graphicData>
        </a:graphic>
      </p:graphicFrame>
    </p:spTree>
    <p:extLst>
      <p:ext uri="{BB962C8B-B14F-4D97-AF65-F5344CB8AC3E}">
        <p14:creationId xmlns:p14="http://schemas.microsoft.com/office/powerpoint/2010/main" val="53743940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C4EC7C-702B-40EF-9B17-34D7BF437358}"/>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REPORT GUIDE</a:t>
            </a:r>
          </a:p>
        </p:txBody>
      </p:sp>
      <p:sp>
        <p:nvSpPr>
          <p:cNvPr id="2" name="">
            <a:extLst xmlns:a="http://schemas.openxmlformats.org/drawingml/2006/main">
              <a:ext uri="{FF2B5EF4-FFF2-40B4-BE49-F238E27FC236}">
                <a16:creationId xmlns:a16="http://schemas.microsoft.com/office/drawing/2014/main" id="{89FA0E60-40F5-48F7-999F-3190D4330741}"/>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Submission requirements and evidence</a:t>
            </a:r>
          </a:p>
        </p:txBody>
      </p:sp>
      <p:sp>
        <p:nvSpPr>
          <p:cNvPr id="3" name="">
            <a:extLst xmlns:a="http://schemas.openxmlformats.org/drawingml/2006/main">
              <a:ext uri="{FF2B5EF4-FFF2-40B4-BE49-F238E27FC236}">
                <a16:creationId xmlns:a16="http://schemas.microsoft.com/office/drawing/2014/main" id="{9AFBEB6A-5B07-4491-A61E-1EAC319BB080}"/>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The presentation separates methods, observed results and recommendations.</a:t>
            </a:r>
          </a:p>
        </p:txBody>
      </p:sp>
      <p:sp>
        <p:nvSpPr>
          <p:cNvPr id="4" name="">
            <a:extLst xmlns:a="http://schemas.openxmlformats.org/drawingml/2006/main">
              <a:ext uri="{FF2B5EF4-FFF2-40B4-BE49-F238E27FC236}">
                <a16:creationId xmlns:a16="http://schemas.microsoft.com/office/drawing/2014/main" id="{20202FE8-79C5-451C-9E8C-658D38008B88}"/>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fde73625c386421e"/>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29E7FFF5-8DF8-4F1E-9F04-D9662E08C2A7}"/>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EBDDE32-A838-4F0C-935B-6437A585E5EE}"/>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954681D5-8A28-44CA-93D6-FC4927DB7DDD}"/>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40</a:t>
            </a:r>
          </a:p>
        </p:txBody>
      </p:sp>
      <p:graphicFrame>
        <p:nvGraphicFramePr>
          <p:cNvPr id="17" name=""/>
          <p:cNvGraphicFramePr/>
          <p:nvPr/>
        </p:nvGraphicFramePr>
        <p:xfrm>
          <a:off xmlns:a="http://schemas.openxmlformats.org/drawingml/2006/main" x="552450" y="2181225"/>
          <a:ext xmlns:a="http://schemas.openxmlformats.org/drawingml/2006/main" cx="11087100" cy="3286125"/>
        </p:xfrm>
        <a:graphic xmlns:a="http://schemas.openxmlformats.org/drawingml/2006/main">
          <a:graphicData uri="http://schemas.openxmlformats.org/drawingml/2006/table">
            <a:tbl>
              <a:tblPr/>
              <a:tblGrid>
                <a:gridCol w="3476625"/>
                <a:gridCol w="7610475"/>
              </a:tblGrid>
              <a:tr h="469446">
                <a:tc>
                  <a:txBody>
                    <a:bodyPr/>
                    <a:lstStyle/>
                    <a:p>
                      <a:r>
                        <a:rPr sz="1650" b="1">
                          <a:solidFill>
                            <a:srgbClr val="FFFFFF"/>
                          </a:solidFill>
                          <a:latin typeface="DejaVu Sans"/>
                          <a:ea typeface="DejaVu Sans"/>
                          <a:cs typeface="DejaVu Sans"/>
                        </a:rPr>
                        <a:t>Rubric area</a:t>
                      </a:r>
                    </a:p>
                  </a:txBody>
                  <a:tcPr marL="91440" marR="91440" marT="45720" marB="45720">
                    <a:solidFill>
                      <a:srgbClr val="112B3C"/>
                    </a:solidFill>
                  </a:tcPr>
                </a:tc>
                <a:tc>
                  <a:txBody>
                    <a:bodyPr/>
                    <a:lstStyle/>
                    <a:p>
                      <a:r>
                        <a:rPr sz="1650" b="1">
                          <a:solidFill>
                            <a:srgbClr val="FFFFFF"/>
                          </a:solidFill>
                          <a:latin typeface="DejaVu Sans"/>
                          <a:ea typeface="DejaVu Sans"/>
                          <a:cs typeface="DejaVu Sans"/>
                        </a:rPr>
                        <a:t>Evidence in this presentation</a:t>
                      </a:r>
                    </a:p>
                  </a:txBody>
                  <a:tcPr marL="91440" marR="91440" marT="45720" marB="45720">
                    <a:solidFill>
                      <a:srgbClr val="112B3C"/>
                    </a:solidFill>
                  </a:tcPr>
                </a:tc>
              </a:tr>
              <a:tr h="469446">
                <a:tc>
                  <a:txBody>
                    <a:bodyPr/>
                    <a:lstStyle/>
                    <a:p>
                      <a:r>
                        <a:rPr sz="1650" b="0">
                          <a:solidFill>
                            <a:srgbClr val="112B3C"/>
                          </a:solidFill>
                          <a:latin typeface="DejaVu Sans"/>
                          <a:ea typeface="DejaVu Sans"/>
                          <a:cs typeface="DejaVu Sans"/>
                        </a:rPr>
                        <a:t>Summary and introduction</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Executive findings; target definition; project motivation</a:t>
                      </a:r>
                    </a:p>
                  </a:txBody>
                  <a:tcPr marL="91440" marR="91440" marT="45720" marB="45720">
                    <a:solidFill>
                      <a:srgbClr val="FFFFFF"/>
                    </a:solidFill>
                  </a:tcPr>
                </a:tc>
              </a:tr>
              <a:tr h="469446">
                <a:tc>
                  <a:txBody>
                    <a:bodyPr/>
                    <a:lstStyle/>
                    <a:p>
                      <a:r>
                        <a:rPr sz="1650" b="0">
                          <a:solidFill>
                            <a:srgbClr val="112B3C"/>
                          </a:solidFill>
                          <a:latin typeface="DejaVu Sans"/>
                          <a:ea typeface="DejaVu Sans"/>
                          <a:cs typeface="DejaVu Sans"/>
                        </a:rPr>
                        <a:t>Collection and wrangling</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API, scraping, cleaning and target-mapping slides</a:t>
                      </a:r>
                    </a:p>
                  </a:txBody>
                  <a:tcPr marL="91440" marR="91440" marT="45720" marB="45720">
                    <a:solidFill>
                      <a:srgbClr val="F3F6F8"/>
                    </a:solidFill>
                  </a:tcPr>
                </a:tc>
              </a:tr>
              <a:tr h="469446">
                <a:tc>
                  <a:txBody>
                    <a:bodyPr/>
                    <a:lstStyle/>
                    <a:p>
                      <a:r>
                        <a:rPr sz="1650" b="0">
                          <a:solidFill>
                            <a:srgbClr val="112B3C"/>
                          </a:solidFill>
                          <a:latin typeface="DejaVu Sans"/>
                          <a:ea typeface="DejaVu Sans"/>
                          <a:cs typeface="DejaVu Sans"/>
                        </a:rPr>
                        <a:t>EDA visualization and SQL</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Scatter, site/orbit bars, annual trends; queries and results</a:t>
                      </a:r>
                    </a:p>
                  </a:txBody>
                  <a:tcPr marL="91440" marR="91440" marT="45720" marB="45720">
                    <a:solidFill>
                      <a:srgbClr val="FFFFFF"/>
                    </a:solidFill>
                  </a:tcPr>
                </a:tc>
              </a:tr>
              <a:tr h="469446">
                <a:tc>
                  <a:txBody>
                    <a:bodyPr/>
                    <a:lstStyle/>
                    <a:p>
                      <a:r>
                        <a:rPr sz="1650" b="0">
                          <a:solidFill>
                            <a:srgbClr val="112B3C"/>
                          </a:solidFill>
                          <a:latin typeface="DejaVu Sans"/>
                          <a:ea typeface="DejaVu Sans"/>
                          <a:cs typeface="DejaVu Sans"/>
                        </a:rPr>
                        <a:t>Interactive analytics</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Folium inputs/results + companion map; supplied Dash screenshots</a:t>
                      </a:r>
                    </a:p>
                  </a:txBody>
                  <a:tcPr marL="91440" marR="91440" marT="45720" marB="45720">
                    <a:solidFill>
                      <a:srgbClr val="F3F6F8"/>
                    </a:solidFill>
                  </a:tcPr>
                </a:tc>
              </a:tr>
              <a:tr h="469446">
                <a:tc>
                  <a:txBody>
                    <a:bodyPr/>
                    <a:lstStyle/>
                    <a:p>
                      <a:r>
                        <a:rPr sz="1650" b="0">
                          <a:solidFill>
                            <a:srgbClr val="112B3C"/>
                          </a:solidFill>
                          <a:latin typeface="DejaVu Sans"/>
                          <a:ea typeface="DejaVu Sans"/>
                          <a:cs typeface="DejaVu Sans"/>
                        </a:rPr>
                        <a:t>Classification and conclusion</a:t>
                      </a:r>
                    </a:p>
                  </a:txBody>
                  <a:tcPr marL="91440" marR="91440" marT="45720" marB="45720">
                    <a:solidFill>
                      <a:srgbClr val="FFFFFF"/>
                    </a:solidFill>
                  </a:tcPr>
                </a:tc>
                <a:tc>
                  <a:txBody>
                    <a:bodyPr/>
                    <a:lstStyle/>
                    <a:p>
                      <a:r>
                        <a:rPr sz="1650" b="0">
                          <a:solidFill>
                            <a:srgbClr val="112B3C"/>
                          </a:solidFill>
                          <a:latin typeface="DejaVu Sans"/>
                          <a:ea typeface="DejaVu Sans"/>
                          <a:cs typeface="DejaVu Sans"/>
                        </a:rPr>
                        <a:t>Four models, CV/test scores, confusion matrices, model choice</a:t>
                      </a:r>
                    </a:p>
                  </a:txBody>
                  <a:tcPr marL="91440" marR="91440" marT="45720" marB="45720">
                    <a:solidFill>
                      <a:srgbClr val="FFFFFF"/>
                    </a:solidFill>
                  </a:tcPr>
                </a:tc>
              </a:tr>
              <a:tr h="469446">
                <a:tc>
                  <a:txBody>
                    <a:bodyPr/>
                    <a:lstStyle/>
                    <a:p>
                      <a:r>
                        <a:rPr sz="1650" b="0">
                          <a:solidFill>
                            <a:srgbClr val="112B3C"/>
                          </a:solidFill>
                          <a:latin typeface="DejaVu Sans"/>
                          <a:ea typeface="DejaVu Sans"/>
                          <a:cs typeface="DejaVu Sans"/>
                        </a:rPr>
                        <a:t>Reproducibility</a:t>
                      </a:r>
                    </a:p>
                  </a:txBody>
                  <a:tcPr marL="91440" marR="91440" marT="45720" marB="45720">
                    <a:solidFill>
                      <a:srgbClr val="F3F6F8"/>
                    </a:solidFill>
                  </a:tcPr>
                </a:tc>
                <a:tc>
                  <a:txBody>
                    <a:bodyPr/>
                    <a:lstStyle/>
                    <a:p>
                      <a:r>
                        <a:rPr sz="1650" b="0">
                          <a:solidFill>
                            <a:srgbClr val="112B3C"/>
                          </a:solidFill>
                          <a:latin typeface="DejaVu Sans"/>
                          <a:ea typeface="DejaVu Sans"/>
                          <a:cs typeface="DejaVu Sans"/>
                        </a:rPr>
                        <a:t>Repository URL on methodology/result slides and in code package</a:t>
                      </a:r>
                    </a:p>
                  </a:txBody>
                  <a:tcPr marL="91440" marR="91440" marT="45720" marB="45720">
                    <a:solidFill>
                      <a:srgbClr val="F3F6F8"/>
                    </a:solidFill>
                  </a:tcPr>
                </a:tc>
              </a:tr>
            </a:tbl>
          </a:graphicData>
        </a:graphic>
      </p:graphicFrame>
      <p:sp>
        <p:nvSpPr>
          <p:cNvPr id="9" name="">
            <a:extLst xmlns:a="http://schemas.openxmlformats.org/drawingml/2006/main">
              <a:ext uri="{FF2B5EF4-FFF2-40B4-BE49-F238E27FC236}">
                <a16:creationId xmlns:a16="http://schemas.microsoft.com/office/drawing/2014/main" id="{7501CAC3-FE70-477E-A9B5-C30E4190BF45}"/>
              </a:ext>
            </a:extLst>
          </p:cNvPr>
          <p:cNvSpPr>
            <a:spLocks xmlns:a="http://schemas.openxmlformats.org/drawingml/2006/main" noGrp="1"/>
          </p:cNvSpPr>
          <p:nvPr/>
        </p:nvSpPr>
        <p:spPr>
          <a:xfrm xmlns:a="http://schemas.openxmlformats.org/drawingml/2006/main">
            <a:off x="552450" y="5686425"/>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D16635"/>
                </a:solidFill>
                <a:latin typeface="DejaVu Sans"/>
                <a:ea typeface="DejaVu Sans"/>
                <a:cs typeface="DejaVu Sans"/>
              </a:defRPr>
            </a:pPr>
            <a:r>
              <a:rPr sz="1575" b="1">
                <a:solidFill>
                  <a:srgbClr val="D16635"/>
                </a:solidFill>
                <a:latin typeface="DejaVu Sans"/>
                <a:ea typeface="DejaVu Sans"/>
                <a:cs typeface="DejaVu Sans"/>
              </a:rPr>
              <a:t>Remaining evidence gap: add actual Folium basemap screenshots to the geographic slides.</a:t>
            </a:r>
          </a:p>
        </p:txBody>
      </p:sp>
    </p:spTree>
    <p:extLst>
      <p:ext uri="{BB962C8B-B14F-4D97-AF65-F5344CB8AC3E}">
        <p14:creationId xmlns:p14="http://schemas.microsoft.com/office/powerpoint/2010/main" val="472976901"/>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623B3E-A4C9-4469-84E7-A57670972EF5}"/>
              </a:ext>
            </a:extLst>
          </p:cNvPr>
          <p:cNvSpPr>
            <a:spLocks xmlns:a="http://schemas.openxmlformats.org/drawingml/2006/main" noGrp="1"/>
          </p:cNvSpPr>
          <p:nvPr/>
        </p:nvSpPr>
        <p:spPr>
          <a:xfrm xmlns:a="http://schemas.openxmlformats.org/drawingml/2006/main">
            <a:off x="552450" y="2476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24678A"/>
                </a:solidFill>
                <a:latin typeface="DejaVu Sans"/>
                <a:ea typeface="DejaVu Sans"/>
                <a:cs typeface="DejaVu Sans"/>
              </a:defRPr>
            </a:pPr>
            <a:r>
              <a:rPr sz="1050" b="1">
                <a:solidFill>
                  <a:srgbClr val="24678A"/>
                </a:solidFill>
                <a:latin typeface="DejaVu Sans"/>
                <a:ea typeface="DejaVu Sans"/>
                <a:cs typeface="DejaVu Sans"/>
              </a:rPr>
              <a:t>REFERENCES</a:t>
            </a:r>
          </a:p>
        </p:txBody>
      </p:sp>
      <p:sp>
        <p:nvSpPr>
          <p:cNvPr id="2" name="">
            <a:extLst xmlns:a="http://schemas.openxmlformats.org/drawingml/2006/main">
              <a:ext uri="{FF2B5EF4-FFF2-40B4-BE49-F238E27FC236}">
                <a16:creationId xmlns:a16="http://schemas.microsoft.com/office/drawing/2014/main" id="{30A73B3C-121C-4985-AEEF-97248C7CD519}"/>
              </a:ext>
            </a:extLst>
          </p:cNvPr>
          <p:cNvSpPr>
            <a:spLocks xmlns:a="http://schemas.openxmlformats.org/drawingml/2006/main" noGrp="1"/>
          </p:cNvSpPr>
          <p:nvPr/>
        </p:nvSpPr>
        <p:spPr>
          <a:xfrm xmlns:a="http://schemas.openxmlformats.org/drawingml/2006/main">
            <a:off x="552450" y="6858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2B3C"/>
                </a:solidFill>
                <a:latin typeface="DejaVu Sans"/>
                <a:ea typeface="DejaVu Sans"/>
                <a:cs typeface="DejaVu Sans"/>
              </a:defRPr>
            </a:pPr>
            <a:r>
              <a:rPr sz="3000" b="1">
                <a:solidFill>
                  <a:srgbClr val="112B3C"/>
                </a:solidFill>
                <a:latin typeface="DejaVu Sans"/>
                <a:ea typeface="DejaVu Sans"/>
                <a:cs typeface="DejaVu Sans"/>
              </a:rPr>
              <a:t>Sources and evidence trail</a:t>
            </a:r>
          </a:p>
        </p:txBody>
      </p:sp>
      <p:sp>
        <p:nvSpPr>
          <p:cNvPr id="3" name="">
            <a:extLst xmlns:a="http://schemas.openxmlformats.org/drawingml/2006/main">
              <a:ext uri="{FF2B5EF4-FFF2-40B4-BE49-F238E27FC236}">
                <a16:creationId xmlns:a16="http://schemas.microsoft.com/office/drawing/2014/main" id="{A74ACC4B-A7B0-412B-9CD6-0BE16BB7663E}"/>
              </a:ext>
            </a:extLst>
          </p:cNvPr>
          <p:cNvSpPr>
            <a:spLocks xmlns:a="http://schemas.openxmlformats.org/drawingml/2006/main" noGrp="1"/>
          </p:cNvSpPr>
          <p:nvPr/>
        </p:nvSpPr>
        <p:spPr>
          <a:xfrm xmlns:a="http://schemas.openxmlformats.org/drawingml/2006/main">
            <a:off x="552450" y="15906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56774"/>
                </a:solidFill>
                <a:latin typeface="DejaVu Sans"/>
                <a:ea typeface="DejaVu Sans"/>
                <a:cs typeface="DejaVu Sans"/>
              </a:defRPr>
            </a:pPr>
            <a:r>
              <a:rPr sz="1650" b="0">
                <a:solidFill>
                  <a:srgbClr val="556774"/>
                </a:solidFill>
                <a:latin typeface="DejaVu Sans"/>
                <a:ea typeface="DejaVu Sans"/>
                <a:cs typeface="DejaVu Sans"/>
              </a:rPr>
              <a:t>Every quantitative result is tied to a course snapshot or saved notebook output.</a:t>
            </a:r>
          </a:p>
        </p:txBody>
      </p:sp>
      <p:sp>
        <p:nvSpPr>
          <p:cNvPr id="4" name="">
            <a:extLst xmlns:a="http://schemas.openxmlformats.org/drawingml/2006/main">
              <a:ext uri="{FF2B5EF4-FFF2-40B4-BE49-F238E27FC236}">
                <a16:creationId xmlns:a16="http://schemas.microsoft.com/office/drawing/2014/main" id="{A5EBD0AB-E6BC-4A27-AB7F-4B0EDA37554F}"/>
              </a:ext>
            </a:extLst>
          </p:cNvPr>
          <p:cNvSpPr>
            <a:spLocks xmlns:a="http://schemas.openxmlformats.org/drawingml/2006/main" noGrp="1"/>
          </p:cNvSpPr>
          <p:nvPr/>
        </p:nvSpPr>
        <p:spPr>
          <a:xfrm xmlns:a="http://schemas.openxmlformats.org/drawingml/2006/main">
            <a:off x="552450" y="61531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24678A"/>
                </a:solidFill>
                <a:latin typeface="DejaVu Sans"/>
                <a:ea typeface="DejaVu Sans"/>
                <a:cs typeface="DejaVu Sans"/>
              </a:defRPr>
            </a:pPr>
            <a:r>
              <a:rPr sz="975" b="0">
                <a:solidFill>
                  <a:srgbClr val="24678A"/>
                </a:solidFill>
                <a:latin typeface="DejaVu Sans"/>
                <a:ea typeface="DejaVu Sans"/>
                <a:cs typeface="DejaVu Sans"/>
                <a:hlinkClick xmlns:r="http://schemas.openxmlformats.org/officeDocument/2006/relationships" r:id="R14b4ecbc8d564b6c"/>
              </a:rPr>
              <a:t>https://github.com/Cristian210600/SpaceX-Falcon9-Landing-prediction</a:t>
            </a:r>
          </a:p>
        </p:txBody>
      </p:sp>
      <p:sp>
        <p:nvSpPr>
          <p:cNvPr id="5" name="">
            <a:extLst xmlns:a="http://schemas.openxmlformats.org/drawingml/2006/main">
              <a:ext uri="{FF2B5EF4-FFF2-40B4-BE49-F238E27FC236}">
                <a16:creationId xmlns:a16="http://schemas.microsoft.com/office/drawing/2014/main" id="{20743E59-12F2-42C6-8642-05DA6E72FA9D}"/>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E2DF5E9-E915-4985-BB90-3CBA35573AA9}"/>
              </a:ext>
            </a:extLst>
          </p:cNvPr>
          <p:cNvSpPr>
            <a:spLocks xmlns:a="http://schemas.openxmlformats.org/drawingml/2006/main" noGrp="1"/>
          </p:cNvSpPr>
          <p:nvPr/>
        </p:nvSpPr>
        <p:spPr>
          <a:xfrm xmlns:a="http://schemas.openxmlformats.org/drawingml/2006/main">
            <a:off x="552450" y="6477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10D664DF-EA52-4000-AB24-B29B1B6FB07A}"/>
              </a:ext>
            </a:extLst>
          </p:cNvPr>
          <p:cNvSpPr>
            <a:spLocks xmlns:a="http://schemas.openxmlformats.org/drawingml/2006/main" noGrp="1"/>
          </p:cNvSpPr>
          <p:nvPr/>
        </p:nvSpPr>
        <p:spPr>
          <a:xfrm xmlns:a="http://schemas.openxmlformats.org/drawingml/2006/main">
            <a:off x="11191875" y="64579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56774"/>
                </a:solidFill>
                <a:latin typeface="DejaVu Sans"/>
                <a:ea typeface="DejaVu Sans"/>
                <a:cs typeface="DejaVu Sans"/>
              </a:defRPr>
            </a:pPr>
            <a:r>
              <a:rPr sz="1125" b="0">
                <a:solidFill>
                  <a:srgbClr val="556774"/>
                </a:solidFill>
                <a:latin typeface="DejaVu Sans"/>
                <a:ea typeface="DejaVu Sans"/>
                <a:cs typeface="DejaVu Sans"/>
              </a:rPr>
              <a:t>41</a:t>
            </a:r>
          </a:p>
        </p:txBody>
      </p:sp>
      <p:sp>
        <p:nvSpPr>
          <p:cNvPr id="8" name="">
            <a:extLst xmlns:a="http://schemas.openxmlformats.org/drawingml/2006/main">
              <a:ext uri="{FF2B5EF4-FFF2-40B4-BE49-F238E27FC236}">
                <a16:creationId xmlns:a16="http://schemas.microsoft.com/office/drawing/2014/main" id="{AFD42504-0A9A-4C92-9AC7-6F8E04091D22}"/>
              </a:ext>
            </a:extLst>
          </p:cNvPr>
          <p:cNvSpPr>
            <a:spLocks xmlns:a="http://schemas.openxmlformats.org/drawingml/2006/main" noGrp="1"/>
          </p:cNvSpPr>
          <p:nvPr/>
        </p:nvSpPr>
        <p:spPr>
          <a:xfrm xmlns:a="http://schemas.openxmlformats.org/drawingml/2006/main">
            <a:off x="552450" y="22479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12B3C"/>
                </a:solidFill>
                <a:latin typeface="DejaVu Sans"/>
                <a:ea typeface="DejaVu Sans"/>
                <a:cs typeface="DejaVu Sans"/>
              </a:defRPr>
            </a:pPr>
            <a:r>
              <a:rPr sz="2025" b="1">
                <a:solidFill>
                  <a:srgbClr val="112B3C"/>
                </a:solidFill>
                <a:latin typeface="DejaVu Sans"/>
                <a:ea typeface="DejaVu Sans"/>
                <a:cs typeface="DejaVu Sans"/>
              </a:rPr>
              <a:t>Primary project evidence</a:t>
            </a:r>
          </a:p>
        </p:txBody>
      </p:sp>
      <p:sp>
        <p:nvSpPr>
          <p:cNvPr id="9" name="">
            <a:extLst xmlns:a="http://schemas.openxmlformats.org/drawingml/2006/main">
              <a:ext uri="{FF2B5EF4-FFF2-40B4-BE49-F238E27FC236}">
                <a16:creationId xmlns:a16="http://schemas.microsoft.com/office/drawing/2014/main" id="{CED3C19C-07B4-4EF9-A5DB-A657D9D5F1B1}"/>
              </a:ext>
            </a:extLst>
          </p:cNvPr>
          <p:cNvSpPr>
            <a:spLocks xmlns:a="http://schemas.openxmlformats.org/drawingml/2006/main" noGrp="1"/>
          </p:cNvSpPr>
          <p:nvPr/>
        </p:nvSpPr>
        <p:spPr>
          <a:xfrm xmlns:a="http://schemas.openxmlformats.org/drawingml/2006/main">
            <a:off x="552450" y="2714625"/>
            <a:ext cx="1095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12B3C"/>
                </a:solidFill>
                <a:latin typeface="DejaVu Sans"/>
                <a:ea typeface="DejaVu Sans"/>
                <a:cs typeface="DejaVu Sans"/>
              </a:defRPr>
            </a:pPr>
            <a:r>
              <a:rPr sz="1875" b="0">
                <a:solidFill>
                  <a:srgbClr val="112B3C"/>
                </a:solidFill>
                <a:latin typeface="DejaVu Sans"/>
                <a:ea typeface="DejaVu Sans"/>
                <a:cs typeface="DejaVu Sans"/>
              </a:rPr>
              <a:t>Seven uploaded notebooks and two dashboard screenshots.</a:t>
            </a:r>
          </a:p>
          <a:p xmlns:a="http://schemas.openxmlformats.org/drawingml/2006/main">
            <a:pPr>
              <a:defRPr sz="1875" b="0">
                <a:solidFill>
                  <a:srgbClr val="112B3C"/>
                </a:solidFill>
                <a:latin typeface="DejaVu Sans"/>
                <a:ea typeface="DejaVu Sans"/>
                <a:cs typeface="DejaVu Sans"/>
              </a:defRPr>
            </a:pPr>
            <a:r>
              <a:rPr sz="1875" b="0">
                <a:solidFill>
                  <a:srgbClr val="112B3C"/>
                </a:solidFill>
                <a:latin typeface="DejaVu Sans"/>
                <a:ea typeface="DejaVu Sans"/>
                <a:cs typeface="DejaVu Sans"/>
              </a:rPr>
              <a:t>SQL and descriptive rates were recalculated; ML results retain the saved run.</a:t>
            </a:r>
          </a:p>
        </p:txBody>
      </p:sp>
      <p:sp>
        <p:nvSpPr>
          <p:cNvPr id="10" name="">
            <a:extLst xmlns:a="http://schemas.openxmlformats.org/drawingml/2006/main">
              <a:ext uri="{FF2B5EF4-FFF2-40B4-BE49-F238E27FC236}">
                <a16:creationId xmlns:a16="http://schemas.microsoft.com/office/drawing/2014/main" id="{BE8FB40A-FC4C-4042-84D3-9C71C2636E34}"/>
              </a:ext>
            </a:extLst>
          </p:cNvPr>
          <p:cNvSpPr>
            <a:spLocks xmlns:a="http://schemas.openxmlformats.org/drawingml/2006/main" noGrp="1"/>
          </p:cNvSpPr>
          <p:nvPr/>
        </p:nvSpPr>
        <p:spPr>
          <a:xfrm xmlns:a="http://schemas.openxmlformats.org/drawingml/2006/main">
            <a:off x="552450" y="385762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24678A"/>
                </a:solidFill>
                <a:latin typeface="DejaVu Sans"/>
                <a:ea typeface="DejaVu Sans"/>
                <a:cs typeface="DejaVu Sans"/>
              </a:defRPr>
            </a:pPr>
            <a:r>
              <a:rPr sz="1725" b="0">
                <a:solidFill>
                  <a:srgbClr val="24678A"/>
                </a:solidFill>
                <a:latin typeface="DejaVu Sans"/>
                <a:ea typeface="DejaVu Sans"/>
                <a:cs typeface="DejaVu Sans"/>
                <a:hlinkClick xmlns:r="http://schemas.openxmlformats.org/officeDocument/2006/relationships" r:id="Re3a0a863246246b9"/>
              </a:rPr>
              <a:t>IBM course datasets</a:t>
            </a:r>
          </a:p>
        </p:txBody>
      </p:sp>
      <p:sp>
        <p:nvSpPr>
          <p:cNvPr id="11" name="">
            <a:extLst xmlns:a="http://schemas.openxmlformats.org/drawingml/2006/main">
              <a:ext uri="{FF2B5EF4-FFF2-40B4-BE49-F238E27FC236}">
                <a16:creationId xmlns:a16="http://schemas.microsoft.com/office/drawing/2014/main" id="{1A016DC5-2C36-414F-9FE6-3DC60D0AFD6F}"/>
              </a:ext>
            </a:extLst>
          </p:cNvPr>
          <p:cNvSpPr>
            <a:spLocks xmlns:a="http://schemas.openxmlformats.org/drawingml/2006/main" noGrp="1"/>
          </p:cNvSpPr>
          <p:nvPr/>
        </p:nvSpPr>
        <p:spPr>
          <a:xfrm xmlns:a="http://schemas.openxmlformats.org/drawingml/2006/main">
            <a:off x="552450" y="44005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24678A"/>
                </a:solidFill>
                <a:latin typeface="DejaVu Sans"/>
                <a:ea typeface="DejaVu Sans"/>
                <a:cs typeface="DejaVu Sans"/>
              </a:defRPr>
            </a:pPr>
            <a:r>
              <a:rPr sz="1725" b="0">
                <a:solidFill>
                  <a:srgbClr val="24678A"/>
                </a:solidFill>
                <a:latin typeface="DejaVu Sans"/>
                <a:ea typeface="DejaVu Sans"/>
                <a:cs typeface="DejaVu Sans"/>
                <a:hlinkClick xmlns:r="http://schemas.openxmlformats.org/officeDocument/2006/relationships" r:id="Rf24e50e8af9342ec"/>
              </a:rPr>
              <a:t>scikit-learn: common pitfalls and data leakage</a:t>
            </a:r>
          </a:p>
        </p:txBody>
      </p:sp>
      <p:sp>
        <p:nvSpPr>
          <p:cNvPr id="12" name="">
            <a:extLst xmlns:a="http://schemas.openxmlformats.org/drawingml/2006/main">
              <a:ext uri="{FF2B5EF4-FFF2-40B4-BE49-F238E27FC236}">
                <a16:creationId xmlns:a16="http://schemas.microsoft.com/office/drawing/2014/main" id="{499B52F0-B64F-4F76-B7BF-43193B764091}"/>
              </a:ext>
            </a:extLst>
          </p:cNvPr>
          <p:cNvSpPr>
            <a:spLocks xmlns:a="http://schemas.openxmlformats.org/drawingml/2006/main" noGrp="1"/>
          </p:cNvSpPr>
          <p:nvPr/>
        </p:nvSpPr>
        <p:spPr>
          <a:xfrm xmlns:a="http://schemas.openxmlformats.org/drawingml/2006/main">
            <a:off x="552450" y="49434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24678A"/>
                </a:solidFill>
                <a:latin typeface="DejaVu Sans"/>
                <a:ea typeface="DejaVu Sans"/>
                <a:cs typeface="DejaVu Sans"/>
              </a:defRPr>
            </a:pPr>
            <a:r>
              <a:rPr sz="1725" b="0">
                <a:solidFill>
                  <a:srgbClr val="24678A"/>
                </a:solidFill>
                <a:latin typeface="DejaVu Sans"/>
                <a:ea typeface="DejaVu Sans"/>
                <a:cs typeface="DejaVu Sans"/>
                <a:hlinkClick xmlns:r="http://schemas.openxmlformats.org/officeDocument/2006/relationships" r:id="R763a8c4c788344a2"/>
              </a:rPr>
              <a:t>Cover photo: Michael Seeley / NASA APOD</a:t>
            </a:r>
          </a:p>
        </p:txBody>
      </p:sp>
    </p:spTree>
    <p:extLst>
      <p:ext uri="{BB962C8B-B14F-4D97-AF65-F5344CB8AC3E}">
        <p14:creationId xmlns:p14="http://schemas.microsoft.com/office/powerpoint/2010/main" val="12287439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2026-09-16T09:00:01.7230000Z</dcterms:created>
  <dcterms:modified xsi:type="dcterms:W3CDTF">2026-09-16T09:00:01.7230000Z</dcterms:modified>
</coreProperties>
</file>